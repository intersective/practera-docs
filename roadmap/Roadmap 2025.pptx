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Lst>
  <p:sldSz cy="5143500" cx="9144000"/>
  <p:notesSz cx="6858000" cy="9144000"/>
  <p:embeddedFontLst>
    <p:embeddedFont>
      <p:font typeface="Roboto Black"/>
      <p:bold r:id="rId42"/>
      <p:boldItalic r:id="rId43"/>
    </p:embeddedFont>
    <p:embeddedFont>
      <p:font typeface="Roboto"/>
      <p:regular r:id="rId44"/>
      <p:bold r:id="rId45"/>
      <p:italic r:id="rId46"/>
      <p:boldItalic r:id="rId47"/>
    </p:embeddedFont>
    <p:embeddedFont>
      <p:font typeface="Roboto Medium"/>
      <p:regular r:id="rId48"/>
      <p:bold r:id="rId49"/>
      <p:italic r:id="rId50"/>
      <p:boldItalic r:id="rId51"/>
    </p:embeddedFont>
    <p:embeddedFont>
      <p:font typeface="PT Sans Narrow"/>
      <p:regular r:id="rId52"/>
      <p:bold r:id="rId53"/>
    </p:embeddedFont>
    <p:embeddedFont>
      <p:font typeface="Open Sans"/>
      <p:regular r:id="rId54"/>
      <p:bold r:id="rId55"/>
      <p:italic r:id="rId56"/>
      <p:boldItalic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font" Target="fonts/RobotoBlack-bold.fntdata"/><Relationship Id="rId41" Type="http://schemas.openxmlformats.org/officeDocument/2006/relationships/slide" Target="slides/slide37.xml"/><Relationship Id="rId44" Type="http://schemas.openxmlformats.org/officeDocument/2006/relationships/font" Target="fonts/Roboto-regular.fntdata"/><Relationship Id="rId43" Type="http://schemas.openxmlformats.org/officeDocument/2006/relationships/font" Target="fonts/RobotoBlack-boldItalic.fntdata"/><Relationship Id="rId46" Type="http://schemas.openxmlformats.org/officeDocument/2006/relationships/font" Target="fonts/Roboto-italic.fntdata"/><Relationship Id="rId45" Type="http://schemas.openxmlformats.org/officeDocument/2006/relationships/font" Target="fonts/Roboto-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font" Target="fonts/RobotoMedium-regular.fntdata"/><Relationship Id="rId47" Type="http://schemas.openxmlformats.org/officeDocument/2006/relationships/font" Target="fonts/Roboto-boldItalic.fntdata"/><Relationship Id="rId49" Type="http://schemas.openxmlformats.org/officeDocument/2006/relationships/font" Target="fonts/RobotoMedium-bold.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font" Target="fonts/RobotoMedium-boldItalic.fntdata"/><Relationship Id="rId50" Type="http://schemas.openxmlformats.org/officeDocument/2006/relationships/font" Target="fonts/RobotoMedium-italic.fntdata"/><Relationship Id="rId53" Type="http://schemas.openxmlformats.org/officeDocument/2006/relationships/font" Target="fonts/PTSansNarrow-bold.fntdata"/><Relationship Id="rId52" Type="http://schemas.openxmlformats.org/officeDocument/2006/relationships/font" Target="fonts/PTSansNarrow-regular.fntdata"/><Relationship Id="rId11" Type="http://schemas.openxmlformats.org/officeDocument/2006/relationships/slide" Target="slides/slide7.xml"/><Relationship Id="rId55" Type="http://schemas.openxmlformats.org/officeDocument/2006/relationships/font" Target="fonts/OpenSans-bold.fntdata"/><Relationship Id="rId10" Type="http://schemas.openxmlformats.org/officeDocument/2006/relationships/slide" Target="slides/slide6.xml"/><Relationship Id="rId54" Type="http://schemas.openxmlformats.org/officeDocument/2006/relationships/font" Target="fonts/OpenSans-regular.fntdata"/><Relationship Id="rId13" Type="http://schemas.openxmlformats.org/officeDocument/2006/relationships/slide" Target="slides/slide9.xml"/><Relationship Id="rId57" Type="http://schemas.openxmlformats.org/officeDocument/2006/relationships/font" Target="fonts/OpenSans-boldItalic.fntdata"/><Relationship Id="rId12" Type="http://schemas.openxmlformats.org/officeDocument/2006/relationships/slide" Target="slides/slide8.xml"/><Relationship Id="rId56" Type="http://schemas.openxmlformats.org/officeDocument/2006/relationships/font" Target="fonts/OpenSans-italic.fnt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dcc0ebd0bf_2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dcc0ebd0bf_2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2dcc0ebd0bf_2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2dcc0ebd0bf_2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dcc0ebd0bf_2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2dcc0ebd0bf_2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Big Features</a:t>
            </a:r>
            <a:endParaRPr b="1"/>
          </a:p>
          <a:p>
            <a:pPr indent="0" lvl="0" marL="0" rtl="0" algn="l">
              <a:spcBef>
                <a:spcPts val="0"/>
              </a:spcBef>
              <a:spcAft>
                <a:spcPts val="0"/>
              </a:spcAft>
              <a:buNone/>
            </a:pPr>
            <a:r>
              <a:rPr lang="en"/>
              <a:t>Automation</a:t>
            </a:r>
            <a:endParaRPr/>
          </a:p>
          <a:p>
            <a:pPr indent="0" lvl="0" marL="0" rtl="0" algn="l">
              <a:spcBef>
                <a:spcPts val="0"/>
              </a:spcBef>
              <a:spcAft>
                <a:spcPts val="0"/>
              </a:spcAft>
              <a:buNone/>
            </a:pPr>
            <a:r>
              <a:rPr lang="en"/>
              <a:t>Briefs</a:t>
            </a:r>
            <a:endParaRPr/>
          </a:p>
          <a:p>
            <a:pPr indent="0" lvl="0" marL="0" rtl="0" algn="l">
              <a:spcBef>
                <a:spcPts val="0"/>
              </a:spcBef>
              <a:spcAft>
                <a:spcPts val="0"/>
              </a:spcAft>
              <a:buNone/>
            </a:pPr>
            <a:r>
              <a:rPr lang="en"/>
              <a:t>Report Manager</a:t>
            </a:r>
            <a:endParaRPr/>
          </a:p>
          <a:p>
            <a:pPr indent="0" lvl="0" marL="0" rtl="0" algn="l">
              <a:spcBef>
                <a:spcPts val="0"/>
              </a:spcBef>
              <a:spcAft>
                <a:spcPts val="0"/>
              </a:spcAft>
              <a:buNone/>
            </a:pPr>
            <a:r>
              <a:rPr lang="en"/>
              <a:t>Slack to Production (stretch)</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Smaller Features</a:t>
            </a:r>
            <a:endParaRPr b="1"/>
          </a:p>
          <a:p>
            <a:pPr indent="0" lvl="0" marL="0" rtl="0" algn="l">
              <a:spcBef>
                <a:spcPts val="0"/>
              </a:spcBef>
              <a:spcAft>
                <a:spcPts val="0"/>
              </a:spcAft>
              <a:buClr>
                <a:schemeClr val="dk1"/>
              </a:buClr>
              <a:buSzPts val="1100"/>
              <a:buFont typeface="Arial"/>
              <a:buNone/>
            </a:pPr>
            <a:r>
              <a:rPr lang="en">
                <a:solidFill>
                  <a:schemeClr val="dk1"/>
                </a:solidFill>
              </a:rPr>
              <a:t>Notify unlocked/revealed content in app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LTI 1.3 Gradebook *</a:t>
            </a:r>
            <a:endParaRPr>
              <a:solidFill>
                <a:schemeClr val="dk1"/>
              </a:solidFill>
            </a:endParaRPr>
          </a:p>
          <a:p>
            <a:pPr indent="0" lvl="0" marL="0" rtl="0" algn="l">
              <a:spcBef>
                <a:spcPts val="0"/>
              </a:spcBef>
              <a:spcAft>
                <a:spcPts val="0"/>
              </a:spcAft>
              <a:buNone/>
            </a:pPr>
            <a:r>
              <a:rPr lang="en"/>
              <a:t>Better Template Library Management *</a:t>
            </a:r>
            <a:endParaRPr/>
          </a:p>
          <a:p>
            <a:pPr indent="0" lvl="0" marL="0" rtl="0" algn="l">
              <a:spcBef>
                <a:spcPts val="0"/>
              </a:spcBef>
              <a:spcAft>
                <a:spcPts val="0"/>
              </a:spcAft>
              <a:buNone/>
            </a:pPr>
            <a:r>
              <a:rPr lang="en"/>
              <a:t>Import/export design to Word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AI - process files</a:t>
            </a:r>
            <a:endParaRPr/>
          </a:p>
          <a:p>
            <a:pPr indent="0" lvl="0" marL="0" rtl="0" algn="l">
              <a:spcBef>
                <a:spcPts val="0"/>
              </a:spcBef>
              <a:spcAft>
                <a:spcPts val="0"/>
              </a:spcAft>
              <a:buNone/>
            </a:pPr>
            <a:r>
              <a:rPr lang="en"/>
              <a:t>Full GDPR support</a:t>
            </a:r>
            <a:endParaRPr/>
          </a:p>
          <a:p>
            <a:pPr indent="0" lvl="0" marL="0" rtl="0" algn="l">
              <a:spcBef>
                <a:spcPts val="0"/>
              </a:spcBef>
              <a:spcAft>
                <a:spcPts val="0"/>
              </a:spcAft>
              <a:buClr>
                <a:schemeClr val="dk1"/>
              </a:buClr>
              <a:buSzPts val="1100"/>
              <a:buFont typeface="Arial"/>
              <a:buNone/>
            </a:pPr>
            <a:r>
              <a:rPr lang="en">
                <a:solidFill>
                  <a:schemeClr val="dk1"/>
                </a:solidFill>
              </a:rPr>
              <a:t>Better Team 360 Authoring</a:t>
            </a:r>
            <a:endParaRPr>
              <a:solidFill>
                <a:schemeClr val="dk1"/>
              </a:solidFill>
            </a:endParaRPr>
          </a:p>
          <a:p>
            <a:pPr indent="0" lvl="0" marL="0" rtl="0" algn="l">
              <a:spcBef>
                <a:spcPts val="0"/>
              </a:spcBef>
              <a:spcAft>
                <a:spcPts val="0"/>
              </a:spcAft>
              <a:buNone/>
            </a:pPr>
            <a:r>
              <a:rPr lang="en">
                <a:solidFill>
                  <a:schemeClr val="dk1"/>
                </a:solidFill>
              </a:rPr>
              <a:t>Device notifications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Slack Chat Integration</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b="1" lang="en"/>
              <a:t>Maintenance</a:t>
            </a:r>
            <a:endParaRPr b="1"/>
          </a:p>
          <a:p>
            <a:pPr indent="0" lvl="0" marL="0" rtl="0" algn="l">
              <a:spcBef>
                <a:spcPts val="0"/>
              </a:spcBef>
              <a:spcAft>
                <a:spcPts val="0"/>
              </a:spcAft>
              <a:buNone/>
            </a:pPr>
            <a:r>
              <a:rPr lang="en"/>
              <a:t>SOC 2 *</a:t>
            </a:r>
            <a:endParaRPr/>
          </a:p>
          <a:p>
            <a:pPr indent="0" lvl="0" marL="0" rtl="0" algn="l">
              <a:spcBef>
                <a:spcPts val="0"/>
              </a:spcBef>
              <a:spcAft>
                <a:spcPts val="0"/>
              </a:spcAft>
              <a:buNone/>
            </a:pPr>
            <a:r>
              <a:rPr lang="en"/>
              <a:t>Global Login - MFA, security, UI *</a:t>
            </a:r>
            <a:endParaRPr/>
          </a:p>
          <a:p>
            <a:pPr indent="0" lvl="0" marL="0" rtl="0" algn="l">
              <a:spcBef>
                <a:spcPts val="0"/>
              </a:spcBef>
              <a:spcAft>
                <a:spcPts val="0"/>
              </a:spcAft>
              <a:buNone/>
            </a:pPr>
            <a:r>
              <a:rPr lang="en"/>
              <a:t>AI to latest GPT</a:t>
            </a:r>
            <a:endParaRPr/>
          </a:p>
          <a:p>
            <a:pPr indent="0" lvl="0" marL="0" rtl="0" algn="l">
              <a:spcBef>
                <a:spcPts val="0"/>
              </a:spcBef>
              <a:spcAft>
                <a:spcPts val="0"/>
              </a:spcAft>
              <a:buNone/>
            </a:pPr>
            <a:r>
              <a:rPr lang="en"/>
              <a:t>UI Test Automation *</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241d7f01a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2241d7f01a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241d7f01a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241d7f01a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Big Features</a:t>
            </a:r>
            <a:endParaRPr b="1"/>
          </a:p>
          <a:p>
            <a:pPr indent="0" lvl="0" marL="0" rtl="0" algn="l">
              <a:spcBef>
                <a:spcPts val="0"/>
              </a:spcBef>
              <a:spcAft>
                <a:spcPts val="0"/>
              </a:spcAft>
              <a:buNone/>
            </a:pPr>
            <a:r>
              <a:rPr lang="en"/>
              <a:t>Automation</a:t>
            </a:r>
            <a:endParaRPr/>
          </a:p>
          <a:p>
            <a:pPr indent="0" lvl="0" marL="0" rtl="0" algn="l">
              <a:spcBef>
                <a:spcPts val="0"/>
              </a:spcBef>
              <a:spcAft>
                <a:spcPts val="0"/>
              </a:spcAft>
              <a:buNone/>
            </a:pPr>
            <a:r>
              <a:rPr lang="en"/>
              <a:t>Briefs</a:t>
            </a:r>
            <a:endParaRPr/>
          </a:p>
          <a:p>
            <a:pPr indent="0" lvl="0" marL="0" rtl="0" algn="l">
              <a:spcBef>
                <a:spcPts val="0"/>
              </a:spcBef>
              <a:spcAft>
                <a:spcPts val="0"/>
              </a:spcAft>
              <a:buNone/>
            </a:pPr>
            <a:r>
              <a:rPr lang="en"/>
              <a:t>Report Manager</a:t>
            </a:r>
            <a:endParaRPr/>
          </a:p>
          <a:p>
            <a:pPr indent="0" lvl="0" marL="0" rtl="0" algn="l">
              <a:spcBef>
                <a:spcPts val="0"/>
              </a:spcBef>
              <a:spcAft>
                <a:spcPts val="0"/>
              </a:spcAft>
              <a:buNone/>
            </a:pPr>
            <a:r>
              <a:rPr lang="en"/>
              <a:t>Slack to Production (stretch)</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Smaller Features</a:t>
            </a:r>
            <a:endParaRPr b="1"/>
          </a:p>
          <a:p>
            <a:pPr indent="0" lvl="0" marL="0" rtl="0" algn="l">
              <a:spcBef>
                <a:spcPts val="0"/>
              </a:spcBef>
              <a:spcAft>
                <a:spcPts val="0"/>
              </a:spcAft>
              <a:buClr>
                <a:schemeClr val="dk1"/>
              </a:buClr>
              <a:buSzPts val="1100"/>
              <a:buFont typeface="Arial"/>
              <a:buNone/>
            </a:pPr>
            <a:r>
              <a:rPr lang="en">
                <a:solidFill>
                  <a:schemeClr val="dk1"/>
                </a:solidFill>
              </a:rPr>
              <a:t>Notify unlocked/revealed content in app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LTI 1.3 Gradebook *</a:t>
            </a:r>
            <a:endParaRPr>
              <a:solidFill>
                <a:schemeClr val="dk1"/>
              </a:solidFill>
            </a:endParaRPr>
          </a:p>
          <a:p>
            <a:pPr indent="0" lvl="0" marL="0" rtl="0" algn="l">
              <a:spcBef>
                <a:spcPts val="0"/>
              </a:spcBef>
              <a:spcAft>
                <a:spcPts val="0"/>
              </a:spcAft>
              <a:buNone/>
            </a:pPr>
            <a:r>
              <a:rPr lang="en"/>
              <a:t>Better Template Library Management *</a:t>
            </a:r>
            <a:endParaRPr/>
          </a:p>
          <a:p>
            <a:pPr indent="0" lvl="0" marL="0" rtl="0" algn="l">
              <a:spcBef>
                <a:spcPts val="0"/>
              </a:spcBef>
              <a:spcAft>
                <a:spcPts val="0"/>
              </a:spcAft>
              <a:buNone/>
            </a:pPr>
            <a:r>
              <a:rPr lang="en"/>
              <a:t>Import/export design to Word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AI - process files</a:t>
            </a:r>
            <a:endParaRPr/>
          </a:p>
          <a:p>
            <a:pPr indent="0" lvl="0" marL="0" rtl="0" algn="l">
              <a:spcBef>
                <a:spcPts val="0"/>
              </a:spcBef>
              <a:spcAft>
                <a:spcPts val="0"/>
              </a:spcAft>
              <a:buNone/>
            </a:pPr>
            <a:r>
              <a:rPr lang="en"/>
              <a:t>Full GDPR support</a:t>
            </a:r>
            <a:endParaRPr/>
          </a:p>
          <a:p>
            <a:pPr indent="0" lvl="0" marL="0" rtl="0" algn="l">
              <a:spcBef>
                <a:spcPts val="0"/>
              </a:spcBef>
              <a:spcAft>
                <a:spcPts val="0"/>
              </a:spcAft>
              <a:buClr>
                <a:schemeClr val="dk1"/>
              </a:buClr>
              <a:buSzPts val="1100"/>
              <a:buFont typeface="Arial"/>
              <a:buNone/>
            </a:pPr>
            <a:r>
              <a:rPr lang="en">
                <a:solidFill>
                  <a:schemeClr val="dk1"/>
                </a:solidFill>
              </a:rPr>
              <a:t>Better Team 360 Authoring</a:t>
            </a:r>
            <a:endParaRPr>
              <a:solidFill>
                <a:schemeClr val="dk1"/>
              </a:solidFill>
            </a:endParaRPr>
          </a:p>
          <a:p>
            <a:pPr indent="0" lvl="0" marL="0" rtl="0" algn="l">
              <a:spcBef>
                <a:spcPts val="0"/>
              </a:spcBef>
              <a:spcAft>
                <a:spcPts val="0"/>
              </a:spcAft>
              <a:buNone/>
            </a:pPr>
            <a:r>
              <a:rPr lang="en">
                <a:solidFill>
                  <a:schemeClr val="dk1"/>
                </a:solidFill>
              </a:rPr>
              <a:t>Device notifications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Slack Chat Integration</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b="1" lang="en"/>
              <a:t>Maintenance</a:t>
            </a:r>
            <a:endParaRPr b="1"/>
          </a:p>
          <a:p>
            <a:pPr indent="0" lvl="0" marL="0" rtl="0" algn="l">
              <a:spcBef>
                <a:spcPts val="0"/>
              </a:spcBef>
              <a:spcAft>
                <a:spcPts val="0"/>
              </a:spcAft>
              <a:buNone/>
            </a:pPr>
            <a:r>
              <a:rPr lang="en"/>
              <a:t>SOC 2 *</a:t>
            </a:r>
            <a:endParaRPr/>
          </a:p>
          <a:p>
            <a:pPr indent="0" lvl="0" marL="0" rtl="0" algn="l">
              <a:spcBef>
                <a:spcPts val="0"/>
              </a:spcBef>
              <a:spcAft>
                <a:spcPts val="0"/>
              </a:spcAft>
              <a:buNone/>
            </a:pPr>
            <a:r>
              <a:rPr lang="en"/>
              <a:t>Global Login - MFA, security, UI *</a:t>
            </a:r>
            <a:endParaRPr/>
          </a:p>
          <a:p>
            <a:pPr indent="0" lvl="0" marL="0" rtl="0" algn="l">
              <a:spcBef>
                <a:spcPts val="0"/>
              </a:spcBef>
              <a:spcAft>
                <a:spcPts val="0"/>
              </a:spcAft>
              <a:buNone/>
            </a:pPr>
            <a:r>
              <a:rPr lang="en"/>
              <a:t>AI to latest GPT</a:t>
            </a:r>
            <a:endParaRPr/>
          </a:p>
          <a:p>
            <a:pPr indent="0" lvl="0" marL="0" rtl="0" algn="l">
              <a:spcBef>
                <a:spcPts val="0"/>
              </a:spcBef>
              <a:spcAft>
                <a:spcPts val="0"/>
              </a:spcAft>
              <a:buNone/>
            </a:pPr>
            <a:r>
              <a:rPr lang="en"/>
              <a:t>UI Test Automation *</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2b992632fee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2b992632fee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2241d7f01aa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2241d7f01aa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2000"/>
              </a:spcBef>
              <a:spcAft>
                <a:spcPts val="0"/>
              </a:spcAft>
              <a:buClr>
                <a:schemeClr val="dk1"/>
              </a:buClr>
              <a:buSzPts val="1100"/>
              <a:buFont typeface="Arial"/>
              <a:buNone/>
            </a:pPr>
            <a:r>
              <a:rPr lang="en" sz="2000">
                <a:solidFill>
                  <a:schemeClr val="dk1"/>
                </a:solidFill>
              </a:rPr>
              <a:t>Epic 4: User Experience and Interface Improvement</a:t>
            </a:r>
            <a:endParaRPr sz="1050">
              <a:solidFill>
                <a:srgbClr val="0E0E0E"/>
              </a:solidFill>
            </a:endParaRPr>
          </a:p>
          <a:p>
            <a:pPr indent="0" lvl="0" marL="0" rtl="0" algn="just">
              <a:lnSpc>
                <a:spcPct val="115000"/>
              </a:lnSpc>
              <a:spcBef>
                <a:spcPts val="1800"/>
              </a:spcBef>
              <a:spcAft>
                <a:spcPts val="0"/>
              </a:spcAft>
              <a:buClr>
                <a:schemeClr val="dk1"/>
              </a:buClr>
              <a:buSzPts val="1100"/>
              <a:buFont typeface="Arial"/>
              <a:buNone/>
            </a:pPr>
            <a:r>
              <a:rPr lang="en" sz="1600">
                <a:solidFill>
                  <a:schemeClr val="dk1"/>
                </a:solidFill>
              </a:rPr>
              <a:t>Story 3: Enhanced Likert Scale UI</a:t>
            </a:r>
            <a:endParaRPr sz="1600">
              <a:solidFill>
                <a:schemeClr val="dk1"/>
              </a:solidFill>
            </a:endParaRPr>
          </a:p>
          <a:p>
            <a:pPr indent="-127000" lvl="0" marL="254000" rtl="0" algn="just">
              <a:lnSpc>
                <a:spcPct val="115000"/>
              </a:lnSpc>
              <a:spcBef>
                <a:spcPts val="600"/>
              </a:spcBef>
              <a:spcAft>
                <a:spcPts val="0"/>
              </a:spcAft>
              <a:buClr>
                <a:schemeClr val="dk1"/>
              </a:buClr>
              <a:buSzPts val="1100"/>
              <a:buFont typeface="Arial"/>
              <a:buNone/>
            </a:pPr>
            <a:r>
              <a:rPr lang="en" sz="1050">
                <a:solidFill>
                  <a:srgbClr val="0E0E0E"/>
                </a:solidFill>
              </a:rPr>
              <a:t>	•	</a:t>
            </a:r>
            <a:r>
              <a:rPr b="1" lang="en" sz="1050">
                <a:solidFill>
                  <a:srgbClr val="0E0E0E"/>
                </a:solidFill>
              </a:rPr>
              <a:t>Description</a:t>
            </a:r>
            <a:r>
              <a:rPr lang="en" sz="1050">
                <a:solidFill>
                  <a:srgbClr val="0E0E0E"/>
                </a:solidFill>
              </a:rPr>
              <a:t>: Improve the UI for Likert scales in assessments to make them more user-friendly and intuitive.</a:t>
            </a:r>
            <a:endParaRPr sz="1050">
              <a:solidFill>
                <a:srgbClr val="0E0E0E"/>
              </a:solidFill>
            </a:endParaRPr>
          </a:p>
          <a:p>
            <a:pPr indent="-127000" lvl="0" marL="254000" rtl="0" algn="just">
              <a:lnSpc>
                <a:spcPct val="115000"/>
              </a:lnSpc>
              <a:spcBef>
                <a:spcPts val="0"/>
              </a:spcBef>
              <a:spcAft>
                <a:spcPts val="0"/>
              </a:spcAft>
              <a:buClr>
                <a:schemeClr val="dk1"/>
              </a:buClr>
              <a:buSzPts val="1100"/>
              <a:buFont typeface="Arial"/>
              <a:buNone/>
            </a:pPr>
            <a:r>
              <a:rPr lang="en" sz="1050">
                <a:solidFill>
                  <a:srgbClr val="0E0E0E"/>
                </a:solidFill>
              </a:rPr>
              <a:t>	•	</a:t>
            </a:r>
            <a:r>
              <a:rPr b="1" lang="en" sz="1050">
                <a:solidFill>
                  <a:srgbClr val="0E0E0E"/>
                </a:solidFill>
              </a:rPr>
              <a:t>Acceptance Criteria</a:t>
            </a:r>
            <a:r>
              <a:rPr lang="en" sz="1050">
                <a:solidFill>
                  <a:srgbClr val="0E0E0E"/>
                </a:solidFill>
              </a:rPr>
              <a:t>:</a:t>
            </a:r>
            <a:endParaRPr sz="1050">
              <a:solidFill>
                <a:srgbClr val="0E0E0E"/>
              </a:solidFill>
            </a:endParaRPr>
          </a:p>
          <a:p>
            <a:pPr indent="-317500" lvl="0" marL="635000" rtl="0" algn="just">
              <a:lnSpc>
                <a:spcPct val="115000"/>
              </a:lnSpc>
              <a:spcBef>
                <a:spcPts val="0"/>
              </a:spcBef>
              <a:spcAft>
                <a:spcPts val="0"/>
              </a:spcAft>
              <a:buClr>
                <a:schemeClr val="dk1"/>
              </a:buClr>
              <a:buSzPts val="1100"/>
              <a:buFont typeface="Arial"/>
              <a:buNone/>
            </a:pPr>
            <a:r>
              <a:rPr lang="en" sz="1050">
                <a:solidFill>
                  <a:srgbClr val="0E0E0E"/>
                </a:solidFill>
              </a:rPr>
              <a:t>	•	Likert scales are more visually appealing and easier to navigate.</a:t>
            </a:r>
            <a:endParaRPr sz="1050">
              <a:solidFill>
                <a:srgbClr val="0E0E0E"/>
              </a:solidFill>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2241d7f01aa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2241d7f01aa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2241d7f01aa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2241d7f01aa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1800"/>
              </a:spcBef>
              <a:spcAft>
                <a:spcPts val="0"/>
              </a:spcAft>
              <a:buClr>
                <a:schemeClr val="dk1"/>
              </a:buClr>
              <a:buSzPts val="1100"/>
              <a:buFont typeface="Arial"/>
              <a:buNone/>
            </a:pPr>
            <a:r>
              <a:rPr lang="en" sz="1600">
                <a:solidFill>
                  <a:schemeClr val="dk1"/>
                </a:solidFill>
              </a:rPr>
              <a:t>Story 1: Feedback UI/UX</a:t>
            </a:r>
            <a:endParaRPr sz="1600">
              <a:solidFill>
                <a:schemeClr val="dk1"/>
              </a:solidFill>
            </a:endParaRPr>
          </a:p>
          <a:p>
            <a:pPr indent="-127000" lvl="0" marL="254000" rtl="0" algn="just">
              <a:lnSpc>
                <a:spcPct val="115000"/>
              </a:lnSpc>
              <a:spcBef>
                <a:spcPts val="600"/>
              </a:spcBef>
              <a:spcAft>
                <a:spcPts val="0"/>
              </a:spcAft>
              <a:buClr>
                <a:schemeClr val="dk1"/>
              </a:buClr>
              <a:buSzPts val="1100"/>
              <a:buFont typeface="Arial"/>
              <a:buNone/>
            </a:pPr>
            <a:r>
              <a:rPr lang="en" sz="1050">
                <a:solidFill>
                  <a:srgbClr val="0E0E0E"/>
                </a:solidFill>
              </a:rPr>
              <a:t>	•	</a:t>
            </a:r>
            <a:r>
              <a:rPr b="1" lang="en" sz="1050">
                <a:solidFill>
                  <a:srgbClr val="0E0E0E"/>
                </a:solidFill>
              </a:rPr>
              <a:t>Description</a:t>
            </a:r>
            <a:r>
              <a:rPr lang="en" sz="1050">
                <a:solidFill>
                  <a:srgbClr val="0E0E0E"/>
                </a:solidFill>
              </a:rPr>
              <a:t>: Improve the feedback table UI/UX, such as freezing table headings during scrolls and providing more accurate data.</a:t>
            </a:r>
            <a:endParaRPr sz="1050">
              <a:solidFill>
                <a:srgbClr val="0E0E0E"/>
              </a:solidFill>
            </a:endParaRPr>
          </a:p>
          <a:p>
            <a:pPr indent="-127000" lvl="0" marL="254000" rtl="0" algn="just">
              <a:lnSpc>
                <a:spcPct val="115000"/>
              </a:lnSpc>
              <a:spcBef>
                <a:spcPts val="0"/>
              </a:spcBef>
              <a:spcAft>
                <a:spcPts val="0"/>
              </a:spcAft>
              <a:buClr>
                <a:schemeClr val="dk1"/>
              </a:buClr>
              <a:buSzPts val="1100"/>
              <a:buFont typeface="Arial"/>
              <a:buNone/>
            </a:pPr>
            <a:r>
              <a:rPr lang="en" sz="1050">
                <a:solidFill>
                  <a:srgbClr val="0E0E0E"/>
                </a:solidFill>
              </a:rPr>
              <a:t>	•	</a:t>
            </a:r>
            <a:r>
              <a:rPr b="1" lang="en" sz="1050">
                <a:solidFill>
                  <a:srgbClr val="0E0E0E"/>
                </a:solidFill>
              </a:rPr>
              <a:t>Acceptance Criteria</a:t>
            </a:r>
            <a:r>
              <a:rPr lang="en" sz="1050">
                <a:solidFill>
                  <a:srgbClr val="0E0E0E"/>
                </a:solidFill>
              </a:rPr>
              <a:t>:</a:t>
            </a:r>
            <a:endParaRPr sz="1050">
              <a:solidFill>
                <a:srgbClr val="0E0E0E"/>
              </a:solidFill>
            </a:endParaRPr>
          </a:p>
          <a:p>
            <a:pPr indent="-317500" lvl="0" marL="635000" rtl="0" algn="just">
              <a:lnSpc>
                <a:spcPct val="115000"/>
              </a:lnSpc>
              <a:spcBef>
                <a:spcPts val="0"/>
              </a:spcBef>
              <a:spcAft>
                <a:spcPts val="0"/>
              </a:spcAft>
              <a:buNone/>
            </a:pPr>
            <a:r>
              <a:rPr lang="en" sz="1050">
                <a:solidFill>
                  <a:srgbClr val="0E0E0E"/>
                </a:solidFill>
              </a:rPr>
              <a:t>	•	Feedback table data is accurate</a:t>
            </a:r>
            <a:endParaRPr sz="1050">
              <a:solidFill>
                <a:srgbClr val="0E0E0E"/>
              </a:solidFill>
            </a:endParaRPr>
          </a:p>
          <a:p>
            <a:pPr indent="-317500" lvl="0" marL="635000" rtl="0" algn="just">
              <a:lnSpc>
                <a:spcPct val="115000"/>
              </a:lnSpc>
              <a:spcBef>
                <a:spcPts val="0"/>
              </a:spcBef>
              <a:spcAft>
                <a:spcPts val="0"/>
              </a:spcAft>
              <a:buNone/>
            </a:pPr>
            <a:r>
              <a:rPr lang="en" sz="1050">
                <a:solidFill>
                  <a:srgbClr val="0E0E0E"/>
                </a:solidFill>
              </a:rPr>
              <a:t>	•	Feedback table headings remain visible when scrolling.</a:t>
            </a:r>
            <a:endParaRPr sz="1050">
              <a:solidFill>
                <a:srgbClr val="0E0E0E"/>
              </a:solidFill>
            </a:endParaRPr>
          </a:p>
          <a:p>
            <a:pPr indent="-317500" lvl="0" marL="635000" rtl="0" algn="just">
              <a:lnSpc>
                <a:spcPct val="115000"/>
              </a:lnSpc>
              <a:spcBef>
                <a:spcPts val="0"/>
              </a:spcBef>
              <a:spcAft>
                <a:spcPts val="0"/>
              </a:spcAft>
              <a:buNone/>
            </a:pPr>
            <a:r>
              <a:t/>
            </a:r>
            <a:endParaRPr sz="1050">
              <a:solidFill>
                <a:srgbClr val="0E0E0E"/>
              </a:solidFill>
            </a:endParaRPr>
          </a:p>
          <a:p>
            <a:pPr indent="0" lvl="0" marL="0" rtl="0" algn="just">
              <a:lnSpc>
                <a:spcPct val="115000"/>
              </a:lnSpc>
              <a:spcBef>
                <a:spcPts val="1800"/>
              </a:spcBef>
              <a:spcAft>
                <a:spcPts val="0"/>
              </a:spcAft>
              <a:buNone/>
            </a:pPr>
            <a:r>
              <a:rPr lang="en" sz="1600">
                <a:solidFill>
                  <a:schemeClr val="dk1"/>
                </a:solidFill>
              </a:rPr>
              <a:t>Story 3: Feedback Table Improvements</a:t>
            </a:r>
            <a:endParaRPr sz="1600">
              <a:solidFill>
                <a:schemeClr val="dk1"/>
              </a:solidFill>
            </a:endParaRPr>
          </a:p>
          <a:p>
            <a:pPr indent="-127000" lvl="0" marL="254000" rtl="0" algn="just">
              <a:lnSpc>
                <a:spcPct val="115000"/>
              </a:lnSpc>
              <a:spcBef>
                <a:spcPts val="600"/>
              </a:spcBef>
              <a:spcAft>
                <a:spcPts val="0"/>
              </a:spcAft>
              <a:buNone/>
            </a:pPr>
            <a:r>
              <a:rPr lang="en" sz="1050">
                <a:solidFill>
                  <a:srgbClr val="0E0E0E"/>
                </a:solidFill>
              </a:rPr>
              <a:t>	•	</a:t>
            </a:r>
            <a:r>
              <a:rPr b="1" lang="en" sz="1050">
                <a:solidFill>
                  <a:srgbClr val="0E0E0E"/>
                </a:solidFill>
              </a:rPr>
              <a:t>Description</a:t>
            </a:r>
            <a:r>
              <a:rPr lang="en" sz="1050">
                <a:solidFill>
                  <a:srgbClr val="0E0E0E"/>
                </a:solidFill>
              </a:rPr>
              <a:t>: Fix bugs and improve the usability of the feedback table, including the ability to send reminders and accurately track submissions.</a:t>
            </a:r>
            <a:endParaRPr sz="1050">
              <a:solidFill>
                <a:srgbClr val="0E0E0E"/>
              </a:solidFill>
            </a:endParaRPr>
          </a:p>
          <a:p>
            <a:pPr indent="-127000" lvl="0" marL="254000" rtl="0" algn="just">
              <a:lnSpc>
                <a:spcPct val="115000"/>
              </a:lnSpc>
              <a:spcBef>
                <a:spcPts val="0"/>
              </a:spcBef>
              <a:spcAft>
                <a:spcPts val="0"/>
              </a:spcAft>
              <a:buNone/>
            </a:pPr>
            <a:r>
              <a:rPr lang="en" sz="1050">
                <a:solidFill>
                  <a:srgbClr val="0E0E0E"/>
                </a:solidFill>
              </a:rPr>
              <a:t>	•	</a:t>
            </a:r>
            <a:r>
              <a:rPr b="1" lang="en" sz="1050">
                <a:solidFill>
                  <a:srgbClr val="0E0E0E"/>
                </a:solidFill>
              </a:rPr>
              <a:t>Acceptance Criteria</a:t>
            </a:r>
            <a:r>
              <a:rPr lang="en" sz="1050">
                <a:solidFill>
                  <a:srgbClr val="0E0E0E"/>
                </a:solidFill>
              </a:rPr>
              <a:t>:</a:t>
            </a:r>
            <a:endParaRPr sz="1050">
              <a:solidFill>
                <a:srgbClr val="0E0E0E"/>
              </a:solidFill>
            </a:endParaRPr>
          </a:p>
          <a:p>
            <a:pPr indent="-317500" lvl="0" marL="635000" rtl="0" algn="just">
              <a:lnSpc>
                <a:spcPct val="115000"/>
              </a:lnSpc>
              <a:spcBef>
                <a:spcPts val="0"/>
              </a:spcBef>
              <a:spcAft>
                <a:spcPts val="0"/>
              </a:spcAft>
              <a:buNone/>
            </a:pPr>
            <a:r>
              <a:rPr lang="en" sz="1050">
                <a:solidFill>
                  <a:srgbClr val="0E0E0E"/>
                </a:solidFill>
              </a:rPr>
              <a:t>	•	Bugs related to feedback table data are resolved.</a:t>
            </a:r>
            <a:endParaRPr sz="1050">
              <a:solidFill>
                <a:srgbClr val="0E0E0E"/>
              </a:solidFill>
            </a:endParaRPr>
          </a:p>
          <a:p>
            <a:pPr indent="-317500" lvl="0" marL="635000" rtl="0" algn="just">
              <a:lnSpc>
                <a:spcPct val="115000"/>
              </a:lnSpc>
              <a:spcBef>
                <a:spcPts val="0"/>
              </a:spcBef>
              <a:spcAft>
                <a:spcPts val="0"/>
              </a:spcAft>
              <a:buNone/>
            </a:pPr>
            <a:r>
              <a:rPr lang="en" sz="1050">
                <a:solidFill>
                  <a:srgbClr val="0E0E0E"/>
                </a:solidFill>
              </a:rPr>
              <a:t>	•	Feedback table allows targeted reminders and accurate tracking of submissions.</a:t>
            </a:r>
            <a:endParaRPr sz="1050">
              <a:solidFill>
                <a:srgbClr val="0E0E0E"/>
              </a:solidFill>
            </a:endParaRPr>
          </a:p>
          <a:p>
            <a:pPr indent="-317500" lvl="0" marL="635000" rtl="0" algn="just">
              <a:lnSpc>
                <a:spcPct val="115000"/>
              </a:lnSpc>
              <a:spcBef>
                <a:spcPts val="0"/>
              </a:spcBef>
              <a:spcAft>
                <a:spcPts val="0"/>
              </a:spcAft>
              <a:buNone/>
            </a:pPr>
            <a:r>
              <a:t/>
            </a:r>
            <a:endParaRPr sz="1050">
              <a:solidFill>
                <a:srgbClr val="0E0E0E"/>
              </a:solidFill>
            </a:endParaRPr>
          </a:p>
          <a:p>
            <a:pPr indent="0" lvl="0" marL="0" rtl="0" algn="just">
              <a:lnSpc>
                <a:spcPct val="115000"/>
              </a:lnSpc>
              <a:spcBef>
                <a:spcPts val="2000"/>
              </a:spcBef>
              <a:spcAft>
                <a:spcPts val="0"/>
              </a:spcAft>
              <a:buNone/>
            </a:pPr>
            <a:r>
              <a:rPr lang="en" sz="2000">
                <a:solidFill>
                  <a:schemeClr val="dk1"/>
                </a:solidFill>
              </a:rPr>
              <a:t>Epic 1: Tracking Progress Enhancements</a:t>
            </a:r>
            <a:endParaRPr sz="2000">
              <a:solidFill>
                <a:schemeClr val="dk1"/>
              </a:solidFill>
            </a:endParaRPr>
          </a:p>
          <a:p>
            <a:pPr indent="0" lvl="0" marL="0" rtl="0" algn="just">
              <a:lnSpc>
                <a:spcPct val="115000"/>
              </a:lnSpc>
              <a:spcBef>
                <a:spcPts val="1800"/>
              </a:spcBef>
              <a:spcAft>
                <a:spcPts val="0"/>
              </a:spcAft>
              <a:buNone/>
            </a:pPr>
            <a:r>
              <a:rPr lang="en" sz="1600">
                <a:solidFill>
                  <a:schemeClr val="dk1"/>
                </a:solidFill>
              </a:rPr>
              <a:t>Story 1: Define and Implement Progress Tracking Framework</a:t>
            </a:r>
            <a:endParaRPr sz="1600">
              <a:solidFill>
                <a:schemeClr val="dk1"/>
              </a:solidFill>
            </a:endParaRPr>
          </a:p>
          <a:p>
            <a:pPr indent="-127000" lvl="0" marL="254000" rtl="0" algn="just">
              <a:lnSpc>
                <a:spcPct val="115000"/>
              </a:lnSpc>
              <a:spcBef>
                <a:spcPts val="600"/>
              </a:spcBef>
              <a:spcAft>
                <a:spcPts val="0"/>
              </a:spcAft>
              <a:buNone/>
            </a:pPr>
            <a:r>
              <a:rPr lang="en" sz="1050">
                <a:solidFill>
                  <a:srgbClr val="0E0E0E"/>
                </a:solidFill>
              </a:rPr>
              <a:t>	•	</a:t>
            </a:r>
            <a:r>
              <a:rPr b="1" lang="en" sz="1050">
                <a:solidFill>
                  <a:srgbClr val="0E0E0E"/>
                </a:solidFill>
              </a:rPr>
              <a:t>Description</a:t>
            </a:r>
            <a:r>
              <a:rPr lang="en" sz="1050">
                <a:solidFill>
                  <a:srgbClr val="0E0E0E"/>
                </a:solidFill>
              </a:rPr>
              <a:t>: Collaborate with stakeholders to define what “tracking progress” means across different user groups (Design, UK, Admins). Implement a framework that accommodates different interpretations such as time spent on the platform, module completion, and team progress.</a:t>
            </a:r>
            <a:endParaRPr sz="1050">
              <a:solidFill>
                <a:srgbClr val="0E0E0E"/>
              </a:solidFill>
            </a:endParaRPr>
          </a:p>
          <a:p>
            <a:pPr indent="-127000" lvl="0" marL="254000" rtl="0" algn="just">
              <a:lnSpc>
                <a:spcPct val="115000"/>
              </a:lnSpc>
              <a:spcBef>
                <a:spcPts val="0"/>
              </a:spcBef>
              <a:spcAft>
                <a:spcPts val="0"/>
              </a:spcAft>
              <a:buNone/>
            </a:pPr>
            <a:r>
              <a:rPr lang="en" sz="1050">
                <a:solidFill>
                  <a:srgbClr val="0E0E0E"/>
                </a:solidFill>
              </a:rPr>
              <a:t>	•	</a:t>
            </a:r>
            <a:r>
              <a:rPr b="1" lang="en" sz="1050">
                <a:solidFill>
                  <a:srgbClr val="0E0E0E"/>
                </a:solidFill>
              </a:rPr>
              <a:t>Acceptance Criteria</a:t>
            </a:r>
            <a:r>
              <a:rPr lang="en" sz="1050">
                <a:solidFill>
                  <a:srgbClr val="0E0E0E"/>
                </a:solidFill>
              </a:rPr>
              <a:t>:</a:t>
            </a:r>
            <a:endParaRPr sz="1050">
              <a:solidFill>
                <a:srgbClr val="0E0E0E"/>
              </a:solidFill>
            </a:endParaRPr>
          </a:p>
          <a:p>
            <a:pPr indent="-317500" lvl="0" marL="635000" rtl="0" algn="just">
              <a:lnSpc>
                <a:spcPct val="115000"/>
              </a:lnSpc>
              <a:spcBef>
                <a:spcPts val="0"/>
              </a:spcBef>
              <a:spcAft>
                <a:spcPts val="0"/>
              </a:spcAft>
              <a:buNone/>
            </a:pPr>
            <a:r>
              <a:rPr lang="en" sz="1050">
                <a:solidFill>
                  <a:srgbClr val="0E0E0E"/>
                </a:solidFill>
              </a:rPr>
              <a:t>	•	Workshop conducted with key stakeholders to define “tracking progress.”</a:t>
            </a:r>
            <a:endParaRPr sz="1050">
              <a:solidFill>
                <a:srgbClr val="0E0E0E"/>
              </a:solidFill>
            </a:endParaRPr>
          </a:p>
          <a:p>
            <a:pPr indent="-317500" lvl="0" marL="635000" rtl="0" algn="just">
              <a:lnSpc>
                <a:spcPct val="115000"/>
              </a:lnSpc>
              <a:spcBef>
                <a:spcPts val="0"/>
              </a:spcBef>
              <a:spcAft>
                <a:spcPts val="0"/>
              </a:spcAft>
              <a:buNone/>
            </a:pPr>
            <a:r>
              <a:rPr lang="en" sz="1050">
                <a:solidFill>
                  <a:srgbClr val="0E0E0E"/>
                </a:solidFill>
              </a:rPr>
              <a:t>	•	Implement progress tracking on a module-by-module basis, and team basis, as well as individual time spent on the platform.</a:t>
            </a:r>
            <a:endParaRPr sz="1050">
              <a:solidFill>
                <a:srgbClr val="0E0E0E"/>
              </a:solidFill>
            </a:endParaRPr>
          </a:p>
          <a:p>
            <a:pPr indent="-317500" lvl="0" marL="635000" rtl="0" algn="just">
              <a:lnSpc>
                <a:spcPct val="115000"/>
              </a:lnSpc>
              <a:spcBef>
                <a:spcPts val="0"/>
              </a:spcBef>
              <a:spcAft>
                <a:spcPts val="0"/>
              </a:spcAft>
              <a:buNone/>
            </a:pPr>
            <a:r>
              <a:rPr lang="en" sz="1050">
                <a:solidFill>
                  <a:srgbClr val="0E0E0E"/>
                </a:solidFill>
              </a:rPr>
              <a:t>	•	Ensure that the progress bar indicates the number of modules completed.</a:t>
            </a:r>
            <a:endParaRPr sz="1050">
              <a:solidFill>
                <a:srgbClr val="0E0E0E"/>
              </a:solidFill>
            </a:endParaRPr>
          </a:p>
          <a:p>
            <a:pPr indent="0" lvl="0" marL="0" rtl="0" algn="just">
              <a:lnSpc>
                <a:spcPct val="115000"/>
              </a:lnSpc>
              <a:spcBef>
                <a:spcPts val="1800"/>
              </a:spcBef>
              <a:spcAft>
                <a:spcPts val="0"/>
              </a:spcAft>
              <a:buNone/>
            </a:pPr>
            <a:r>
              <a:rPr lang="en" sz="1600">
                <a:solidFill>
                  <a:schemeClr val="dk1"/>
                </a:solidFill>
              </a:rPr>
              <a:t>Story 2: Track and Display Team Progress</a:t>
            </a:r>
            <a:endParaRPr sz="1600">
              <a:solidFill>
                <a:schemeClr val="dk1"/>
              </a:solidFill>
            </a:endParaRPr>
          </a:p>
          <a:p>
            <a:pPr indent="-127000" lvl="0" marL="254000" rtl="0" algn="just">
              <a:lnSpc>
                <a:spcPct val="115000"/>
              </a:lnSpc>
              <a:spcBef>
                <a:spcPts val="600"/>
              </a:spcBef>
              <a:spcAft>
                <a:spcPts val="0"/>
              </a:spcAft>
              <a:buNone/>
            </a:pPr>
            <a:r>
              <a:rPr lang="en" sz="1050">
                <a:solidFill>
                  <a:srgbClr val="0E0E0E"/>
                </a:solidFill>
              </a:rPr>
              <a:t>	•	</a:t>
            </a:r>
            <a:r>
              <a:rPr b="1" lang="en" sz="1050">
                <a:solidFill>
                  <a:srgbClr val="0E0E0E"/>
                </a:solidFill>
              </a:rPr>
              <a:t>Description</a:t>
            </a:r>
            <a:r>
              <a:rPr lang="en" sz="1050">
                <a:solidFill>
                  <a:srgbClr val="0E0E0E"/>
                </a:solidFill>
              </a:rPr>
              <a:t>: Develop a feature that allows admins to track overall team progress through key deliverables and modules.</a:t>
            </a:r>
            <a:endParaRPr sz="1050">
              <a:solidFill>
                <a:srgbClr val="0E0E0E"/>
              </a:solidFill>
            </a:endParaRPr>
          </a:p>
          <a:p>
            <a:pPr indent="-127000" lvl="0" marL="254000" rtl="0" algn="just">
              <a:lnSpc>
                <a:spcPct val="115000"/>
              </a:lnSpc>
              <a:spcBef>
                <a:spcPts val="0"/>
              </a:spcBef>
              <a:spcAft>
                <a:spcPts val="0"/>
              </a:spcAft>
              <a:buNone/>
            </a:pPr>
            <a:r>
              <a:rPr lang="en" sz="1050">
                <a:solidFill>
                  <a:srgbClr val="0E0E0E"/>
                </a:solidFill>
              </a:rPr>
              <a:t>	•	</a:t>
            </a:r>
            <a:r>
              <a:rPr b="1" lang="en" sz="1050">
                <a:solidFill>
                  <a:srgbClr val="0E0E0E"/>
                </a:solidFill>
              </a:rPr>
              <a:t>Acceptance Criteria</a:t>
            </a:r>
            <a:r>
              <a:rPr lang="en" sz="1050">
                <a:solidFill>
                  <a:srgbClr val="0E0E0E"/>
                </a:solidFill>
              </a:rPr>
              <a:t>:</a:t>
            </a:r>
            <a:endParaRPr sz="1050">
              <a:solidFill>
                <a:srgbClr val="0E0E0E"/>
              </a:solidFill>
            </a:endParaRPr>
          </a:p>
          <a:p>
            <a:pPr indent="-317500" lvl="0" marL="635000" rtl="0" algn="just">
              <a:lnSpc>
                <a:spcPct val="115000"/>
              </a:lnSpc>
              <a:spcBef>
                <a:spcPts val="0"/>
              </a:spcBef>
              <a:spcAft>
                <a:spcPts val="0"/>
              </a:spcAft>
              <a:buNone/>
            </a:pPr>
            <a:r>
              <a:rPr lang="en" sz="1050">
                <a:solidFill>
                  <a:srgbClr val="0E0E0E"/>
                </a:solidFill>
              </a:rPr>
              <a:t>	•	Progress tracking tab added to the Users page.</a:t>
            </a:r>
            <a:endParaRPr sz="1050">
              <a:solidFill>
                <a:srgbClr val="0E0E0E"/>
              </a:solidFill>
            </a:endParaRPr>
          </a:p>
          <a:p>
            <a:pPr indent="-317500" lvl="0" marL="635000" rtl="0" algn="just">
              <a:lnSpc>
                <a:spcPct val="115000"/>
              </a:lnSpc>
              <a:spcBef>
                <a:spcPts val="0"/>
              </a:spcBef>
              <a:spcAft>
                <a:spcPts val="0"/>
              </a:spcAft>
              <a:buNone/>
            </a:pPr>
            <a:r>
              <a:rPr lang="en" sz="1050">
                <a:solidFill>
                  <a:srgbClr val="0E0E0E"/>
                </a:solidFill>
              </a:rPr>
              <a:t>	•	Visual representation of team progress across modules and key deliverables.</a:t>
            </a:r>
            <a:endParaRPr sz="1050">
              <a:solidFill>
                <a:srgbClr val="0E0E0E"/>
              </a:solidFill>
            </a:endParaRPr>
          </a:p>
          <a:p>
            <a:pPr indent="0" lvl="0" marL="0" rtl="0" algn="just">
              <a:lnSpc>
                <a:spcPct val="115000"/>
              </a:lnSpc>
              <a:spcBef>
                <a:spcPts val="1800"/>
              </a:spcBef>
              <a:spcAft>
                <a:spcPts val="0"/>
              </a:spcAft>
              <a:buNone/>
            </a:pPr>
            <a:r>
              <a:rPr lang="en" sz="1600">
                <a:solidFill>
                  <a:schemeClr val="dk1"/>
                </a:solidFill>
              </a:rPr>
              <a:t>Story 3: Integrate Progress Tracking with Industry Projects</a:t>
            </a:r>
            <a:endParaRPr sz="1600">
              <a:solidFill>
                <a:schemeClr val="dk1"/>
              </a:solidFill>
            </a:endParaRPr>
          </a:p>
          <a:p>
            <a:pPr indent="-127000" lvl="0" marL="254000" rtl="0" algn="just">
              <a:lnSpc>
                <a:spcPct val="115000"/>
              </a:lnSpc>
              <a:spcBef>
                <a:spcPts val="600"/>
              </a:spcBef>
              <a:spcAft>
                <a:spcPts val="0"/>
              </a:spcAft>
              <a:buNone/>
            </a:pPr>
            <a:r>
              <a:rPr lang="en" sz="1050">
                <a:solidFill>
                  <a:srgbClr val="0E0E0E"/>
                </a:solidFill>
              </a:rPr>
              <a:t>	•	</a:t>
            </a:r>
            <a:r>
              <a:rPr b="1" lang="en" sz="1050">
                <a:solidFill>
                  <a:srgbClr val="0E0E0E"/>
                </a:solidFill>
              </a:rPr>
              <a:t>Description</a:t>
            </a:r>
            <a:r>
              <a:rPr lang="en" sz="1050">
                <a:solidFill>
                  <a:srgbClr val="0E0E0E"/>
                </a:solidFill>
              </a:rPr>
              <a:t>: Link module completion with industry project completion to control badge/certificate issuance based on progress.</a:t>
            </a:r>
            <a:endParaRPr sz="1050">
              <a:solidFill>
                <a:srgbClr val="0E0E0E"/>
              </a:solidFill>
            </a:endParaRPr>
          </a:p>
          <a:p>
            <a:pPr indent="-127000" lvl="0" marL="254000" rtl="0" algn="just">
              <a:lnSpc>
                <a:spcPct val="115000"/>
              </a:lnSpc>
              <a:spcBef>
                <a:spcPts val="0"/>
              </a:spcBef>
              <a:spcAft>
                <a:spcPts val="0"/>
              </a:spcAft>
              <a:buNone/>
            </a:pPr>
            <a:r>
              <a:rPr lang="en" sz="1050">
                <a:solidFill>
                  <a:srgbClr val="0E0E0E"/>
                </a:solidFill>
              </a:rPr>
              <a:t>	•	</a:t>
            </a:r>
            <a:r>
              <a:rPr b="1" lang="en" sz="1050">
                <a:solidFill>
                  <a:srgbClr val="0E0E0E"/>
                </a:solidFill>
              </a:rPr>
              <a:t>Acceptance Criteria</a:t>
            </a:r>
            <a:r>
              <a:rPr lang="en" sz="1050">
                <a:solidFill>
                  <a:srgbClr val="0E0E0E"/>
                </a:solidFill>
              </a:rPr>
              <a:t>:</a:t>
            </a:r>
            <a:endParaRPr sz="1050">
              <a:solidFill>
                <a:srgbClr val="0E0E0E"/>
              </a:solidFill>
            </a:endParaRPr>
          </a:p>
          <a:p>
            <a:pPr indent="-317500" lvl="0" marL="635000" rtl="0" algn="just">
              <a:lnSpc>
                <a:spcPct val="115000"/>
              </a:lnSpc>
              <a:spcBef>
                <a:spcPts val="0"/>
              </a:spcBef>
              <a:spcAft>
                <a:spcPts val="0"/>
              </a:spcAft>
              <a:buNone/>
            </a:pPr>
            <a:r>
              <a:rPr lang="en" sz="1050">
                <a:solidFill>
                  <a:srgbClr val="0E0E0E"/>
                </a:solidFill>
              </a:rPr>
              <a:t>	•	Students must complete specific modules before receiving badges or certificates for industry projects.</a:t>
            </a:r>
            <a:endParaRPr sz="1050">
              <a:solidFill>
                <a:srgbClr val="0E0E0E"/>
              </a:solidFill>
            </a:endParaRPr>
          </a:p>
          <a:p>
            <a:pPr indent="-317500" lvl="0" marL="635000" rtl="0" algn="just">
              <a:lnSpc>
                <a:spcPct val="115000"/>
              </a:lnSpc>
              <a:spcBef>
                <a:spcPts val="0"/>
              </a:spcBef>
              <a:spcAft>
                <a:spcPts val="0"/>
              </a:spcAft>
              <a:buNone/>
            </a:pPr>
            <a:r>
              <a:rPr lang="en" sz="1050">
                <a:solidFill>
                  <a:srgbClr val="0E0E0E"/>
                </a:solidFill>
              </a:rPr>
              <a:t>	•	Cross-check system to ensure students have completed necessary modules before project-related rewards are issued.</a:t>
            </a:r>
            <a:endParaRPr sz="1050">
              <a:solidFill>
                <a:srgbClr val="0E0E0E"/>
              </a:solidFill>
            </a:endParaRPr>
          </a:p>
          <a:p>
            <a:pPr indent="0" lvl="0" marL="0" rtl="0" algn="just">
              <a:lnSpc>
                <a:spcPct val="115000"/>
              </a:lnSpc>
              <a:spcBef>
                <a:spcPts val="1800"/>
              </a:spcBef>
              <a:spcAft>
                <a:spcPts val="0"/>
              </a:spcAft>
              <a:buNone/>
            </a:pPr>
            <a:r>
              <a:rPr lang="en" sz="1600">
                <a:solidFill>
                  <a:schemeClr val="dk1"/>
                </a:solidFill>
              </a:rPr>
              <a:t>Story 4: Improve Progress and Engagement Data Accuracy</a:t>
            </a:r>
            <a:endParaRPr sz="1600">
              <a:solidFill>
                <a:schemeClr val="dk1"/>
              </a:solidFill>
            </a:endParaRPr>
          </a:p>
          <a:p>
            <a:pPr indent="-127000" lvl="0" marL="254000" rtl="0" algn="just">
              <a:lnSpc>
                <a:spcPct val="115000"/>
              </a:lnSpc>
              <a:spcBef>
                <a:spcPts val="600"/>
              </a:spcBef>
              <a:spcAft>
                <a:spcPts val="0"/>
              </a:spcAft>
              <a:buNone/>
            </a:pPr>
            <a:r>
              <a:rPr lang="en" sz="1050">
                <a:solidFill>
                  <a:srgbClr val="0E0E0E"/>
                </a:solidFill>
              </a:rPr>
              <a:t>	•	</a:t>
            </a:r>
            <a:r>
              <a:rPr b="1" lang="en" sz="1050">
                <a:solidFill>
                  <a:srgbClr val="0E0E0E"/>
                </a:solidFill>
              </a:rPr>
              <a:t>Description</a:t>
            </a:r>
            <a:r>
              <a:rPr lang="en" sz="1050">
                <a:solidFill>
                  <a:srgbClr val="0E0E0E"/>
                </a:solidFill>
              </a:rPr>
              <a:t>: Enhance the accuracy of progress and engagement data across the platform, especially for branched content and admin dashboards.</a:t>
            </a:r>
            <a:endParaRPr sz="1050">
              <a:solidFill>
                <a:srgbClr val="0E0E0E"/>
              </a:solidFill>
            </a:endParaRPr>
          </a:p>
          <a:p>
            <a:pPr indent="-127000" lvl="0" marL="254000" rtl="0" algn="just">
              <a:lnSpc>
                <a:spcPct val="115000"/>
              </a:lnSpc>
              <a:spcBef>
                <a:spcPts val="0"/>
              </a:spcBef>
              <a:spcAft>
                <a:spcPts val="0"/>
              </a:spcAft>
              <a:buNone/>
            </a:pPr>
            <a:r>
              <a:rPr lang="en" sz="1050">
                <a:solidFill>
                  <a:srgbClr val="0E0E0E"/>
                </a:solidFill>
              </a:rPr>
              <a:t>	•	</a:t>
            </a:r>
            <a:r>
              <a:rPr b="1" lang="en" sz="1050">
                <a:solidFill>
                  <a:srgbClr val="0E0E0E"/>
                </a:solidFill>
              </a:rPr>
              <a:t>Acceptance Criteria</a:t>
            </a:r>
            <a:r>
              <a:rPr lang="en" sz="1050">
                <a:solidFill>
                  <a:srgbClr val="0E0E0E"/>
                </a:solidFill>
              </a:rPr>
              <a:t>:</a:t>
            </a:r>
            <a:endParaRPr sz="1050">
              <a:solidFill>
                <a:srgbClr val="0E0E0E"/>
              </a:solidFill>
            </a:endParaRPr>
          </a:p>
          <a:p>
            <a:pPr indent="-317500" lvl="0" marL="635000" rtl="0" algn="just">
              <a:lnSpc>
                <a:spcPct val="115000"/>
              </a:lnSpc>
              <a:spcBef>
                <a:spcPts val="0"/>
              </a:spcBef>
              <a:spcAft>
                <a:spcPts val="0"/>
              </a:spcAft>
              <a:buNone/>
            </a:pPr>
            <a:r>
              <a:rPr lang="en" sz="1050">
                <a:solidFill>
                  <a:srgbClr val="0E0E0E"/>
                </a:solidFill>
              </a:rPr>
              <a:t>	•	Progress bars reflect true completion status, considering branched content.</a:t>
            </a:r>
            <a:endParaRPr sz="1050">
              <a:solidFill>
                <a:srgbClr val="0E0E0E"/>
              </a:solidFill>
            </a:endParaRPr>
          </a:p>
          <a:p>
            <a:pPr indent="-317500" lvl="0" marL="635000" rtl="0" algn="just">
              <a:lnSpc>
                <a:spcPct val="115000"/>
              </a:lnSpc>
              <a:spcBef>
                <a:spcPts val="0"/>
              </a:spcBef>
              <a:spcAft>
                <a:spcPts val="0"/>
              </a:spcAft>
              <a:buClr>
                <a:schemeClr val="dk1"/>
              </a:buClr>
              <a:buSzPts val="1100"/>
              <a:buFont typeface="Arial"/>
              <a:buNone/>
            </a:pPr>
            <a:r>
              <a:rPr lang="en" sz="1050">
                <a:solidFill>
                  <a:srgbClr val="0E0E0E"/>
                </a:solidFill>
              </a:rPr>
              <a:t>	•	Admin dashboard accurately displays engagement stats and completion rates.</a:t>
            </a:r>
            <a:endParaRPr sz="1050">
              <a:solidFill>
                <a:srgbClr val="0E0E0E"/>
              </a:solidFill>
            </a:endParaRPr>
          </a:p>
          <a:p>
            <a:pPr indent="-317500" lvl="0" marL="635000" rtl="0" algn="just">
              <a:lnSpc>
                <a:spcPct val="115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2fcc4f6ecbe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2fcc4f6ecbe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2000"/>
              </a:spcBef>
              <a:spcAft>
                <a:spcPts val="0"/>
              </a:spcAft>
              <a:buClr>
                <a:schemeClr val="dk1"/>
              </a:buClr>
              <a:buSzPts val="1100"/>
              <a:buFont typeface="Arial"/>
              <a:buNone/>
            </a:pPr>
            <a:r>
              <a:rPr lang="en" sz="2000">
                <a:solidFill>
                  <a:schemeClr val="dk1"/>
                </a:solidFill>
              </a:rPr>
              <a:t>Epic 3: User Management and Engagement</a:t>
            </a:r>
            <a:endParaRPr sz="2000">
              <a:solidFill>
                <a:schemeClr val="dk1"/>
              </a:solidFill>
            </a:endParaRPr>
          </a:p>
          <a:p>
            <a:pPr indent="0" lvl="0" marL="0" rtl="0" algn="just">
              <a:lnSpc>
                <a:spcPct val="115000"/>
              </a:lnSpc>
              <a:spcBef>
                <a:spcPts val="1800"/>
              </a:spcBef>
              <a:spcAft>
                <a:spcPts val="0"/>
              </a:spcAft>
              <a:buClr>
                <a:schemeClr val="dk1"/>
              </a:buClr>
              <a:buSzPts val="1100"/>
              <a:buFont typeface="Arial"/>
              <a:buNone/>
            </a:pPr>
            <a:r>
              <a:rPr lang="en" sz="1600">
                <a:solidFill>
                  <a:schemeClr val="dk1"/>
                </a:solidFill>
              </a:rPr>
              <a:t>Story 1: Enhance Dropped User Functionality</a:t>
            </a:r>
            <a:endParaRPr sz="1600">
              <a:solidFill>
                <a:schemeClr val="dk1"/>
              </a:solidFill>
            </a:endParaRPr>
          </a:p>
          <a:p>
            <a:pPr indent="-127000" lvl="0" marL="254000" rtl="0" algn="just">
              <a:lnSpc>
                <a:spcPct val="115000"/>
              </a:lnSpc>
              <a:spcBef>
                <a:spcPts val="600"/>
              </a:spcBef>
              <a:spcAft>
                <a:spcPts val="0"/>
              </a:spcAft>
              <a:buClr>
                <a:schemeClr val="dk1"/>
              </a:buClr>
              <a:buSzPts val="1100"/>
              <a:buFont typeface="Arial"/>
              <a:buNone/>
            </a:pPr>
            <a:r>
              <a:rPr lang="en" sz="1050">
                <a:solidFill>
                  <a:srgbClr val="0E0E0E"/>
                </a:solidFill>
              </a:rPr>
              <a:t>	•	</a:t>
            </a:r>
            <a:r>
              <a:rPr b="1" lang="en" sz="1050">
                <a:solidFill>
                  <a:srgbClr val="0E0E0E"/>
                </a:solidFill>
              </a:rPr>
              <a:t>Description</a:t>
            </a:r>
            <a:r>
              <a:rPr lang="en" sz="1050">
                <a:solidFill>
                  <a:srgbClr val="0E0E0E"/>
                </a:solidFill>
              </a:rPr>
              <a:t>: Improve the handling of “dropped” users to more accurately reflect their status, impact on metrics, and ensure they do not disrupt ongoing activities.</a:t>
            </a:r>
            <a:endParaRPr sz="1050">
              <a:solidFill>
                <a:srgbClr val="0E0E0E"/>
              </a:solidFill>
            </a:endParaRPr>
          </a:p>
          <a:p>
            <a:pPr indent="-127000" lvl="0" marL="254000" rtl="0" algn="just">
              <a:lnSpc>
                <a:spcPct val="115000"/>
              </a:lnSpc>
              <a:spcBef>
                <a:spcPts val="0"/>
              </a:spcBef>
              <a:spcAft>
                <a:spcPts val="0"/>
              </a:spcAft>
              <a:buClr>
                <a:schemeClr val="dk1"/>
              </a:buClr>
              <a:buSzPts val="1100"/>
              <a:buFont typeface="Arial"/>
              <a:buNone/>
            </a:pPr>
            <a:r>
              <a:rPr lang="en" sz="1050">
                <a:solidFill>
                  <a:srgbClr val="0E0E0E"/>
                </a:solidFill>
              </a:rPr>
              <a:t>	•	</a:t>
            </a:r>
            <a:r>
              <a:rPr b="1" lang="en" sz="1050">
                <a:solidFill>
                  <a:srgbClr val="0E0E0E"/>
                </a:solidFill>
              </a:rPr>
              <a:t>Acceptance Criteria</a:t>
            </a:r>
            <a:r>
              <a:rPr lang="en" sz="1050">
                <a:solidFill>
                  <a:srgbClr val="0E0E0E"/>
                </a:solidFill>
              </a:rPr>
              <a:t>:</a:t>
            </a:r>
            <a:endParaRPr sz="1050">
              <a:solidFill>
                <a:srgbClr val="0E0E0E"/>
              </a:solidFill>
            </a:endParaRPr>
          </a:p>
          <a:p>
            <a:pPr indent="-317500" lvl="0" marL="635000" rtl="0" algn="just">
              <a:lnSpc>
                <a:spcPct val="115000"/>
              </a:lnSpc>
              <a:spcBef>
                <a:spcPts val="0"/>
              </a:spcBef>
              <a:spcAft>
                <a:spcPts val="0"/>
              </a:spcAft>
              <a:buClr>
                <a:schemeClr val="dk1"/>
              </a:buClr>
              <a:buSzPts val="1100"/>
              <a:buFont typeface="Arial"/>
              <a:buNone/>
            </a:pPr>
            <a:r>
              <a:rPr lang="en" sz="1050">
                <a:solidFill>
                  <a:srgbClr val="0E0E0E"/>
                </a:solidFill>
              </a:rPr>
              <a:t>	•	“Dropped” users are accurately excluded from reports and metrics.</a:t>
            </a:r>
            <a:endParaRPr sz="1050">
              <a:solidFill>
                <a:srgbClr val="0E0E0E"/>
              </a:solidFill>
            </a:endParaRPr>
          </a:p>
          <a:p>
            <a:pPr indent="-317500" lvl="0" marL="635000" rtl="0" algn="just">
              <a:lnSpc>
                <a:spcPct val="115000"/>
              </a:lnSpc>
              <a:spcBef>
                <a:spcPts val="0"/>
              </a:spcBef>
              <a:spcAft>
                <a:spcPts val="0"/>
              </a:spcAft>
              <a:buClr>
                <a:schemeClr val="dk1"/>
              </a:buClr>
              <a:buSzPts val="1100"/>
              <a:buFont typeface="Arial"/>
              <a:buNone/>
            </a:pPr>
            <a:r>
              <a:rPr lang="en" sz="1050">
                <a:solidFill>
                  <a:srgbClr val="0E0E0E"/>
                </a:solidFill>
              </a:rPr>
              <a:t>	•	Introduce a “did not commence” status for tracking purposes.</a:t>
            </a:r>
            <a:endParaRPr sz="1050">
              <a:solidFill>
                <a:srgbClr val="0E0E0E"/>
              </a:solidFill>
            </a:endParaRPr>
          </a:p>
          <a:p>
            <a:pPr indent="-317500" lvl="0" marL="635000" rtl="0" algn="just">
              <a:lnSpc>
                <a:spcPct val="115000"/>
              </a:lnSpc>
              <a:spcBef>
                <a:spcPts val="0"/>
              </a:spcBef>
              <a:spcAft>
                <a:spcPts val="0"/>
              </a:spcAft>
              <a:buClr>
                <a:schemeClr val="dk1"/>
              </a:buClr>
              <a:buSzPts val="1100"/>
              <a:buFont typeface="Arial"/>
              <a:buNone/>
            </a:pPr>
            <a:r>
              <a:rPr lang="en" sz="1050">
                <a:solidFill>
                  <a:srgbClr val="0E0E0E"/>
                </a:solidFill>
              </a:rPr>
              <a:t>	•	Dropped users do not appear in team reports, surveys, or have access to ongoing assessments.</a:t>
            </a:r>
            <a:endParaRPr sz="1050">
              <a:solidFill>
                <a:srgbClr val="0E0E0E"/>
              </a:solidFill>
            </a:endParaRPr>
          </a:p>
          <a:p>
            <a:pPr indent="0" lvl="0" marL="0" rtl="0" algn="just">
              <a:lnSpc>
                <a:spcPct val="115000"/>
              </a:lnSpc>
              <a:spcBef>
                <a:spcPts val="1800"/>
              </a:spcBef>
              <a:spcAft>
                <a:spcPts val="0"/>
              </a:spcAft>
              <a:buClr>
                <a:schemeClr val="dk1"/>
              </a:buClr>
              <a:buSzPts val="1100"/>
              <a:buFont typeface="Arial"/>
              <a:buNone/>
            </a:pPr>
            <a:r>
              <a:rPr lang="en" sz="1600">
                <a:solidFill>
                  <a:schemeClr val="dk1"/>
                </a:solidFill>
              </a:rPr>
              <a:t>Story 2: Bulk Management of Users and Triggers</a:t>
            </a:r>
            <a:endParaRPr sz="1600">
              <a:solidFill>
                <a:schemeClr val="dk1"/>
              </a:solidFill>
            </a:endParaRPr>
          </a:p>
          <a:p>
            <a:pPr indent="-127000" lvl="0" marL="254000" rtl="0" algn="just">
              <a:lnSpc>
                <a:spcPct val="115000"/>
              </a:lnSpc>
              <a:spcBef>
                <a:spcPts val="600"/>
              </a:spcBef>
              <a:spcAft>
                <a:spcPts val="0"/>
              </a:spcAft>
              <a:buClr>
                <a:schemeClr val="dk1"/>
              </a:buClr>
              <a:buSzPts val="1100"/>
              <a:buFont typeface="Arial"/>
              <a:buNone/>
            </a:pPr>
            <a:r>
              <a:rPr lang="en" sz="1050">
                <a:solidFill>
                  <a:srgbClr val="0E0E0E"/>
                </a:solidFill>
              </a:rPr>
              <a:t>	•	</a:t>
            </a:r>
            <a:r>
              <a:rPr b="1" lang="en" sz="1050">
                <a:solidFill>
                  <a:srgbClr val="0E0E0E"/>
                </a:solidFill>
              </a:rPr>
              <a:t>Description</a:t>
            </a:r>
            <a:r>
              <a:rPr lang="en" sz="1050">
                <a:solidFill>
                  <a:srgbClr val="0E0E0E"/>
                </a:solidFill>
              </a:rPr>
              <a:t>: Allow bulk operations for user management, including bulk deletion of broken triggers, bulk awarding of badges, and bulk removal of non-engaged users.</a:t>
            </a:r>
            <a:endParaRPr sz="1050">
              <a:solidFill>
                <a:srgbClr val="0E0E0E"/>
              </a:solidFill>
            </a:endParaRPr>
          </a:p>
          <a:p>
            <a:pPr indent="-127000" lvl="0" marL="254000" rtl="0" algn="just">
              <a:lnSpc>
                <a:spcPct val="115000"/>
              </a:lnSpc>
              <a:spcBef>
                <a:spcPts val="0"/>
              </a:spcBef>
              <a:spcAft>
                <a:spcPts val="0"/>
              </a:spcAft>
              <a:buClr>
                <a:schemeClr val="dk1"/>
              </a:buClr>
              <a:buSzPts val="1100"/>
              <a:buFont typeface="Arial"/>
              <a:buNone/>
            </a:pPr>
            <a:r>
              <a:rPr lang="en" sz="1050">
                <a:solidFill>
                  <a:srgbClr val="0E0E0E"/>
                </a:solidFill>
              </a:rPr>
              <a:t>	•	</a:t>
            </a:r>
            <a:r>
              <a:rPr b="1" lang="en" sz="1050">
                <a:solidFill>
                  <a:srgbClr val="0E0E0E"/>
                </a:solidFill>
              </a:rPr>
              <a:t>Acceptance Criteria</a:t>
            </a:r>
            <a:r>
              <a:rPr lang="en" sz="1050">
                <a:solidFill>
                  <a:srgbClr val="0E0E0E"/>
                </a:solidFill>
              </a:rPr>
              <a:t>:</a:t>
            </a:r>
            <a:endParaRPr sz="1050">
              <a:solidFill>
                <a:srgbClr val="0E0E0E"/>
              </a:solidFill>
            </a:endParaRPr>
          </a:p>
          <a:p>
            <a:pPr indent="-317500" lvl="0" marL="635000" rtl="0" algn="just">
              <a:lnSpc>
                <a:spcPct val="115000"/>
              </a:lnSpc>
              <a:spcBef>
                <a:spcPts val="0"/>
              </a:spcBef>
              <a:spcAft>
                <a:spcPts val="0"/>
              </a:spcAft>
              <a:buClr>
                <a:schemeClr val="dk1"/>
              </a:buClr>
              <a:buSzPts val="1100"/>
              <a:buFont typeface="Arial"/>
              <a:buNone/>
            </a:pPr>
            <a:r>
              <a:rPr lang="en" sz="1050">
                <a:solidFill>
                  <a:srgbClr val="0E0E0E"/>
                </a:solidFill>
              </a:rPr>
              <a:t>	•	Bulk award badges via CSV upload - med priority, simple</a:t>
            </a:r>
            <a:endParaRPr sz="1050">
              <a:solidFill>
                <a:srgbClr val="0E0E0E"/>
              </a:solidFill>
            </a:endParaRPr>
          </a:p>
          <a:p>
            <a:pPr indent="-317500" lvl="0" marL="635000" rtl="0" algn="just">
              <a:lnSpc>
                <a:spcPct val="115000"/>
              </a:lnSpc>
              <a:spcBef>
                <a:spcPts val="0"/>
              </a:spcBef>
              <a:spcAft>
                <a:spcPts val="0"/>
              </a:spcAft>
              <a:buClr>
                <a:schemeClr val="dk1"/>
              </a:buClr>
              <a:buSzPts val="1100"/>
              <a:buFont typeface="Arial"/>
              <a:buNone/>
            </a:pPr>
            <a:r>
              <a:rPr lang="en" sz="1050">
                <a:solidFill>
                  <a:srgbClr val="0E0E0E"/>
                </a:solidFill>
              </a:rPr>
              <a:t>	•	Functionality to bulk delete broken triggers - med priority, simple</a:t>
            </a:r>
            <a:endParaRPr sz="1050">
              <a:solidFill>
                <a:srgbClr val="0E0E0E"/>
              </a:solidFill>
            </a:endParaRPr>
          </a:p>
          <a:p>
            <a:pPr indent="-317500" lvl="0" marL="635000" rtl="0" algn="just">
              <a:lnSpc>
                <a:spcPct val="115000"/>
              </a:lnSpc>
              <a:spcBef>
                <a:spcPts val="0"/>
              </a:spcBef>
              <a:spcAft>
                <a:spcPts val="0"/>
              </a:spcAft>
              <a:buClr>
                <a:schemeClr val="dk1"/>
              </a:buClr>
              <a:buSzPts val="1100"/>
              <a:buFont typeface="Arial"/>
              <a:buNone/>
            </a:pPr>
            <a:r>
              <a:rPr lang="en" sz="1050">
                <a:solidFill>
                  <a:srgbClr val="0E0E0E"/>
                </a:solidFill>
              </a:rPr>
              <a:t>	•	Ability to bulk “drop” non-engaged users from programs - low priority</a:t>
            </a:r>
            <a:endParaRPr sz="1050">
              <a:solidFill>
                <a:srgbClr val="0E0E0E"/>
              </a:solidFill>
            </a:endParaRPr>
          </a:p>
          <a:p>
            <a:pPr indent="0" lvl="0" marL="0" rtl="0" algn="just">
              <a:lnSpc>
                <a:spcPct val="115000"/>
              </a:lnSpc>
              <a:spcBef>
                <a:spcPts val="1800"/>
              </a:spcBef>
              <a:spcAft>
                <a:spcPts val="0"/>
              </a:spcAft>
              <a:buClr>
                <a:schemeClr val="dk1"/>
              </a:buClr>
              <a:buSzPts val="1100"/>
              <a:buFont typeface="Arial"/>
              <a:buNone/>
            </a:pPr>
            <a:r>
              <a:rPr lang="en" sz="1600">
                <a:solidFill>
                  <a:schemeClr val="dk1"/>
                </a:solidFill>
              </a:rPr>
              <a:t>Story 3: Refine User Roles and Access</a:t>
            </a:r>
            <a:endParaRPr sz="1600">
              <a:solidFill>
                <a:schemeClr val="dk1"/>
              </a:solidFill>
            </a:endParaRPr>
          </a:p>
          <a:p>
            <a:pPr indent="-127000" lvl="0" marL="254000" rtl="0" algn="just">
              <a:lnSpc>
                <a:spcPct val="115000"/>
              </a:lnSpc>
              <a:spcBef>
                <a:spcPts val="600"/>
              </a:spcBef>
              <a:spcAft>
                <a:spcPts val="0"/>
              </a:spcAft>
              <a:buClr>
                <a:schemeClr val="dk1"/>
              </a:buClr>
              <a:buSzPts val="1100"/>
              <a:buFont typeface="Arial"/>
              <a:buNone/>
            </a:pPr>
            <a:r>
              <a:rPr lang="en" sz="1050">
                <a:solidFill>
                  <a:srgbClr val="0E0E0E"/>
                </a:solidFill>
              </a:rPr>
              <a:t>	•	</a:t>
            </a:r>
            <a:r>
              <a:rPr b="1" lang="en" sz="1050">
                <a:solidFill>
                  <a:srgbClr val="0E0E0E"/>
                </a:solidFill>
              </a:rPr>
              <a:t>Description</a:t>
            </a:r>
            <a:r>
              <a:rPr lang="en" sz="1050">
                <a:solidFill>
                  <a:srgbClr val="0E0E0E"/>
                </a:solidFill>
              </a:rPr>
              <a:t>: Create distinct user roles such as “mentor” and “client,” replacing the “expert” label to reduce confusion. Allow multiple experts in a team and ensure seamless integration with team chat functionality.</a:t>
            </a:r>
            <a:endParaRPr sz="1050">
              <a:solidFill>
                <a:srgbClr val="0E0E0E"/>
              </a:solidFill>
            </a:endParaRPr>
          </a:p>
          <a:p>
            <a:pPr indent="-127000" lvl="0" marL="254000" rtl="0" algn="just">
              <a:lnSpc>
                <a:spcPct val="115000"/>
              </a:lnSpc>
              <a:spcBef>
                <a:spcPts val="0"/>
              </a:spcBef>
              <a:spcAft>
                <a:spcPts val="0"/>
              </a:spcAft>
              <a:buClr>
                <a:schemeClr val="dk1"/>
              </a:buClr>
              <a:buSzPts val="1100"/>
              <a:buFont typeface="Arial"/>
              <a:buNone/>
            </a:pPr>
            <a:r>
              <a:rPr lang="en" sz="1050">
                <a:solidFill>
                  <a:srgbClr val="0E0E0E"/>
                </a:solidFill>
              </a:rPr>
              <a:t>	•	</a:t>
            </a:r>
            <a:r>
              <a:rPr b="1" lang="en" sz="1050">
                <a:solidFill>
                  <a:srgbClr val="0E0E0E"/>
                </a:solidFill>
              </a:rPr>
              <a:t>Acceptance Criteria</a:t>
            </a:r>
            <a:r>
              <a:rPr lang="en" sz="1050">
                <a:solidFill>
                  <a:srgbClr val="0E0E0E"/>
                </a:solidFill>
              </a:rPr>
              <a:t>:</a:t>
            </a:r>
            <a:endParaRPr sz="1050">
              <a:solidFill>
                <a:srgbClr val="0E0E0E"/>
              </a:solidFill>
            </a:endParaRPr>
          </a:p>
          <a:p>
            <a:pPr indent="-317500" lvl="0" marL="635000" rtl="0" algn="just">
              <a:lnSpc>
                <a:spcPct val="115000"/>
              </a:lnSpc>
              <a:spcBef>
                <a:spcPts val="0"/>
              </a:spcBef>
              <a:spcAft>
                <a:spcPts val="0"/>
              </a:spcAft>
              <a:buClr>
                <a:schemeClr val="dk1"/>
              </a:buClr>
              <a:buSzPts val="1100"/>
              <a:buFont typeface="Arial"/>
              <a:buNone/>
            </a:pPr>
            <a:r>
              <a:rPr lang="en" sz="1050">
                <a:solidFill>
                  <a:srgbClr val="0E0E0E"/>
                </a:solidFill>
              </a:rPr>
              <a:t>	•	“Mentor” and “Client” roles created and implemented.</a:t>
            </a:r>
            <a:endParaRPr sz="1050">
              <a:solidFill>
                <a:srgbClr val="0E0E0E"/>
              </a:solidFill>
            </a:endParaRPr>
          </a:p>
          <a:p>
            <a:pPr indent="-317500" lvl="0" marL="635000" rtl="0" algn="just">
              <a:lnSpc>
                <a:spcPct val="115000"/>
              </a:lnSpc>
              <a:spcBef>
                <a:spcPts val="0"/>
              </a:spcBef>
              <a:spcAft>
                <a:spcPts val="0"/>
              </a:spcAft>
              <a:buClr>
                <a:schemeClr val="dk1"/>
              </a:buClr>
              <a:buSzPts val="1100"/>
              <a:buFont typeface="Arial"/>
              <a:buNone/>
            </a:pPr>
            <a:r>
              <a:rPr lang="en" sz="1050">
                <a:solidFill>
                  <a:srgbClr val="0E0E0E"/>
                </a:solidFill>
              </a:rPr>
              <a:t>	•	Multiple expert users allowed in a team.</a:t>
            </a:r>
            <a:endParaRPr sz="1050">
              <a:solidFill>
                <a:srgbClr val="0E0E0E"/>
              </a:solidFill>
            </a:endParaRPr>
          </a:p>
          <a:p>
            <a:pPr indent="-317500" lvl="0" marL="635000" rtl="0" algn="just">
              <a:lnSpc>
                <a:spcPct val="115000"/>
              </a:lnSpc>
              <a:spcBef>
                <a:spcPts val="0"/>
              </a:spcBef>
              <a:spcAft>
                <a:spcPts val="0"/>
              </a:spcAft>
              <a:buClr>
                <a:schemeClr val="dk1"/>
              </a:buClr>
              <a:buSzPts val="1100"/>
              <a:buFont typeface="Arial"/>
              <a:buNone/>
            </a:pPr>
            <a:r>
              <a:rPr lang="en" sz="1050">
                <a:solidFill>
                  <a:srgbClr val="0E0E0E"/>
                </a:solidFill>
              </a:rPr>
              <a:t>	•	Smooth functionality of team chat with multiple experts.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2241d7f01aa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2241d7f01aa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2000"/>
              </a:spcBef>
              <a:spcAft>
                <a:spcPts val="0"/>
              </a:spcAft>
              <a:buClr>
                <a:schemeClr val="dk1"/>
              </a:buClr>
              <a:buSzPts val="1100"/>
              <a:buFont typeface="Arial"/>
              <a:buNone/>
            </a:pPr>
            <a:r>
              <a:rPr lang="en" sz="2000">
                <a:solidFill>
                  <a:schemeClr val="dk1"/>
                </a:solidFill>
              </a:rPr>
              <a:t>Epic 3: User Management and Engagement</a:t>
            </a:r>
            <a:endParaRPr sz="2000">
              <a:solidFill>
                <a:schemeClr val="dk1"/>
              </a:solidFill>
            </a:endParaRPr>
          </a:p>
          <a:p>
            <a:pPr indent="0" lvl="0" marL="0" rtl="0" algn="just">
              <a:lnSpc>
                <a:spcPct val="115000"/>
              </a:lnSpc>
              <a:spcBef>
                <a:spcPts val="1800"/>
              </a:spcBef>
              <a:spcAft>
                <a:spcPts val="0"/>
              </a:spcAft>
              <a:buClr>
                <a:schemeClr val="dk1"/>
              </a:buClr>
              <a:buSzPts val="1100"/>
              <a:buFont typeface="Arial"/>
              <a:buNone/>
            </a:pPr>
            <a:r>
              <a:rPr lang="en" sz="1600">
                <a:solidFill>
                  <a:schemeClr val="dk1"/>
                </a:solidFill>
              </a:rPr>
              <a:t>Story 1: Enhance Dropped User Functionality</a:t>
            </a:r>
            <a:endParaRPr sz="1600">
              <a:solidFill>
                <a:schemeClr val="dk1"/>
              </a:solidFill>
            </a:endParaRPr>
          </a:p>
          <a:p>
            <a:pPr indent="-127000" lvl="0" marL="254000" rtl="0" algn="just">
              <a:lnSpc>
                <a:spcPct val="115000"/>
              </a:lnSpc>
              <a:spcBef>
                <a:spcPts val="600"/>
              </a:spcBef>
              <a:spcAft>
                <a:spcPts val="0"/>
              </a:spcAft>
              <a:buClr>
                <a:schemeClr val="dk1"/>
              </a:buClr>
              <a:buSzPts val="1100"/>
              <a:buFont typeface="Arial"/>
              <a:buNone/>
            </a:pPr>
            <a:r>
              <a:rPr lang="en" sz="1050">
                <a:solidFill>
                  <a:srgbClr val="0E0E0E"/>
                </a:solidFill>
              </a:rPr>
              <a:t>	•	</a:t>
            </a:r>
            <a:r>
              <a:rPr b="1" lang="en" sz="1050">
                <a:solidFill>
                  <a:srgbClr val="0E0E0E"/>
                </a:solidFill>
              </a:rPr>
              <a:t>Description</a:t>
            </a:r>
            <a:r>
              <a:rPr lang="en" sz="1050">
                <a:solidFill>
                  <a:srgbClr val="0E0E0E"/>
                </a:solidFill>
              </a:rPr>
              <a:t>: Improve the handling of “dropped” users to more accurately reflect their status, impact on metrics, and ensure they do not disrupt ongoing activities.</a:t>
            </a:r>
            <a:endParaRPr sz="1050">
              <a:solidFill>
                <a:srgbClr val="0E0E0E"/>
              </a:solidFill>
            </a:endParaRPr>
          </a:p>
          <a:p>
            <a:pPr indent="-127000" lvl="0" marL="254000" rtl="0" algn="just">
              <a:lnSpc>
                <a:spcPct val="115000"/>
              </a:lnSpc>
              <a:spcBef>
                <a:spcPts val="0"/>
              </a:spcBef>
              <a:spcAft>
                <a:spcPts val="0"/>
              </a:spcAft>
              <a:buClr>
                <a:schemeClr val="dk1"/>
              </a:buClr>
              <a:buSzPts val="1100"/>
              <a:buFont typeface="Arial"/>
              <a:buNone/>
            </a:pPr>
            <a:r>
              <a:rPr lang="en" sz="1050">
                <a:solidFill>
                  <a:srgbClr val="0E0E0E"/>
                </a:solidFill>
              </a:rPr>
              <a:t>	•	</a:t>
            </a:r>
            <a:r>
              <a:rPr b="1" lang="en" sz="1050">
                <a:solidFill>
                  <a:srgbClr val="0E0E0E"/>
                </a:solidFill>
              </a:rPr>
              <a:t>Acceptance Criteria</a:t>
            </a:r>
            <a:r>
              <a:rPr lang="en" sz="1050">
                <a:solidFill>
                  <a:srgbClr val="0E0E0E"/>
                </a:solidFill>
              </a:rPr>
              <a:t>:</a:t>
            </a:r>
            <a:endParaRPr sz="1050">
              <a:solidFill>
                <a:srgbClr val="0E0E0E"/>
              </a:solidFill>
            </a:endParaRPr>
          </a:p>
          <a:p>
            <a:pPr indent="-317500" lvl="0" marL="635000" rtl="0" algn="just">
              <a:lnSpc>
                <a:spcPct val="115000"/>
              </a:lnSpc>
              <a:spcBef>
                <a:spcPts val="0"/>
              </a:spcBef>
              <a:spcAft>
                <a:spcPts val="0"/>
              </a:spcAft>
              <a:buClr>
                <a:schemeClr val="dk1"/>
              </a:buClr>
              <a:buSzPts val="1100"/>
              <a:buFont typeface="Arial"/>
              <a:buNone/>
            </a:pPr>
            <a:r>
              <a:rPr lang="en" sz="1050">
                <a:solidFill>
                  <a:srgbClr val="0E0E0E"/>
                </a:solidFill>
              </a:rPr>
              <a:t>	•	“Dropped” users are accurately excluded from reports and metrics.</a:t>
            </a:r>
            <a:endParaRPr sz="1050">
              <a:solidFill>
                <a:srgbClr val="0E0E0E"/>
              </a:solidFill>
            </a:endParaRPr>
          </a:p>
          <a:p>
            <a:pPr indent="-317500" lvl="0" marL="635000" rtl="0" algn="just">
              <a:lnSpc>
                <a:spcPct val="115000"/>
              </a:lnSpc>
              <a:spcBef>
                <a:spcPts val="0"/>
              </a:spcBef>
              <a:spcAft>
                <a:spcPts val="0"/>
              </a:spcAft>
              <a:buClr>
                <a:schemeClr val="dk1"/>
              </a:buClr>
              <a:buSzPts val="1100"/>
              <a:buFont typeface="Arial"/>
              <a:buNone/>
            </a:pPr>
            <a:r>
              <a:rPr lang="en" sz="1050">
                <a:solidFill>
                  <a:srgbClr val="0E0E0E"/>
                </a:solidFill>
              </a:rPr>
              <a:t>	•	Introduce a “did not commence” status for tracking purposes.</a:t>
            </a:r>
            <a:endParaRPr sz="1050">
              <a:solidFill>
                <a:srgbClr val="0E0E0E"/>
              </a:solidFill>
            </a:endParaRPr>
          </a:p>
          <a:p>
            <a:pPr indent="-317500" lvl="0" marL="635000" rtl="0" algn="just">
              <a:lnSpc>
                <a:spcPct val="115000"/>
              </a:lnSpc>
              <a:spcBef>
                <a:spcPts val="0"/>
              </a:spcBef>
              <a:spcAft>
                <a:spcPts val="0"/>
              </a:spcAft>
              <a:buClr>
                <a:schemeClr val="dk1"/>
              </a:buClr>
              <a:buSzPts val="1100"/>
              <a:buFont typeface="Arial"/>
              <a:buNone/>
            </a:pPr>
            <a:r>
              <a:rPr lang="en" sz="1050">
                <a:solidFill>
                  <a:srgbClr val="0E0E0E"/>
                </a:solidFill>
              </a:rPr>
              <a:t>	•	Dropped users do not appear in team reports, surveys, or have access to ongoing assessments.</a:t>
            </a:r>
            <a:endParaRPr sz="1050">
              <a:solidFill>
                <a:srgbClr val="0E0E0E"/>
              </a:solidFill>
            </a:endParaRPr>
          </a:p>
          <a:p>
            <a:pPr indent="0" lvl="0" marL="0" rtl="0" algn="just">
              <a:lnSpc>
                <a:spcPct val="115000"/>
              </a:lnSpc>
              <a:spcBef>
                <a:spcPts val="1800"/>
              </a:spcBef>
              <a:spcAft>
                <a:spcPts val="0"/>
              </a:spcAft>
              <a:buClr>
                <a:schemeClr val="dk1"/>
              </a:buClr>
              <a:buSzPts val="1100"/>
              <a:buFont typeface="Arial"/>
              <a:buNone/>
            </a:pPr>
            <a:r>
              <a:rPr lang="en" sz="1600">
                <a:solidFill>
                  <a:schemeClr val="dk1"/>
                </a:solidFill>
              </a:rPr>
              <a:t>Story 2: Bulk Management of Users and Triggers</a:t>
            </a:r>
            <a:endParaRPr sz="1600">
              <a:solidFill>
                <a:schemeClr val="dk1"/>
              </a:solidFill>
            </a:endParaRPr>
          </a:p>
          <a:p>
            <a:pPr indent="-127000" lvl="0" marL="254000" rtl="0" algn="just">
              <a:lnSpc>
                <a:spcPct val="115000"/>
              </a:lnSpc>
              <a:spcBef>
                <a:spcPts val="600"/>
              </a:spcBef>
              <a:spcAft>
                <a:spcPts val="0"/>
              </a:spcAft>
              <a:buClr>
                <a:schemeClr val="dk1"/>
              </a:buClr>
              <a:buSzPts val="1100"/>
              <a:buFont typeface="Arial"/>
              <a:buNone/>
            </a:pPr>
            <a:r>
              <a:rPr lang="en" sz="1050">
                <a:solidFill>
                  <a:srgbClr val="0E0E0E"/>
                </a:solidFill>
              </a:rPr>
              <a:t>	•	</a:t>
            </a:r>
            <a:r>
              <a:rPr b="1" lang="en" sz="1050">
                <a:solidFill>
                  <a:srgbClr val="0E0E0E"/>
                </a:solidFill>
              </a:rPr>
              <a:t>Description</a:t>
            </a:r>
            <a:r>
              <a:rPr lang="en" sz="1050">
                <a:solidFill>
                  <a:srgbClr val="0E0E0E"/>
                </a:solidFill>
              </a:rPr>
              <a:t>: Allow bulk operations for user management, including bulk deletion of broken triggers, bulk awarding of badges, and bulk removal of non-engaged users.</a:t>
            </a:r>
            <a:endParaRPr sz="1050">
              <a:solidFill>
                <a:srgbClr val="0E0E0E"/>
              </a:solidFill>
            </a:endParaRPr>
          </a:p>
          <a:p>
            <a:pPr indent="-127000" lvl="0" marL="254000" rtl="0" algn="just">
              <a:lnSpc>
                <a:spcPct val="115000"/>
              </a:lnSpc>
              <a:spcBef>
                <a:spcPts val="0"/>
              </a:spcBef>
              <a:spcAft>
                <a:spcPts val="0"/>
              </a:spcAft>
              <a:buClr>
                <a:schemeClr val="dk1"/>
              </a:buClr>
              <a:buSzPts val="1100"/>
              <a:buFont typeface="Arial"/>
              <a:buNone/>
            </a:pPr>
            <a:r>
              <a:rPr lang="en" sz="1050">
                <a:solidFill>
                  <a:srgbClr val="0E0E0E"/>
                </a:solidFill>
              </a:rPr>
              <a:t>	•	</a:t>
            </a:r>
            <a:r>
              <a:rPr b="1" lang="en" sz="1050">
                <a:solidFill>
                  <a:srgbClr val="0E0E0E"/>
                </a:solidFill>
              </a:rPr>
              <a:t>Acceptance Criteria</a:t>
            </a:r>
            <a:r>
              <a:rPr lang="en" sz="1050">
                <a:solidFill>
                  <a:srgbClr val="0E0E0E"/>
                </a:solidFill>
              </a:rPr>
              <a:t>:</a:t>
            </a:r>
            <a:endParaRPr sz="1050">
              <a:solidFill>
                <a:srgbClr val="0E0E0E"/>
              </a:solidFill>
            </a:endParaRPr>
          </a:p>
          <a:p>
            <a:pPr indent="-317500" lvl="0" marL="635000" rtl="0" algn="just">
              <a:lnSpc>
                <a:spcPct val="115000"/>
              </a:lnSpc>
              <a:spcBef>
                <a:spcPts val="0"/>
              </a:spcBef>
              <a:spcAft>
                <a:spcPts val="0"/>
              </a:spcAft>
              <a:buClr>
                <a:schemeClr val="dk1"/>
              </a:buClr>
              <a:buSzPts val="1100"/>
              <a:buFont typeface="Arial"/>
              <a:buNone/>
            </a:pPr>
            <a:r>
              <a:rPr lang="en" sz="1050">
                <a:solidFill>
                  <a:srgbClr val="0E0E0E"/>
                </a:solidFill>
              </a:rPr>
              <a:t>	•	Bulk award badges via CSV upload - med priority, simple</a:t>
            </a:r>
            <a:endParaRPr sz="1050">
              <a:solidFill>
                <a:srgbClr val="0E0E0E"/>
              </a:solidFill>
            </a:endParaRPr>
          </a:p>
          <a:p>
            <a:pPr indent="-317500" lvl="0" marL="635000" rtl="0" algn="just">
              <a:lnSpc>
                <a:spcPct val="115000"/>
              </a:lnSpc>
              <a:spcBef>
                <a:spcPts val="0"/>
              </a:spcBef>
              <a:spcAft>
                <a:spcPts val="0"/>
              </a:spcAft>
              <a:buClr>
                <a:schemeClr val="dk1"/>
              </a:buClr>
              <a:buSzPts val="1100"/>
              <a:buFont typeface="Arial"/>
              <a:buNone/>
            </a:pPr>
            <a:r>
              <a:rPr lang="en" sz="1050">
                <a:solidFill>
                  <a:srgbClr val="0E0E0E"/>
                </a:solidFill>
              </a:rPr>
              <a:t>	•	Functionality to bulk delete broken triggers - med priority, simple</a:t>
            </a:r>
            <a:endParaRPr sz="1050">
              <a:solidFill>
                <a:srgbClr val="0E0E0E"/>
              </a:solidFill>
            </a:endParaRPr>
          </a:p>
          <a:p>
            <a:pPr indent="-317500" lvl="0" marL="635000" rtl="0" algn="just">
              <a:lnSpc>
                <a:spcPct val="115000"/>
              </a:lnSpc>
              <a:spcBef>
                <a:spcPts val="0"/>
              </a:spcBef>
              <a:spcAft>
                <a:spcPts val="0"/>
              </a:spcAft>
              <a:buClr>
                <a:schemeClr val="dk1"/>
              </a:buClr>
              <a:buSzPts val="1100"/>
              <a:buFont typeface="Arial"/>
              <a:buNone/>
            </a:pPr>
            <a:r>
              <a:rPr lang="en" sz="1050">
                <a:solidFill>
                  <a:srgbClr val="0E0E0E"/>
                </a:solidFill>
              </a:rPr>
              <a:t>	•	Ability to bulk “drop” non-engaged users from programs - low priority</a:t>
            </a:r>
            <a:endParaRPr sz="1050">
              <a:solidFill>
                <a:srgbClr val="0E0E0E"/>
              </a:solidFill>
            </a:endParaRPr>
          </a:p>
          <a:p>
            <a:pPr indent="0" lvl="0" marL="0" rtl="0" algn="just">
              <a:lnSpc>
                <a:spcPct val="115000"/>
              </a:lnSpc>
              <a:spcBef>
                <a:spcPts val="1800"/>
              </a:spcBef>
              <a:spcAft>
                <a:spcPts val="0"/>
              </a:spcAft>
              <a:buClr>
                <a:schemeClr val="dk1"/>
              </a:buClr>
              <a:buSzPts val="1100"/>
              <a:buFont typeface="Arial"/>
              <a:buNone/>
            </a:pPr>
            <a:r>
              <a:rPr lang="en" sz="1600">
                <a:solidFill>
                  <a:schemeClr val="dk1"/>
                </a:solidFill>
              </a:rPr>
              <a:t>Story 3: Refine User Roles and Access</a:t>
            </a:r>
            <a:endParaRPr sz="1600">
              <a:solidFill>
                <a:schemeClr val="dk1"/>
              </a:solidFill>
            </a:endParaRPr>
          </a:p>
          <a:p>
            <a:pPr indent="-127000" lvl="0" marL="254000" rtl="0" algn="just">
              <a:lnSpc>
                <a:spcPct val="115000"/>
              </a:lnSpc>
              <a:spcBef>
                <a:spcPts val="600"/>
              </a:spcBef>
              <a:spcAft>
                <a:spcPts val="0"/>
              </a:spcAft>
              <a:buClr>
                <a:schemeClr val="dk1"/>
              </a:buClr>
              <a:buSzPts val="1100"/>
              <a:buFont typeface="Arial"/>
              <a:buNone/>
            </a:pPr>
            <a:r>
              <a:rPr lang="en" sz="1050">
                <a:solidFill>
                  <a:srgbClr val="0E0E0E"/>
                </a:solidFill>
              </a:rPr>
              <a:t>	•	</a:t>
            </a:r>
            <a:r>
              <a:rPr b="1" lang="en" sz="1050">
                <a:solidFill>
                  <a:srgbClr val="0E0E0E"/>
                </a:solidFill>
              </a:rPr>
              <a:t>Description</a:t>
            </a:r>
            <a:r>
              <a:rPr lang="en" sz="1050">
                <a:solidFill>
                  <a:srgbClr val="0E0E0E"/>
                </a:solidFill>
              </a:rPr>
              <a:t>: Create distinct user roles such as “mentor” and “client,” replacing the “expert” label to reduce confusion. Allow multiple experts in a team and ensure seamless integration with team chat functionality.</a:t>
            </a:r>
            <a:endParaRPr sz="1050">
              <a:solidFill>
                <a:srgbClr val="0E0E0E"/>
              </a:solidFill>
            </a:endParaRPr>
          </a:p>
          <a:p>
            <a:pPr indent="-127000" lvl="0" marL="254000" rtl="0" algn="just">
              <a:lnSpc>
                <a:spcPct val="115000"/>
              </a:lnSpc>
              <a:spcBef>
                <a:spcPts val="0"/>
              </a:spcBef>
              <a:spcAft>
                <a:spcPts val="0"/>
              </a:spcAft>
              <a:buClr>
                <a:schemeClr val="dk1"/>
              </a:buClr>
              <a:buSzPts val="1100"/>
              <a:buFont typeface="Arial"/>
              <a:buNone/>
            </a:pPr>
            <a:r>
              <a:rPr lang="en" sz="1050">
                <a:solidFill>
                  <a:srgbClr val="0E0E0E"/>
                </a:solidFill>
              </a:rPr>
              <a:t>	•	</a:t>
            </a:r>
            <a:r>
              <a:rPr b="1" lang="en" sz="1050">
                <a:solidFill>
                  <a:srgbClr val="0E0E0E"/>
                </a:solidFill>
              </a:rPr>
              <a:t>Acceptance Criteria</a:t>
            </a:r>
            <a:r>
              <a:rPr lang="en" sz="1050">
                <a:solidFill>
                  <a:srgbClr val="0E0E0E"/>
                </a:solidFill>
              </a:rPr>
              <a:t>:</a:t>
            </a:r>
            <a:endParaRPr sz="1050">
              <a:solidFill>
                <a:srgbClr val="0E0E0E"/>
              </a:solidFill>
            </a:endParaRPr>
          </a:p>
          <a:p>
            <a:pPr indent="-317500" lvl="0" marL="635000" rtl="0" algn="just">
              <a:lnSpc>
                <a:spcPct val="115000"/>
              </a:lnSpc>
              <a:spcBef>
                <a:spcPts val="0"/>
              </a:spcBef>
              <a:spcAft>
                <a:spcPts val="0"/>
              </a:spcAft>
              <a:buClr>
                <a:schemeClr val="dk1"/>
              </a:buClr>
              <a:buSzPts val="1100"/>
              <a:buFont typeface="Arial"/>
              <a:buNone/>
            </a:pPr>
            <a:r>
              <a:rPr lang="en" sz="1050">
                <a:solidFill>
                  <a:srgbClr val="0E0E0E"/>
                </a:solidFill>
              </a:rPr>
              <a:t>	•	“Mentor” and “Client” roles created and implemented.</a:t>
            </a:r>
            <a:endParaRPr sz="1050">
              <a:solidFill>
                <a:srgbClr val="0E0E0E"/>
              </a:solidFill>
            </a:endParaRPr>
          </a:p>
          <a:p>
            <a:pPr indent="-317500" lvl="0" marL="635000" rtl="0" algn="just">
              <a:lnSpc>
                <a:spcPct val="115000"/>
              </a:lnSpc>
              <a:spcBef>
                <a:spcPts val="0"/>
              </a:spcBef>
              <a:spcAft>
                <a:spcPts val="0"/>
              </a:spcAft>
              <a:buClr>
                <a:schemeClr val="dk1"/>
              </a:buClr>
              <a:buSzPts val="1100"/>
              <a:buFont typeface="Arial"/>
              <a:buNone/>
            </a:pPr>
            <a:r>
              <a:rPr lang="en" sz="1050">
                <a:solidFill>
                  <a:srgbClr val="0E0E0E"/>
                </a:solidFill>
              </a:rPr>
              <a:t>	•	Multiple expert users allowed in a team.</a:t>
            </a:r>
            <a:endParaRPr sz="1050">
              <a:solidFill>
                <a:srgbClr val="0E0E0E"/>
              </a:solidFill>
            </a:endParaRPr>
          </a:p>
          <a:p>
            <a:pPr indent="-317500" lvl="0" marL="635000" rtl="0" algn="just">
              <a:lnSpc>
                <a:spcPct val="115000"/>
              </a:lnSpc>
              <a:spcBef>
                <a:spcPts val="0"/>
              </a:spcBef>
              <a:spcAft>
                <a:spcPts val="0"/>
              </a:spcAft>
              <a:buClr>
                <a:schemeClr val="dk1"/>
              </a:buClr>
              <a:buSzPts val="1100"/>
              <a:buFont typeface="Arial"/>
              <a:buNone/>
            </a:pPr>
            <a:r>
              <a:rPr lang="en" sz="1050">
                <a:solidFill>
                  <a:srgbClr val="0E0E0E"/>
                </a:solidFill>
              </a:rPr>
              <a:t>	•	Smooth functionality of team chat with multiple experts.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2241d7f01aa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2241d7f01aa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241d7f01aa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2241d7f01aa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2241d7f01aa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2241d7f01aa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1800"/>
              </a:spcBef>
              <a:spcAft>
                <a:spcPts val="0"/>
              </a:spcAft>
              <a:buClr>
                <a:schemeClr val="dk1"/>
              </a:buClr>
              <a:buSzPts val="1100"/>
              <a:buFont typeface="Arial"/>
              <a:buNone/>
            </a:pPr>
            <a:r>
              <a:rPr lang="en" sz="1600">
                <a:solidFill>
                  <a:schemeClr val="dk1"/>
                </a:solidFill>
              </a:rPr>
              <a:t>Story 1: Improved ELSA Functionality</a:t>
            </a:r>
            <a:endParaRPr sz="1600">
              <a:solidFill>
                <a:schemeClr val="dk1"/>
              </a:solidFill>
            </a:endParaRPr>
          </a:p>
          <a:p>
            <a:pPr indent="-127000" lvl="0" marL="254000" rtl="0" algn="just">
              <a:lnSpc>
                <a:spcPct val="115000"/>
              </a:lnSpc>
              <a:spcBef>
                <a:spcPts val="600"/>
              </a:spcBef>
              <a:spcAft>
                <a:spcPts val="0"/>
              </a:spcAft>
              <a:buClr>
                <a:schemeClr val="dk1"/>
              </a:buClr>
              <a:buSzPts val="1100"/>
              <a:buFont typeface="Arial"/>
              <a:buNone/>
            </a:pPr>
            <a:r>
              <a:rPr lang="en" sz="1050">
                <a:solidFill>
                  <a:srgbClr val="0E0E0E"/>
                </a:solidFill>
              </a:rPr>
              <a:t>	•	</a:t>
            </a:r>
            <a:r>
              <a:rPr b="1" lang="en" sz="1050">
                <a:solidFill>
                  <a:srgbClr val="0E0E0E"/>
                </a:solidFill>
              </a:rPr>
              <a:t>Description</a:t>
            </a:r>
            <a:r>
              <a:rPr lang="en" sz="1050">
                <a:solidFill>
                  <a:srgbClr val="0E0E0E"/>
                </a:solidFill>
              </a:rPr>
              <a:t>: Enhance ELSA’s data reliability, recommendation tracking, and messaging capabilities.</a:t>
            </a:r>
            <a:endParaRPr sz="1050">
              <a:solidFill>
                <a:srgbClr val="0E0E0E"/>
              </a:solidFill>
            </a:endParaRPr>
          </a:p>
          <a:p>
            <a:pPr indent="-127000" lvl="0" marL="254000" rtl="0" algn="just">
              <a:lnSpc>
                <a:spcPct val="115000"/>
              </a:lnSpc>
              <a:spcBef>
                <a:spcPts val="0"/>
              </a:spcBef>
              <a:spcAft>
                <a:spcPts val="0"/>
              </a:spcAft>
              <a:buClr>
                <a:schemeClr val="dk1"/>
              </a:buClr>
              <a:buSzPts val="1100"/>
              <a:buFont typeface="Arial"/>
              <a:buNone/>
            </a:pPr>
            <a:r>
              <a:rPr lang="en" sz="1050">
                <a:solidFill>
                  <a:srgbClr val="0E0E0E"/>
                </a:solidFill>
              </a:rPr>
              <a:t>	•	</a:t>
            </a:r>
            <a:r>
              <a:rPr b="1" lang="en" sz="1050">
                <a:solidFill>
                  <a:srgbClr val="0E0E0E"/>
                </a:solidFill>
              </a:rPr>
              <a:t>Acceptance Criteria</a:t>
            </a:r>
            <a:r>
              <a:rPr lang="en" sz="1050">
                <a:solidFill>
                  <a:srgbClr val="0E0E0E"/>
                </a:solidFill>
              </a:rPr>
              <a:t>:</a:t>
            </a:r>
            <a:endParaRPr sz="1050">
              <a:solidFill>
                <a:srgbClr val="0E0E0E"/>
              </a:solidFill>
            </a:endParaRPr>
          </a:p>
          <a:p>
            <a:pPr indent="-317500" lvl="0" marL="635000" rtl="0" algn="just">
              <a:lnSpc>
                <a:spcPct val="115000"/>
              </a:lnSpc>
              <a:spcBef>
                <a:spcPts val="0"/>
              </a:spcBef>
              <a:spcAft>
                <a:spcPts val="0"/>
              </a:spcAft>
              <a:buClr>
                <a:schemeClr val="dk1"/>
              </a:buClr>
              <a:buSzPts val="1100"/>
              <a:buFont typeface="Arial"/>
              <a:buNone/>
            </a:pPr>
            <a:r>
              <a:rPr lang="en" sz="1050">
                <a:solidFill>
                  <a:srgbClr val="0E0E0E"/>
                </a:solidFill>
              </a:rPr>
              <a:t>	•	Recommendations are time-stamped and accurate.</a:t>
            </a:r>
            <a:endParaRPr sz="1050">
              <a:solidFill>
                <a:srgbClr val="0E0E0E"/>
              </a:solidFill>
            </a:endParaRPr>
          </a:p>
          <a:p>
            <a:pPr indent="-317500" lvl="0" marL="635000" rtl="0" algn="just">
              <a:lnSpc>
                <a:spcPct val="115000"/>
              </a:lnSpc>
              <a:spcBef>
                <a:spcPts val="0"/>
              </a:spcBef>
              <a:spcAft>
                <a:spcPts val="0"/>
              </a:spcAft>
              <a:buClr>
                <a:schemeClr val="dk1"/>
              </a:buClr>
              <a:buSzPts val="1100"/>
              <a:buFont typeface="Arial"/>
              <a:buNone/>
            </a:pPr>
            <a:r>
              <a:rPr lang="en" sz="1050">
                <a:solidFill>
                  <a:srgbClr val="0E0E0E"/>
                </a:solidFill>
              </a:rPr>
              <a:t>	•	Ability to track messages sent via ELSA.</a:t>
            </a:r>
            <a:endParaRPr sz="1050">
              <a:solidFill>
                <a:srgbClr val="0E0E0E"/>
              </a:solidFill>
            </a:endParaRPr>
          </a:p>
          <a:p>
            <a:pPr indent="-317500" lvl="0" marL="635000" rtl="0" algn="just">
              <a:lnSpc>
                <a:spcPct val="115000"/>
              </a:lnSpc>
              <a:spcBef>
                <a:spcPts val="0"/>
              </a:spcBef>
              <a:spcAft>
                <a:spcPts val="0"/>
              </a:spcAft>
              <a:buClr>
                <a:schemeClr val="dk1"/>
              </a:buClr>
              <a:buSzPts val="1100"/>
              <a:buFont typeface="Arial"/>
              <a:buNone/>
            </a:pPr>
            <a:r>
              <a:rPr lang="en" sz="1050">
                <a:solidFill>
                  <a:srgbClr val="0E0E0E"/>
                </a:solidFill>
              </a:rPr>
              <a:t>	•	More reliable intervention suggestions based on data.</a:t>
            </a:r>
            <a:endParaRPr sz="1050">
              <a:solidFill>
                <a:srgbClr val="0E0E0E"/>
              </a:solidFill>
            </a:endParaRPr>
          </a:p>
          <a:p>
            <a:pPr indent="0" lvl="0" marL="0" rtl="0" algn="just">
              <a:lnSpc>
                <a:spcPct val="115000"/>
              </a:lnSpc>
              <a:spcBef>
                <a:spcPts val="1800"/>
              </a:spcBef>
              <a:spcAft>
                <a:spcPts val="0"/>
              </a:spcAft>
              <a:buClr>
                <a:schemeClr val="dk1"/>
              </a:buClr>
              <a:buSzPts val="1100"/>
              <a:buFont typeface="Arial"/>
              <a:buNone/>
            </a:pPr>
            <a:r>
              <a:rPr lang="en" sz="1600">
                <a:solidFill>
                  <a:schemeClr val="dk1"/>
                </a:solidFill>
              </a:rPr>
              <a:t>Story 2: Enhanced Reporting and Dashboard Features</a:t>
            </a:r>
            <a:endParaRPr sz="1600">
              <a:solidFill>
                <a:schemeClr val="dk1"/>
              </a:solidFill>
            </a:endParaRPr>
          </a:p>
          <a:p>
            <a:pPr indent="-127000" lvl="0" marL="254000" rtl="0" algn="just">
              <a:lnSpc>
                <a:spcPct val="115000"/>
              </a:lnSpc>
              <a:spcBef>
                <a:spcPts val="600"/>
              </a:spcBef>
              <a:spcAft>
                <a:spcPts val="0"/>
              </a:spcAft>
              <a:buClr>
                <a:schemeClr val="dk1"/>
              </a:buClr>
              <a:buSzPts val="1100"/>
              <a:buFont typeface="Arial"/>
              <a:buNone/>
            </a:pPr>
            <a:r>
              <a:rPr lang="en" sz="1050">
                <a:solidFill>
                  <a:srgbClr val="0E0E0E"/>
                </a:solidFill>
              </a:rPr>
              <a:t>	•	</a:t>
            </a:r>
            <a:r>
              <a:rPr b="1" lang="en" sz="1050">
                <a:solidFill>
                  <a:srgbClr val="0E0E0E"/>
                </a:solidFill>
              </a:rPr>
              <a:t>Description</a:t>
            </a:r>
            <a:r>
              <a:rPr lang="en" sz="1050">
                <a:solidFill>
                  <a:srgbClr val="0E0E0E"/>
                </a:solidFill>
              </a:rPr>
              <a:t>: Improve the accuracy and usability of admin home dashboards and reporting features.</a:t>
            </a:r>
            <a:endParaRPr sz="1050">
              <a:solidFill>
                <a:srgbClr val="0E0E0E"/>
              </a:solidFill>
            </a:endParaRPr>
          </a:p>
          <a:p>
            <a:pPr indent="-127000" lvl="0" marL="254000" rtl="0" algn="just">
              <a:lnSpc>
                <a:spcPct val="115000"/>
              </a:lnSpc>
              <a:spcBef>
                <a:spcPts val="0"/>
              </a:spcBef>
              <a:spcAft>
                <a:spcPts val="0"/>
              </a:spcAft>
              <a:buClr>
                <a:schemeClr val="dk1"/>
              </a:buClr>
              <a:buSzPts val="1100"/>
              <a:buFont typeface="Arial"/>
              <a:buNone/>
            </a:pPr>
            <a:r>
              <a:rPr lang="en" sz="1050">
                <a:solidFill>
                  <a:srgbClr val="0E0E0E"/>
                </a:solidFill>
              </a:rPr>
              <a:t>	•	</a:t>
            </a:r>
            <a:r>
              <a:rPr b="1" lang="en" sz="1050">
                <a:solidFill>
                  <a:srgbClr val="0E0E0E"/>
                </a:solidFill>
              </a:rPr>
              <a:t>Acceptance Criteria</a:t>
            </a:r>
            <a:r>
              <a:rPr lang="en" sz="1050">
                <a:solidFill>
                  <a:srgbClr val="0E0E0E"/>
                </a:solidFill>
              </a:rPr>
              <a:t>:</a:t>
            </a:r>
            <a:endParaRPr sz="1050">
              <a:solidFill>
                <a:srgbClr val="0E0E0E"/>
              </a:solidFill>
            </a:endParaRPr>
          </a:p>
          <a:p>
            <a:pPr indent="-317500" lvl="0" marL="635000" rtl="0" algn="just">
              <a:lnSpc>
                <a:spcPct val="115000"/>
              </a:lnSpc>
              <a:spcBef>
                <a:spcPts val="0"/>
              </a:spcBef>
              <a:spcAft>
                <a:spcPts val="0"/>
              </a:spcAft>
              <a:buClr>
                <a:schemeClr val="dk1"/>
              </a:buClr>
              <a:buSzPts val="1100"/>
              <a:buFont typeface="Arial"/>
              <a:buNone/>
            </a:pPr>
            <a:r>
              <a:rPr lang="en" sz="1050">
                <a:solidFill>
                  <a:srgbClr val="0E0E0E"/>
                </a:solidFill>
              </a:rPr>
              <a:t>	•	Admin home dashboard reflects accurate engagement and completion rates.</a:t>
            </a:r>
            <a:endParaRPr sz="1050">
              <a:solidFill>
                <a:srgbClr val="0E0E0E"/>
              </a:solidFill>
            </a:endParaRPr>
          </a:p>
          <a:p>
            <a:pPr indent="-317500" lvl="0" marL="635000" rtl="0" algn="just">
              <a:lnSpc>
                <a:spcPct val="115000"/>
              </a:lnSpc>
              <a:spcBef>
                <a:spcPts val="0"/>
              </a:spcBef>
              <a:spcAft>
                <a:spcPts val="0"/>
              </a:spcAft>
              <a:buClr>
                <a:schemeClr val="dk1"/>
              </a:buClr>
              <a:buSzPts val="1100"/>
              <a:buFont typeface="Arial"/>
              <a:buNone/>
            </a:pPr>
            <a:r>
              <a:rPr lang="en" sz="1050">
                <a:solidFill>
                  <a:srgbClr val="0E0E0E"/>
                </a:solidFill>
              </a:rPr>
              <a:t>	•	Ability to track weekly progress and activity of learners.</a:t>
            </a:r>
            <a:endParaRPr sz="1050">
              <a:solidFill>
                <a:srgbClr val="0E0E0E"/>
              </a:solidFill>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2b992632fee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2b992632fee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2241d7f01aa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2241d7f01aa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1800"/>
              </a:spcBef>
              <a:spcAft>
                <a:spcPts val="0"/>
              </a:spcAft>
              <a:buClr>
                <a:schemeClr val="dk1"/>
              </a:buClr>
              <a:buSzPts val="1100"/>
              <a:buFont typeface="Arial"/>
              <a:buNone/>
            </a:pPr>
            <a:r>
              <a:rPr lang="en" sz="1600">
                <a:solidFill>
                  <a:schemeClr val="dk1"/>
                </a:solidFill>
              </a:rPr>
              <a:t>Story 2: SCORM and Progress Save Functionality</a:t>
            </a:r>
            <a:endParaRPr sz="1600">
              <a:solidFill>
                <a:schemeClr val="dk1"/>
              </a:solidFill>
            </a:endParaRPr>
          </a:p>
          <a:p>
            <a:pPr indent="-127000" lvl="0" marL="254000" rtl="0" algn="just">
              <a:lnSpc>
                <a:spcPct val="115000"/>
              </a:lnSpc>
              <a:spcBef>
                <a:spcPts val="600"/>
              </a:spcBef>
              <a:spcAft>
                <a:spcPts val="0"/>
              </a:spcAft>
              <a:buClr>
                <a:schemeClr val="dk1"/>
              </a:buClr>
              <a:buSzPts val="1100"/>
              <a:buFont typeface="Arial"/>
              <a:buNone/>
            </a:pPr>
            <a:r>
              <a:rPr lang="en" sz="1050">
                <a:solidFill>
                  <a:srgbClr val="0E0E0E"/>
                </a:solidFill>
              </a:rPr>
              <a:t>	•	</a:t>
            </a:r>
            <a:r>
              <a:rPr b="1" lang="en" sz="1050">
                <a:solidFill>
                  <a:srgbClr val="0E0E0E"/>
                </a:solidFill>
              </a:rPr>
              <a:t>Description</a:t>
            </a:r>
            <a:r>
              <a:rPr lang="en" sz="1050">
                <a:solidFill>
                  <a:srgbClr val="0E0E0E"/>
                </a:solidFill>
              </a:rPr>
              <a:t>: Implement SCORM capabilities and ensure the platform saves user progress without requiring manual completion actions.</a:t>
            </a:r>
            <a:endParaRPr sz="1050">
              <a:solidFill>
                <a:srgbClr val="0E0E0E"/>
              </a:solidFill>
            </a:endParaRPr>
          </a:p>
          <a:p>
            <a:pPr indent="-127000" lvl="0" marL="254000" rtl="0" algn="just">
              <a:lnSpc>
                <a:spcPct val="115000"/>
              </a:lnSpc>
              <a:spcBef>
                <a:spcPts val="0"/>
              </a:spcBef>
              <a:spcAft>
                <a:spcPts val="0"/>
              </a:spcAft>
              <a:buClr>
                <a:schemeClr val="dk1"/>
              </a:buClr>
              <a:buSzPts val="1100"/>
              <a:buFont typeface="Arial"/>
              <a:buNone/>
            </a:pPr>
            <a:r>
              <a:rPr lang="en" sz="1050">
                <a:solidFill>
                  <a:srgbClr val="0E0E0E"/>
                </a:solidFill>
              </a:rPr>
              <a:t>	•	</a:t>
            </a:r>
            <a:r>
              <a:rPr b="1" lang="en" sz="1050">
                <a:solidFill>
                  <a:srgbClr val="0E0E0E"/>
                </a:solidFill>
              </a:rPr>
              <a:t>Acceptance Criteria</a:t>
            </a:r>
            <a:r>
              <a:rPr lang="en" sz="1050">
                <a:solidFill>
                  <a:srgbClr val="0E0E0E"/>
                </a:solidFill>
              </a:rPr>
              <a:t>:</a:t>
            </a:r>
            <a:endParaRPr sz="1050">
              <a:solidFill>
                <a:srgbClr val="0E0E0E"/>
              </a:solidFill>
            </a:endParaRPr>
          </a:p>
          <a:p>
            <a:pPr indent="-317500" lvl="0" marL="635000" rtl="0" algn="just">
              <a:lnSpc>
                <a:spcPct val="115000"/>
              </a:lnSpc>
              <a:spcBef>
                <a:spcPts val="0"/>
              </a:spcBef>
              <a:spcAft>
                <a:spcPts val="0"/>
              </a:spcAft>
              <a:buClr>
                <a:schemeClr val="dk1"/>
              </a:buClr>
              <a:buSzPts val="1100"/>
              <a:buFont typeface="Arial"/>
              <a:buNone/>
            </a:pPr>
            <a:r>
              <a:rPr lang="en" sz="1050">
                <a:solidFill>
                  <a:srgbClr val="0E0E0E"/>
                </a:solidFill>
              </a:rPr>
              <a:t>	•	SCORM files are supported on the platform.</a:t>
            </a:r>
            <a:endParaRPr sz="1050">
              <a:solidFill>
                <a:srgbClr val="0E0E0E"/>
              </a:solidFill>
            </a:endParaRPr>
          </a:p>
          <a:p>
            <a:pPr indent="-317500" lvl="0" marL="635000" rtl="0" algn="just">
              <a:lnSpc>
                <a:spcPct val="115000"/>
              </a:lnSpc>
              <a:spcBef>
                <a:spcPts val="0"/>
              </a:spcBef>
              <a:spcAft>
                <a:spcPts val="0"/>
              </a:spcAft>
              <a:buNone/>
            </a:pPr>
            <a:r>
              <a:rPr lang="en" sz="1050">
                <a:solidFill>
                  <a:srgbClr val="0E0E0E"/>
                </a:solidFill>
              </a:rPr>
              <a:t>	•	User progress is automatically saved and remembered upon returning.</a:t>
            </a:r>
            <a:endParaRPr sz="1050">
              <a:solidFill>
                <a:srgbClr val="0E0E0E"/>
              </a:solidFill>
            </a:endParaRPr>
          </a:p>
          <a:p>
            <a:pPr indent="-317500" lvl="0" marL="635000" rtl="0" algn="just">
              <a:lnSpc>
                <a:spcPct val="115000"/>
              </a:lnSpc>
              <a:spcBef>
                <a:spcPts val="0"/>
              </a:spcBef>
              <a:spcAft>
                <a:spcPts val="0"/>
              </a:spcAft>
              <a:buNone/>
            </a:pPr>
            <a:r>
              <a:t/>
            </a:r>
            <a:endParaRPr sz="1050">
              <a:solidFill>
                <a:srgbClr val="0E0E0E"/>
              </a:solidFill>
            </a:endParaRPr>
          </a:p>
          <a:p>
            <a:pPr indent="-317500" lvl="0" marL="635000" rtl="0" algn="just">
              <a:lnSpc>
                <a:spcPct val="115000"/>
              </a:lnSpc>
              <a:spcBef>
                <a:spcPts val="0"/>
              </a:spcBef>
              <a:spcAft>
                <a:spcPts val="0"/>
              </a:spcAft>
              <a:buNone/>
            </a:pPr>
            <a:r>
              <a:t/>
            </a:r>
            <a:endParaRPr sz="1050">
              <a:solidFill>
                <a:srgbClr val="0E0E0E"/>
              </a:solidFill>
            </a:endParaRPr>
          </a:p>
          <a:p>
            <a:pPr indent="0" lvl="0" marL="0" rtl="0" algn="just">
              <a:lnSpc>
                <a:spcPct val="115000"/>
              </a:lnSpc>
              <a:spcBef>
                <a:spcPts val="1800"/>
              </a:spcBef>
              <a:spcAft>
                <a:spcPts val="0"/>
              </a:spcAft>
              <a:buNone/>
            </a:pPr>
            <a:r>
              <a:rPr lang="en" sz="1600">
                <a:solidFill>
                  <a:schemeClr val="dk1"/>
                </a:solidFill>
              </a:rPr>
              <a:t>Story 1: Improve Chat UI/UX</a:t>
            </a:r>
            <a:endParaRPr sz="1600">
              <a:solidFill>
                <a:schemeClr val="dk1"/>
              </a:solidFill>
            </a:endParaRPr>
          </a:p>
          <a:p>
            <a:pPr indent="-127000" lvl="0" marL="254000" rtl="0" algn="just">
              <a:lnSpc>
                <a:spcPct val="115000"/>
              </a:lnSpc>
              <a:spcBef>
                <a:spcPts val="600"/>
              </a:spcBef>
              <a:spcAft>
                <a:spcPts val="0"/>
              </a:spcAft>
              <a:buNone/>
            </a:pPr>
            <a:r>
              <a:rPr lang="en" sz="1050">
                <a:solidFill>
                  <a:srgbClr val="0E0E0E"/>
                </a:solidFill>
              </a:rPr>
              <a:t>	•	</a:t>
            </a:r>
            <a:r>
              <a:rPr b="1" lang="en" sz="1050">
                <a:solidFill>
                  <a:srgbClr val="0E0E0E"/>
                </a:solidFill>
              </a:rPr>
              <a:t>Description</a:t>
            </a:r>
            <a:r>
              <a:rPr lang="en" sz="1050">
                <a:solidFill>
                  <a:srgbClr val="0E0E0E"/>
                </a:solidFill>
              </a:rPr>
              <a:t>: Enhance chat functionality, including text scaling, message tagging, and visibility of long messages. </a:t>
            </a:r>
            <a:endParaRPr sz="1050">
              <a:solidFill>
                <a:srgbClr val="0E0E0E"/>
              </a:solidFill>
            </a:endParaRPr>
          </a:p>
          <a:p>
            <a:pPr indent="-127000" lvl="0" marL="254000" rtl="0" algn="just">
              <a:lnSpc>
                <a:spcPct val="115000"/>
              </a:lnSpc>
              <a:spcBef>
                <a:spcPts val="0"/>
              </a:spcBef>
              <a:spcAft>
                <a:spcPts val="0"/>
              </a:spcAft>
              <a:buNone/>
            </a:pPr>
            <a:r>
              <a:rPr lang="en" sz="1050">
                <a:solidFill>
                  <a:srgbClr val="0E0E0E"/>
                </a:solidFill>
              </a:rPr>
              <a:t>	•	</a:t>
            </a:r>
            <a:r>
              <a:rPr b="1" lang="en" sz="1050">
                <a:solidFill>
                  <a:srgbClr val="0E0E0E"/>
                </a:solidFill>
              </a:rPr>
              <a:t>Acceptance Criteria</a:t>
            </a:r>
            <a:r>
              <a:rPr lang="en" sz="1050">
                <a:solidFill>
                  <a:srgbClr val="0E0E0E"/>
                </a:solidFill>
              </a:rPr>
              <a:t>:</a:t>
            </a:r>
            <a:endParaRPr sz="1050">
              <a:solidFill>
                <a:srgbClr val="0E0E0E"/>
              </a:solidFill>
            </a:endParaRPr>
          </a:p>
          <a:p>
            <a:pPr indent="-317500" lvl="0" marL="635000" rtl="0" algn="just">
              <a:lnSpc>
                <a:spcPct val="115000"/>
              </a:lnSpc>
              <a:spcBef>
                <a:spcPts val="0"/>
              </a:spcBef>
              <a:spcAft>
                <a:spcPts val="0"/>
              </a:spcAft>
              <a:buNone/>
            </a:pPr>
            <a:r>
              <a:rPr lang="en" sz="1050">
                <a:solidFill>
                  <a:srgbClr val="0E0E0E"/>
                </a:solidFill>
              </a:rPr>
              <a:t>	•	Chat messages scale to the length of text.</a:t>
            </a:r>
            <a:endParaRPr sz="1050">
              <a:solidFill>
                <a:srgbClr val="0E0E0E"/>
              </a:solidFill>
            </a:endParaRPr>
          </a:p>
          <a:p>
            <a:pPr indent="-317500" lvl="0" marL="635000" rtl="0" algn="just">
              <a:lnSpc>
                <a:spcPct val="115000"/>
              </a:lnSpc>
              <a:spcBef>
                <a:spcPts val="0"/>
              </a:spcBef>
              <a:spcAft>
                <a:spcPts val="0"/>
              </a:spcAft>
              <a:buClr>
                <a:schemeClr val="dk1"/>
              </a:buClr>
              <a:buSzPts val="1100"/>
              <a:buFont typeface="Arial"/>
              <a:buNone/>
            </a:pPr>
            <a:r>
              <a:rPr lang="en" sz="1050">
                <a:solidFill>
                  <a:srgbClr val="0E0E0E"/>
                </a:solidFill>
              </a:rPr>
              <a:t>	•	Ability to tag users in chat.</a:t>
            </a:r>
            <a:endParaRPr sz="1050">
              <a:solidFill>
                <a:srgbClr val="0E0E0E"/>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241d7f01aa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2241d7f01aa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13640e05d7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13640e05d7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2b992632fe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2b992632fe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Big Features</a:t>
            </a:r>
            <a:endParaRPr b="1"/>
          </a:p>
          <a:p>
            <a:pPr indent="0" lvl="0" marL="0" rtl="0" algn="l">
              <a:spcBef>
                <a:spcPts val="0"/>
              </a:spcBef>
              <a:spcAft>
                <a:spcPts val="0"/>
              </a:spcAft>
              <a:buNone/>
            </a:pPr>
            <a:r>
              <a:rPr lang="en"/>
              <a:t>Automation</a:t>
            </a:r>
            <a:endParaRPr/>
          </a:p>
          <a:p>
            <a:pPr indent="0" lvl="0" marL="0" rtl="0" algn="l">
              <a:spcBef>
                <a:spcPts val="0"/>
              </a:spcBef>
              <a:spcAft>
                <a:spcPts val="0"/>
              </a:spcAft>
              <a:buNone/>
            </a:pPr>
            <a:r>
              <a:rPr lang="en"/>
              <a:t>Briefs</a:t>
            </a:r>
            <a:endParaRPr/>
          </a:p>
          <a:p>
            <a:pPr indent="0" lvl="0" marL="0" rtl="0" algn="l">
              <a:spcBef>
                <a:spcPts val="0"/>
              </a:spcBef>
              <a:spcAft>
                <a:spcPts val="0"/>
              </a:spcAft>
              <a:buNone/>
            </a:pPr>
            <a:r>
              <a:rPr lang="en"/>
              <a:t>Report Manager</a:t>
            </a:r>
            <a:endParaRPr/>
          </a:p>
          <a:p>
            <a:pPr indent="0" lvl="0" marL="0" rtl="0" algn="l">
              <a:spcBef>
                <a:spcPts val="0"/>
              </a:spcBef>
              <a:spcAft>
                <a:spcPts val="0"/>
              </a:spcAft>
              <a:buNone/>
            </a:pPr>
            <a:r>
              <a:rPr lang="en"/>
              <a:t>Slack to Production (stretch)</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Smaller Features</a:t>
            </a:r>
            <a:endParaRPr b="1"/>
          </a:p>
          <a:p>
            <a:pPr indent="0" lvl="0" marL="0" rtl="0" algn="l">
              <a:spcBef>
                <a:spcPts val="0"/>
              </a:spcBef>
              <a:spcAft>
                <a:spcPts val="0"/>
              </a:spcAft>
              <a:buClr>
                <a:schemeClr val="dk1"/>
              </a:buClr>
              <a:buSzPts val="1100"/>
              <a:buFont typeface="Arial"/>
              <a:buNone/>
            </a:pPr>
            <a:r>
              <a:rPr lang="en">
                <a:solidFill>
                  <a:schemeClr val="dk1"/>
                </a:solidFill>
              </a:rPr>
              <a:t>Notify unlocked/revealed content in app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LTI 1.3 Gradebook *</a:t>
            </a:r>
            <a:endParaRPr>
              <a:solidFill>
                <a:schemeClr val="dk1"/>
              </a:solidFill>
            </a:endParaRPr>
          </a:p>
          <a:p>
            <a:pPr indent="0" lvl="0" marL="0" rtl="0" algn="l">
              <a:spcBef>
                <a:spcPts val="0"/>
              </a:spcBef>
              <a:spcAft>
                <a:spcPts val="0"/>
              </a:spcAft>
              <a:buNone/>
            </a:pPr>
            <a:r>
              <a:rPr lang="en"/>
              <a:t>Better Template Library Management *</a:t>
            </a:r>
            <a:endParaRPr/>
          </a:p>
          <a:p>
            <a:pPr indent="0" lvl="0" marL="0" rtl="0" algn="l">
              <a:spcBef>
                <a:spcPts val="0"/>
              </a:spcBef>
              <a:spcAft>
                <a:spcPts val="0"/>
              </a:spcAft>
              <a:buNone/>
            </a:pPr>
            <a:r>
              <a:rPr lang="en"/>
              <a:t>Import/export design to Word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AI - process files</a:t>
            </a:r>
            <a:endParaRPr/>
          </a:p>
          <a:p>
            <a:pPr indent="0" lvl="0" marL="0" rtl="0" algn="l">
              <a:spcBef>
                <a:spcPts val="0"/>
              </a:spcBef>
              <a:spcAft>
                <a:spcPts val="0"/>
              </a:spcAft>
              <a:buNone/>
            </a:pPr>
            <a:r>
              <a:rPr lang="en"/>
              <a:t>Full GDPR support</a:t>
            </a:r>
            <a:endParaRPr/>
          </a:p>
          <a:p>
            <a:pPr indent="0" lvl="0" marL="0" rtl="0" algn="l">
              <a:spcBef>
                <a:spcPts val="0"/>
              </a:spcBef>
              <a:spcAft>
                <a:spcPts val="0"/>
              </a:spcAft>
              <a:buClr>
                <a:schemeClr val="dk1"/>
              </a:buClr>
              <a:buSzPts val="1100"/>
              <a:buFont typeface="Arial"/>
              <a:buNone/>
            </a:pPr>
            <a:r>
              <a:rPr lang="en">
                <a:solidFill>
                  <a:schemeClr val="dk1"/>
                </a:solidFill>
              </a:rPr>
              <a:t>Better Team 360 Authoring</a:t>
            </a:r>
            <a:endParaRPr>
              <a:solidFill>
                <a:schemeClr val="dk1"/>
              </a:solidFill>
            </a:endParaRPr>
          </a:p>
          <a:p>
            <a:pPr indent="0" lvl="0" marL="0" rtl="0" algn="l">
              <a:spcBef>
                <a:spcPts val="0"/>
              </a:spcBef>
              <a:spcAft>
                <a:spcPts val="0"/>
              </a:spcAft>
              <a:buNone/>
            </a:pPr>
            <a:r>
              <a:rPr lang="en">
                <a:solidFill>
                  <a:schemeClr val="dk1"/>
                </a:solidFill>
              </a:rPr>
              <a:t>Device notifications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Slack Chat Integration</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b="1" lang="en"/>
              <a:t>Maintenance</a:t>
            </a:r>
            <a:endParaRPr b="1"/>
          </a:p>
          <a:p>
            <a:pPr indent="0" lvl="0" marL="0" rtl="0" algn="l">
              <a:spcBef>
                <a:spcPts val="0"/>
              </a:spcBef>
              <a:spcAft>
                <a:spcPts val="0"/>
              </a:spcAft>
              <a:buNone/>
            </a:pPr>
            <a:r>
              <a:rPr lang="en"/>
              <a:t>SOC 2 *</a:t>
            </a:r>
            <a:endParaRPr/>
          </a:p>
          <a:p>
            <a:pPr indent="0" lvl="0" marL="0" rtl="0" algn="l">
              <a:spcBef>
                <a:spcPts val="0"/>
              </a:spcBef>
              <a:spcAft>
                <a:spcPts val="0"/>
              </a:spcAft>
              <a:buNone/>
            </a:pPr>
            <a:r>
              <a:rPr lang="en"/>
              <a:t>Global Login - MFA, security, UI *</a:t>
            </a:r>
            <a:endParaRPr/>
          </a:p>
          <a:p>
            <a:pPr indent="0" lvl="0" marL="0" rtl="0" algn="l">
              <a:spcBef>
                <a:spcPts val="0"/>
              </a:spcBef>
              <a:spcAft>
                <a:spcPts val="0"/>
              </a:spcAft>
              <a:buNone/>
            </a:pPr>
            <a:r>
              <a:rPr lang="en"/>
              <a:t>AI to latest GPT</a:t>
            </a:r>
            <a:endParaRPr/>
          </a:p>
          <a:p>
            <a:pPr indent="0" lvl="0" marL="0" rtl="0" algn="l">
              <a:spcBef>
                <a:spcPts val="0"/>
              </a:spcBef>
              <a:spcAft>
                <a:spcPts val="0"/>
              </a:spcAft>
              <a:buNone/>
            </a:pPr>
            <a:r>
              <a:rPr lang="en"/>
              <a:t>UI Test Automation *</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2ecce24a59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2ecce24a59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Big Features</a:t>
            </a:r>
            <a:endParaRPr b="1"/>
          </a:p>
          <a:p>
            <a:pPr indent="0" lvl="0" marL="0" rtl="0" algn="l">
              <a:spcBef>
                <a:spcPts val="0"/>
              </a:spcBef>
              <a:spcAft>
                <a:spcPts val="0"/>
              </a:spcAft>
              <a:buNone/>
            </a:pPr>
            <a:r>
              <a:rPr lang="en"/>
              <a:t>Automation</a:t>
            </a:r>
            <a:endParaRPr/>
          </a:p>
          <a:p>
            <a:pPr indent="0" lvl="0" marL="0" rtl="0" algn="l">
              <a:spcBef>
                <a:spcPts val="0"/>
              </a:spcBef>
              <a:spcAft>
                <a:spcPts val="0"/>
              </a:spcAft>
              <a:buNone/>
            </a:pPr>
            <a:r>
              <a:rPr lang="en"/>
              <a:t>Briefs</a:t>
            </a:r>
            <a:endParaRPr/>
          </a:p>
          <a:p>
            <a:pPr indent="0" lvl="0" marL="0" rtl="0" algn="l">
              <a:spcBef>
                <a:spcPts val="0"/>
              </a:spcBef>
              <a:spcAft>
                <a:spcPts val="0"/>
              </a:spcAft>
              <a:buNone/>
            </a:pPr>
            <a:r>
              <a:rPr lang="en"/>
              <a:t>Report Manager</a:t>
            </a:r>
            <a:endParaRPr/>
          </a:p>
          <a:p>
            <a:pPr indent="0" lvl="0" marL="0" rtl="0" algn="l">
              <a:spcBef>
                <a:spcPts val="0"/>
              </a:spcBef>
              <a:spcAft>
                <a:spcPts val="0"/>
              </a:spcAft>
              <a:buNone/>
            </a:pPr>
            <a:r>
              <a:rPr lang="en"/>
              <a:t>Slack to Production (stretch)</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Smaller Features</a:t>
            </a:r>
            <a:endParaRPr b="1"/>
          </a:p>
          <a:p>
            <a:pPr indent="0" lvl="0" marL="0" rtl="0" algn="l">
              <a:spcBef>
                <a:spcPts val="0"/>
              </a:spcBef>
              <a:spcAft>
                <a:spcPts val="0"/>
              </a:spcAft>
              <a:buClr>
                <a:schemeClr val="dk1"/>
              </a:buClr>
              <a:buSzPts val="1100"/>
              <a:buFont typeface="Arial"/>
              <a:buNone/>
            </a:pPr>
            <a:r>
              <a:rPr lang="en">
                <a:solidFill>
                  <a:schemeClr val="dk1"/>
                </a:solidFill>
              </a:rPr>
              <a:t>Notify unlocked/revealed content in app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LTI 1.3 Gradebook *</a:t>
            </a:r>
            <a:endParaRPr>
              <a:solidFill>
                <a:schemeClr val="dk1"/>
              </a:solidFill>
            </a:endParaRPr>
          </a:p>
          <a:p>
            <a:pPr indent="0" lvl="0" marL="0" rtl="0" algn="l">
              <a:spcBef>
                <a:spcPts val="0"/>
              </a:spcBef>
              <a:spcAft>
                <a:spcPts val="0"/>
              </a:spcAft>
              <a:buNone/>
            </a:pPr>
            <a:r>
              <a:rPr lang="en"/>
              <a:t>Better Template Library Management *</a:t>
            </a:r>
            <a:endParaRPr/>
          </a:p>
          <a:p>
            <a:pPr indent="0" lvl="0" marL="0" rtl="0" algn="l">
              <a:spcBef>
                <a:spcPts val="0"/>
              </a:spcBef>
              <a:spcAft>
                <a:spcPts val="0"/>
              </a:spcAft>
              <a:buNone/>
            </a:pPr>
            <a:r>
              <a:rPr lang="en"/>
              <a:t>Import/export design to Word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AI - process files</a:t>
            </a:r>
            <a:endParaRPr/>
          </a:p>
          <a:p>
            <a:pPr indent="0" lvl="0" marL="0" rtl="0" algn="l">
              <a:spcBef>
                <a:spcPts val="0"/>
              </a:spcBef>
              <a:spcAft>
                <a:spcPts val="0"/>
              </a:spcAft>
              <a:buNone/>
            </a:pPr>
            <a:r>
              <a:rPr lang="en"/>
              <a:t>Full GDPR support</a:t>
            </a:r>
            <a:endParaRPr/>
          </a:p>
          <a:p>
            <a:pPr indent="0" lvl="0" marL="0" rtl="0" algn="l">
              <a:spcBef>
                <a:spcPts val="0"/>
              </a:spcBef>
              <a:spcAft>
                <a:spcPts val="0"/>
              </a:spcAft>
              <a:buClr>
                <a:schemeClr val="dk1"/>
              </a:buClr>
              <a:buSzPts val="1100"/>
              <a:buFont typeface="Arial"/>
              <a:buNone/>
            </a:pPr>
            <a:r>
              <a:rPr lang="en">
                <a:solidFill>
                  <a:schemeClr val="dk1"/>
                </a:solidFill>
              </a:rPr>
              <a:t>Better Team 360 Authoring</a:t>
            </a:r>
            <a:endParaRPr>
              <a:solidFill>
                <a:schemeClr val="dk1"/>
              </a:solidFill>
            </a:endParaRPr>
          </a:p>
          <a:p>
            <a:pPr indent="0" lvl="0" marL="0" rtl="0" algn="l">
              <a:spcBef>
                <a:spcPts val="0"/>
              </a:spcBef>
              <a:spcAft>
                <a:spcPts val="0"/>
              </a:spcAft>
              <a:buNone/>
            </a:pPr>
            <a:r>
              <a:rPr lang="en">
                <a:solidFill>
                  <a:schemeClr val="dk1"/>
                </a:solidFill>
              </a:rPr>
              <a:t>Device notifications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Slack Chat Integration</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b="1" lang="en"/>
              <a:t>Maintenance</a:t>
            </a:r>
            <a:endParaRPr b="1"/>
          </a:p>
          <a:p>
            <a:pPr indent="0" lvl="0" marL="0" rtl="0" algn="l">
              <a:spcBef>
                <a:spcPts val="0"/>
              </a:spcBef>
              <a:spcAft>
                <a:spcPts val="0"/>
              </a:spcAft>
              <a:buNone/>
            </a:pPr>
            <a:r>
              <a:rPr lang="en"/>
              <a:t>SOC 2 *</a:t>
            </a:r>
            <a:endParaRPr/>
          </a:p>
          <a:p>
            <a:pPr indent="0" lvl="0" marL="0" rtl="0" algn="l">
              <a:spcBef>
                <a:spcPts val="0"/>
              </a:spcBef>
              <a:spcAft>
                <a:spcPts val="0"/>
              </a:spcAft>
              <a:buNone/>
            </a:pPr>
            <a:r>
              <a:rPr lang="en"/>
              <a:t>Global Login - MFA, security, UI *</a:t>
            </a:r>
            <a:endParaRPr/>
          </a:p>
          <a:p>
            <a:pPr indent="0" lvl="0" marL="0" rtl="0" algn="l">
              <a:spcBef>
                <a:spcPts val="0"/>
              </a:spcBef>
              <a:spcAft>
                <a:spcPts val="0"/>
              </a:spcAft>
              <a:buNone/>
            </a:pPr>
            <a:r>
              <a:rPr lang="en"/>
              <a:t>AI to latest GPT</a:t>
            </a:r>
            <a:endParaRPr/>
          </a:p>
          <a:p>
            <a:pPr indent="0" lvl="0" marL="0" rtl="0" algn="l">
              <a:spcBef>
                <a:spcPts val="0"/>
              </a:spcBef>
              <a:spcAft>
                <a:spcPts val="0"/>
              </a:spcAft>
              <a:buNone/>
            </a:pPr>
            <a:r>
              <a:rPr lang="en"/>
              <a:t>UI Test Automation *</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2b992632fee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2b992632fee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2b992632fee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2b992632fee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2b992632fe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2b992632fe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2b5e8d3e0de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2b5e8d3e0de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2b5e8d3e0d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2b5e8d3e0d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2b5e8d3e0de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2b5e8d3e0de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2b5e8d3e0de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2b5e8d3e0de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2b201025901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2b201025901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2b201025901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2b201025901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2b201025901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2b201025901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2b5e8d3e0de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2b5e8d3e0de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2b201025901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2b201025901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2b5e8d3e0de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2b5e8d3e0de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Big Features</a:t>
            </a:r>
            <a:endParaRPr b="1"/>
          </a:p>
          <a:p>
            <a:pPr indent="0" lvl="0" marL="0" rtl="0" algn="l">
              <a:spcBef>
                <a:spcPts val="0"/>
              </a:spcBef>
              <a:spcAft>
                <a:spcPts val="0"/>
              </a:spcAft>
              <a:buNone/>
            </a:pPr>
            <a:r>
              <a:rPr lang="en"/>
              <a:t>Automation</a:t>
            </a:r>
            <a:endParaRPr/>
          </a:p>
          <a:p>
            <a:pPr indent="0" lvl="0" marL="0" rtl="0" algn="l">
              <a:spcBef>
                <a:spcPts val="0"/>
              </a:spcBef>
              <a:spcAft>
                <a:spcPts val="0"/>
              </a:spcAft>
              <a:buNone/>
            </a:pPr>
            <a:r>
              <a:rPr lang="en"/>
              <a:t>Briefs</a:t>
            </a:r>
            <a:endParaRPr/>
          </a:p>
          <a:p>
            <a:pPr indent="0" lvl="0" marL="0" rtl="0" algn="l">
              <a:spcBef>
                <a:spcPts val="0"/>
              </a:spcBef>
              <a:spcAft>
                <a:spcPts val="0"/>
              </a:spcAft>
              <a:buNone/>
            </a:pPr>
            <a:r>
              <a:rPr lang="en"/>
              <a:t>Report Manager</a:t>
            </a:r>
            <a:endParaRPr/>
          </a:p>
          <a:p>
            <a:pPr indent="0" lvl="0" marL="0" rtl="0" algn="l">
              <a:spcBef>
                <a:spcPts val="0"/>
              </a:spcBef>
              <a:spcAft>
                <a:spcPts val="0"/>
              </a:spcAft>
              <a:buNone/>
            </a:pPr>
            <a:r>
              <a:rPr lang="en"/>
              <a:t>Slack to Production (stretch)</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Smaller Features</a:t>
            </a:r>
            <a:endParaRPr b="1"/>
          </a:p>
          <a:p>
            <a:pPr indent="0" lvl="0" marL="0" rtl="0" algn="l">
              <a:spcBef>
                <a:spcPts val="0"/>
              </a:spcBef>
              <a:spcAft>
                <a:spcPts val="0"/>
              </a:spcAft>
              <a:buClr>
                <a:schemeClr val="dk1"/>
              </a:buClr>
              <a:buSzPts val="1100"/>
              <a:buFont typeface="Arial"/>
              <a:buNone/>
            </a:pPr>
            <a:r>
              <a:rPr lang="en">
                <a:solidFill>
                  <a:schemeClr val="dk1"/>
                </a:solidFill>
              </a:rPr>
              <a:t>Notify unlocked/revealed content in app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LTI 1.3 Gradebook *</a:t>
            </a:r>
            <a:endParaRPr>
              <a:solidFill>
                <a:schemeClr val="dk1"/>
              </a:solidFill>
            </a:endParaRPr>
          </a:p>
          <a:p>
            <a:pPr indent="0" lvl="0" marL="0" rtl="0" algn="l">
              <a:spcBef>
                <a:spcPts val="0"/>
              </a:spcBef>
              <a:spcAft>
                <a:spcPts val="0"/>
              </a:spcAft>
              <a:buNone/>
            </a:pPr>
            <a:r>
              <a:rPr lang="en"/>
              <a:t>Better Template Library Management *</a:t>
            </a:r>
            <a:endParaRPr/>
          </a:p>
          <a:p>
            <a:pPr indent="0" lvl="0" marL="0" rtl="0" algn="l">
              <a:spcBef>
                <a:spcPts val="0"/>
              </a:spcBef>
              <a:spcAft>
                <a:spcPts val="0"/>
              </a:spcAft>
              <a:buNone/>
            </a:pPr>
            <a:r>
              <a:rPr lang="en"/>
              <a:t>Import/export design to Word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AI - process files</a:t>
            </a:r>
            <a:endParaRPr/>
          </a:p>
          <a:p>
            <a:pPr indent="0" lvl="0" marL="0" rtl="0" algn="l">
              <a:spcBef>
                <a:spcPts val="0"/>
              </a:spcBef>
              <a:spcAft>
                <a:spcPts val="0"/>
              </a:spcAft>
              <a:buNone/>
            </a:pPr>
            <a:r>
              <a:rPr lang="en"/>
              <a:t>Full GDPR support</a:t>
            </a:r>
            <a:endParaRPr/>
          </a:p>
          <a:p>
            <a:pPr indent="0" lvl="0" marL="0" rtl="0" algn="l">
              <a:spcBef>
                <a:spcPts val="0"/>
              </a:spcBef>
              <a:spcAft>
                <a:spcPts val="0"/>
              </a:spcAft>
              <a:buClr>
                <a:schemeClr val="dk1"/>
              </a:buClr>
              <a:buSzPts val="1100"/>
              <a:buFont typeface="Arial"/>
              <a:buNone/>
            </a:pPr>
            <a:r>
              <a:rPr lang="en">
                <a:solidFill>
                  <a:schemeClr val="dk1"/>
                </a:solidFill>
              </a:rPr>
              <a:t>Better Team 360 Authoring</a:t>
            </a:r>
            <a:endParaRPr>
              <a:solidFill>
                <a:schemeClr val="dk1"/>
              </a:solidFill>
            </a:endParaRPr>
          </a:p>
          <a:p>
            <a:pPr indent="0" lvl="0" marL="0" rtl="0" algn="l">
              <a:spcBef>
                <a:spcPts val="0"/>
              </a:spcBef>
              <a:spcAft>
                <a:spcPts val="0"/>
              </a:spcAft>
              <a:buNone/>
            </a:pPr>
            <a:r>
              <a:rPr lang="en">
                <a:solidFill>
                  <a:schemeClr val="dk1"/>
                </a:solidFill>
              </a:rPr>
              <a:t>Device notifications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Slack Chat Integration</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b="1" lang="en"/>
              <a:t>Maintenance</a:t>
            </a:r>
            <a:endParaRPr b="1"/>
          </a:p>
          <a:p>
            <a:pPr indent="0" lvl="0" marL="0" rtl="0" algn="l">
              <a:spcBef>
                <a:spcPts val="0"/>
              </a:spcBef>
              <a:spcAft>
                <a:spcPts val="0"/>
              </a:spcAft>
              <a:buNone/>
            </a:pPr>
            <a:r>
              <a:rPr lang="en"/>
              <a:t>SOC 2 *</a:t>
            </a:r>
            <a:endParaRPr/>
          </a:p>
          <a:p>
            <a:pPr indent="0" lvl="0" marL="0" rtl="0" algn="l">
              <a:spcBef>
                <a:spcPts val="0"/>
              </a:spcBef>
              <a:spcAft>
                <a:spcPts val="0"/>
              </a:spcAft>
              <a:buNone/>
            </a:pPr>
            <a:r>
              <a:rPr lang="en"/>
              <a:t>Global Login - MFA, security, UI *</a:t>
            </a:r>
            <a:endParaRPr/>
          </a:p>
          <a:p>
            <a:pPr indent="0" lvl="0" marL="0" rtl="0" algn="l">
              <a:spcBef>
                <a:spcPts val="0"/>
              </a:spcBef>
              <a:spcAft>
                <a:spcPts val="0"/>
              </a:spcAft>
              <a:buNone/>
            </a:pPr>
            <a:r>
              <a:rPr lang="en"/>
              <a:t>AI to latest GPT</a:t>
            </a:r>
            <a:endParaRPr/>
          </a:p>
          <a:p>
            <a:pPr indent="0" lvl="0" marL="0" rtl="0" algn="l">
              <a:spcBef>
                <a:spcPts val="0"/>
              </a:spcBef>
              <a:spcAft>
                <a:spcPts val="0"/>
              </a:spcAft>
              <a:buNone/>
            </a:pPr>
            <a:r>
              <a:rPr lang="en"/>
              <a:t>UI Test Automation *</a:t>
            </a:r>
            <a:endParaRPr/>
          </a:p>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2b201025901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2b201025901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Big Features</a:t>
            </a:r>
            <a:endParaRPr b="1"/>
          </a:p>
          <a:p>
            <a:pPr indent="0" lvl="0" marL="0" rtl="0" algn="l">
              <a:spcBef>
                <a:spcPts val="0"/>
              </a:spcBef>
              <a:spcAft>
                <a:spcPts val="0"/>
              </a:spcAft>
              <a:buNone/>
            </a:pPr>
            <a:r>
              <a:rPr lang="en"/>
              <a:t>Automation</a:t>
            </a:r>
            <a:endParaRPr/>
          </a:p>
          <a:p>
            <a:pPr indent="0" lvl="0" marL="0" rtl="0" algn="l">
              <a:spcBef>
                <a:spcPts val="0"/>
              </a:spcBef>
              <a:spcAft>
                <a:spcPts val="0"/>
              </a:spcAft>
              <a:buNone/>
            </a:pPr>
            <a:r>
              <a:rPr lang="en"/>
              <a:t>Briefs</a:t>
            </a:r>
            <a:endParaRPr/>
          </a:p>
          <a:p>
            <a:pPr indent="0" lvl="0" marL="0" rtl="0" algn="l">
              <a:spcBef>
                <a:spcPts val="0"/>
              </a:spcBef>
              <a:spcAft>
                <a:spcPts val="0"/>
              </a:spcAft>
              <a:buNone/>
            </a:pPr>
            <a:r>
              <a:rPr lang="en"/>
              <a:t>Report Manager</a:t>
            </a:r>
            <a:endParaRPr/>
          </a:p>
          <a:p>
            <a:pPr indent="0" lvl="0" marL="0" rtl="0" algn="l">
              <a:spcBef>
                <a:spcPts val="0"/>
              </a:spcBef>
              <a:spcAft>
                <a:spcPts val="0"/>
              </a:spcAft>
              <a:buNone/>
            </a:pPr>
            <a:r>
              <a:rPr lang="en"/>
              <a:t>Slack to Production (stretch)</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Smaller Features</a:t>
            </a:r>
            <a:endParaRPr b="1"/>
          </a:p>
          <a:p>
            <a:pPr indent="0" lvl="0" marL="0" rtl="0" algn="l">
              <a:spcBef>
                <a:spcPts val="0"/>
              </a:spcBef>
              <a:spcAft>
                <a:spcPts val="0"/>
              </a:spcAft>
              <a:buClr>
                <a:schemeClr val="dk1"/>
              </a:buClr>
              <a:buSzPts val="1100"/>
              <a:buFont typeface="Arial"/>
              <a:buNone/>
            </a:pPr>
            <a:r>
              <a:rPr lang="en">
                <a:solidFill>
                  <a:schemeClr val="dk1"/>
                </a:solidFill>
              </a:rPr>
              <a:t>Notify unlocked/revealed content in app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LTI 1.3 Gradebook *</a:t>
            </a:r>
            <a:endParaRPr>
              <a:solidFill>
                <a:schemeClr val="dk1"/>
              </a:solidFill>
            </a:endParaRPr>
          </a:p>
          <a:p>
            <a:pPr indent="0" lvl="0" marL="0" rtl="0" algn="l">
              <a:spcBef>
                <a:spcPts val="0"/>
              </a:spcBef>
              <a:spcAft>
                <a:spcPts val="0"/>
              </a:spcAft>
              <a:buNone/>
            </a:pPr>
            <a:r>
              <a:rPr lang="en"/>
              <a:t>Better Template Library Management *</a:t>
            </a:r>
            <a:endParaRPr/>
          </a:p>
          <a:p>
            <a:pPr indent="0" lvl="0" marL="0" rtl="0" algn="l">
              <a:spcBef>
                <a:spcPts val="0"/>
              </a:spcBef>
              <a:spcAft>
                <a:spcPts val="0"/>
              </a:spcAft>
              <a:buNone/>
            </a:pPr>
            <a:r>
              <a:rPr lang="en"/>
              <a:t>Import/export design to Word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AI - process files</a:t>
            </a:r>
            <a:endParaRPr/>
          </a:p>
          <a:p>
            <a:pPr indent="0" lvl="0" marL="0" rtl="0" algn="l">
              <a:spcBef>
                <a:spcPts val="0"/>
              </a:spcBef>
              <a:spcAft>
                <a:spcPts val="0"/>
              </a:spcAft>
              <a:buNone/>
            </a:pPr>
            <a:r>
              <a:rPr lang="en"/>
              <a:t>Full GDPR support</a:t>
            </a:r>
            <a:endParaRPr/>
          </a:p>
          <a:p>
            <a:pPr indent="0" lvl="0" marL="0" rtl="0" algn="l">
              <a:spcBef>
                <a:spcPts val="0"/>
              </a:spcBef>
              <a:spcAft>
                <a:spcPts val="0"/>
              </a:spcAft>
              <a:buClr>
                <a:schemeClr val="dk1"/>
              </a:buClr>
              <a:buSzPts val="1100"/>
              <a:buFont typeface="Arial"/>
              <a:buNone/>
            </a:pPr>
            <a:r>
              <a:rPr lang="en">
                <a:solidFill>
                  <a:schemeClr val="dk1"/>
                </a:solidFill>
              </a:rPr>
              <a:t>Better Team 360 Authoring</a:t>
            </a:r>
            <a:endParaRPr>
              <a:solidFill>
                <a:schemeClr val="dk1"/>
              </a:solidFill>
            </a:endParaRPr>
          </a:p>
          <a:p>
            <a:pPr indent="0" lvl="0" marL="0" rtl="0" algn="l">
              <a:spcBef>
                <a:spcPts val="0"/>
              </a:spcBef>
              <a:spcAft>
                <a:spcPts val="0"/>
              </a:spcAft>
              <a:buNone/>
            </a:pPr>
            <a:r>
              <a:rPr lang="en">
                <a:solidFill>
                  <a:schemeClr val="dk1"/>
                </a:solidFill>
              </a:rPr>
              <a:t>Device notifications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Slack Chat Integration</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b="1" lang="en"/>
              <a:t>Maintenance</a:t>
            </a:r>
            <a:endParaRPr b="1"/>
          </a:p>
          <a:p>
            <a:pPr indent="0" lvl="0" marL="0" rtl="0" algn="l">
              <a:spcBef>
                <a:spcPts val="0"/>
              </a:spcBef>
              <a:spcAft>
                <a:spcPts val="0"/>
              </a:spcAft>
              <a:buNone/>
            </a:pPr>
            <a:r>
              <a:rPr lang="en"/>
              <a:t>SOC 2 *</a:t>
            </a:r>
            <a:endParaRPr/>
          </a:p>
          <a:p>
            <a:pPr indent="0" lvl="0" marL="0" rtl="0" algn="l">
              <a:spcBef>
                <a:spcPts val="0"/>
              </a:spcBef>
              <a:spcAft>
                <a:spcPts val="0"/>
              </a:spcAft>
              <a:buNone/>
            </a:pPr>
            <a:r>
              <a:rPr lang="en"/>
              <a:t>Global Login - MFA, security, UI *</a:t>
            </a:r>
            <a:endParaRPr/>
          </a:p>
          <a:p>
            <a:pPr indent="0" lvl="0" marL="0" rtl="0" algn="l">
              <a:spcBef>
                <a:spcPts val="0"/>
              </a:spcBef>
              <a:spcAft>
                <a:spcPts val="0"/>
              </a:spcAft>
              <a:buNone/>
            </a:pPr>
            <a:r>
              <a:rPr lang="en"/>
              <a:t>AI to latest GPT</a:t>
            </a:r>
            <a:endParaRPr/>
          </a:p>
          <a:p>
            <a:pPr indent="0" lvl="0" marL="0" rtl="0" algn="l">
              <a:spcBef>
                <a:spcPts val="0"/>
              </a:spcBef>
              <a:spcAft>
                <a:spcPts val="0"/>
              </a:spcAft>
              <a:buNone/>
            </a:pPr>
            <a:r>
              <a:rPr lang="en"/>
              <a:t>UI Test Automation *</a:t>
            </a:r>
            <a:endParaRPr/>
          </a:p>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2b201025901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2b201025901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196e85e0de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196e85e0de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196e85e0def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0" name="Google Shape;530;g196e85e0def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p2"/>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p2"/>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p2"/>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p2"/>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9" name="Google Shape;19;p2"/>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 name="Google Shape;20;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p:txBody>
      </p:sp>
      <p:sp>
        <p:nvSpPr>
          <p:cNvPr id="24" name="Google Shape;24;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28" name="Google Shape;28;p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2" name="Google Shape;32;p5"/>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5"/>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6"/>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7" name="Google Shape;3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2" name="Shape 42"/>
        <p:cNvGrpSpPr/>
        <p:nvPr/>
      </p:nvGrpSpPr>
      <p:grpSpPr>
        <a:xfrm>
          <a:off x="0" y="0"/>
          <a:ext cx="0" cy="0"/>
          <a:chOff x="0" y="0"/>
          <a:chExt cx="0" cy="0"/>
        </a:xfrm>
      </p:grpSpPr>
      <p:sp>
        <p:nvSpPr>
          <p:cNvPr id="43" name="Google Shape;43;p8"/>
          <p:cNvSpPr txBox="1"/>
          <p:nvPr>
            <p:ph type="title"/>
          </p:nvPr>
        </p:nvSpPr>
        <p:spPr>
          <a:xfrm>
            <a:off x="490250" y="526350"/>
            <a:ext cx="56136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2"/>
              </a:buClr>
              <a:buSzPts val="5400"/>
              <a:buNone/>
              <a:defRPr b="0" sz="5400">
                <a:solidFill>
                  <a:schemeClr val="dk2"/>
                </a:solidFill>
              </a:defRPr>
            </a:lvl1pPr>
            <a:lvl2pPr lvl="1">
              <a:spcBef>
                <a:spcPts val="0"/>
              </a:spcBef>
              <a:spcAft>
                <a:spcPts val="0"/>
              </a:spcAft>
              <a:buClr>
                <a:schemeClr val="dk2"/>
              </a:buClr>
              <a:buSzPts val="5400"/>
              <a:buNone/>
              <a:defRPr b="0" sz="5400">
                <a:solidFill>
                  <a:schemeClr val="dk2"/>
                </a:solidFill>
              </a:defRPr>
            </a:lvl2pPr>
            <a:lvl3pPr lvl="2">
              <a:spcBef>
                <a:spcPts val="0"/>
              </a:spcBef>
              <a:spcAft>
                <a:spcPts val="0"/>
              </a:spcAft>
              <a:buClr>
                <a:schemeClr val="dk2"/>
              </a:buClr>
              <a:buSzPts val="5400"/>
              <a:buNone/>
              <a:defRPr b="0" sz="5400">
                <a:solidFill>
                  <a:schemeClr val="dk2"/>
                </a:solidFill>
              </a:defRPr>
            </a:lvl3pPr>
            <a:lvl4pPr lvl="3">
              <a:spcBef>
                <a:spcPts val="0"/>
              </a:spcBef>
              <a:spcAft>
                <a:spcPts val="0"/>
              </a:spcAft>
              <a:buClr>
                <a:schemeClr val="dk2"/>
              </a:buClr>
              <a:buSzPts val="5400"/>
              <a:buNone/>
              <a:defRPr b="0" sz="5400">
                <a:solidFill>
                  <a:schemeClr val="dk2"/>
                </a:solidFill>
              </a:defRPr>
            </a:lvl4pPr>
            <a:lvl5pPr lvl="4">
              <a:spcBef>
                <a:spcPts val="0"/>
              </a:spcBef>
              <a:spcAft>
                <a:spcPts val="0"/>
              </a:spcAft>
              <a:buClr>
                <a:schemeClr val="dk2"/>
              </a:buClr>
              <a:buSzPts val="5400"/>
              <a:buNone/>
              <a:defRPr b="0" sz="5400">
                <a:solidFill>
                  <a:schemeClr val="dk2"/>
                </a:solidFill>
              </a:defRPr>
            </a:lvl5pPr>
            <a:lvl6pPr lvl="5">
              <a:spcBef>
                <a:spcPts val="0"/>
              </a:spcBef>
              <a:spcAft>
                <a:spcPts val="0"/>
              </a:spcAft>
              <a:buClr>
                <a:schemeClr val="dk2"/>
              </a:buClr>
              <a:buSzPts val="5400"/>
              <a:buNone/>
              <a:defRPr b="0" sz="5400">
                <a:solidFill>
                  <a:schemeClr val="dk2"/>
                </a:solidFill>
              </a:defRPr>
            </a:lvl6pPr>
            <a:lvl7pPr lvl="6">
              <a:spcBef>
                <a:spcPts val="0"/>
              </a:spcBef>
              <a:spcAft>
                <a:spcPts val="0"/>
              </a:spcAft>
              <a:buClr>
                <a:schemeClr val="dk2"/>
              </a:buClr>
              <a:buSzPts val="5400"/>
              <a:buNone/>
              <a:defRPr b="0" sz="5400">
                <a:solidFill>
                  <a:schemeClr val="dk2"/>
                </a:solidFill>
              </a:defRPr>
            </a:lvl7pPr>
            <a:lvl8pPr lvl="7">
              <a:spcBef>
                <a:spcPts val="0"/>
              </a:spcBef>
              <a:spcAft>
                <a:spcPts val="0"/>
              </a:spcAft>
              <a:buClr>
                <a:schemeClr val="dk2"/>
              </a:buClr>
              <a:buSzPts val="5400"/>
              <a:buNone/>
              <a:defRPr b="0" sz="5400">
                <a:solidFill>
                  <a:schemeClr val="dk2"/>
                </a:solidFill>
              </a:defRPr>
            </a:lvl8pPr>
            <a:lvl9pPr lvl="8">
              <a:spcBef>
                <a:spcPts val="0"/>
              </a:spcBef>
              <a:spcAft>
                <a:spcPts val="0"/>
              </a:spcAft>
              <a:buClr>
                <a:schemeClr val="dk2"/>
              </a:buClr>
              <a:buSzPts val="5400"/>
              <a:buNone/>
              <a:defRPr b="0" sz="5400">
                <a:solidFill>
                  <a:schemeClr val="dk2"/>
                </a:solidFill>
              </a:defRPr>
            </a:lvl9pPr>
          </a:lstStyle>
          <a:p/>
        </p:txBody>
      </p:sp>
      <p:sp>
        <p:nvSpPr>
          <p:cNvPr id="44" name="Google Shape;4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 name="Google Shape;47;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8" name="Google Shape;48;p9"/>
          <p:cNvSpPr txBox="1"/>
          <p:nvPr>
            <p:ph type="title"/>
          </p:nvPr>
        </p:nvSpPr>
        <p:spPr>
          <a:xfrm>
            <a:off x="265500" y="1039675"/>
            <a:ext cx="4045200" cy="16758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9" name="Google Shape;49;p9"/>
          <p:cNvSpPr txBox="1"/>
          <p:nvPr>
            <p:ph idx="1" type="subTitle"/>
          </p:nvPr>
        </p:nvSpPr>
        <p:spPr>
          <a:xfrm>
            <a:off x="265500" y="27268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ph idx="1" type="body"/>
          </p:nvPr>
        </p:nvSpPr>
        <p:spPr>
          <a:xfrm>
            <a:off x="311700" y="4230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54" name="Google Shape;5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1"/>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p:nvPr>
            <p:ph idx="1" type="body"/>
          </p:nvPr>
        </p:nvSpPr>
        <p:spPr>
          <a:xfrm>
            <a:off x="311700" y="29956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9" name="Google Shape;5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7" name="Google Shape;7;p1"/>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hyperlink" Target="https://intersective.atlassian.net/wiki/spaces/UX/pages/2250047489/202212+-+Admin+-+Triggers+table+visibility" TargetMode="External"/><Relationship Id="rId4" Type="http://schemas.openxmlformats.org/officeDocument/2006/relationships/image" Target="../media/image1.png"/><Relationship Id="rId5" Type="http://schemas.openxmlformats.org/officeDocument/2006/relationships/image" Target="../media/image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hyperlink" Target="https://intersective.atlassian.net/l/cp/J3bTuj8e" TargetMode="External"/><Relationship Id="rId4" Type="http://schemas.openxmlformats.org/officeDocument/2006/relationships/hyperlink" Target="https://intersective.atlassian.net/l/cp/CbZhgVRX" TargetMode="External"/><Relationship Id="rId5" Type="http://schemas.openxmlformats.org/officeDocument/2006/relationships/hyperlink" Target="https://intersective.atlassian.net/l/cp/0Q0HogUi" TargetMode="External"/><Relationship Id="rId6" Type="http://schemas.openxmlformats.org/officeDocument/2006/relationships/hyperlink" Target="https://intersective.atlassian.net/l/cp/XnNW1X36" TargetMode="External"/><Relationship Id="rId7" Type="http://schemas.openxmlformats.org/officeDocument/2006/relationships/image" Target="../media/image1.png"/><Relationship Id="rId8"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pic>
        <p:nvPicPr>
          <p:cNvPr id="66" name="Google Shape;66;p13"/>
          <p:cNvPicPr preferRelativeResize="0"/>
          <p:nvPr/>
        </p:nvPicPr>
        <p:blipFill>
          <a:blip r:embed="rId3">
            <a:alphaModFix/>
          </a:blip>
          <a:stretch>
            <a:fillRect/>
          </a:stretch>
        </p:blipFill>
        <p:spPr>
          <a:xfrm>
            <a:off x="522175" y="404875"/>
            <a:ext cx="1842275" cy="433875"/>
          </a:xfrm>
          <a:prstGeom prst="rect">
            <a:avLst/>
          </a:prstGeom>
          <a:noFill/>
          <a:ln>
            <a:noFill/>
          </a:ln>
        </p:spPr>
      </p:pic>
      <p:sp>
        <p:nvSpPr>
          <p:cNvPr id="67" name="Google Shape;67;p13"/>
          <p:cNvSpPr txBox="1"/>
          <p:nvPr/>
        </p:nvSpPr>
        <p:spPr>
          <a:xfrm>
            <a:off x="605125" y="1955125"/>
            <a:ext cx="3720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Jan</a:t>
            </a:r>
            <a:r>
              <a:rPr b="1" lang="en"/>
              <a:t> 2025</a:t>
            </a:r>
            <a:endParaRPr b="1"/>
          </a:p>
        </p:txBody>
      </p:sp>
      <p:sp>
        <p:nvSpPr>
          <p:cNvPr id="68" name="Google Shape;68;p13"/>
          <p:cNvSpPr txBox="1"/>
          <p:nvPr/>
        </p:nvSpPr>
        <p:spPr>
          <a:xfrm>
            <a:off x="605125" y="2355325"/>
            <a:ext cx="76401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300"/>
              <a:t>Platform Roadmap 2025 1st Half</a:t>
            </a:r>
            <a:endParaRPr b="1" sz="23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4"/>
          <p:cNvSpPr/>
          <p:nvPr/>
        </p:nvSpPr>
        <p:spPr>
          <a:xfrm>
            <a:off x="465850" y="593475"/>
            <a:ext cx="1939500" cy="87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Creating Agents - </a:t>
            </a:r>
            <a:br>
              <a:rPr lang="en" sz="1100">
                <a:latin typeface="Open Sans"/>
                <a:ea typeface="Open Sans"/>
                <a:cs typeface="Open Sans"/>
                <a:sym typeface="Open Sans"/>
              </a:rPr>
            </a:br>
            <a:r>
              <a:rPr lang="en" sz="1100">
                <a:latin typeface="Open Sans"/>
                <a:ea typeface="Open Sans"/>
                <a:cs typeface="Open Sans"/>
                <a:sym typeface="Open Sans"/>
              </a:rPr>
              <a:t>Teaching students </a:t>
            </a:r>
            <a:br>
              <a:rPr lang="en" sz="1100">
                <a:latin typeface="Open Sans"/>
                <a:ea typeface="Open Sans"/>
                <a:cs typeface="Open Sans"/>
                <a:sym typeface="Open Sans"/>
              </a:rPr>
            </a:br>
            <a:r>
              <a:rPr lang="en" sz="1100">
                <a:latin typeface="Open Sans"/>
                <a:ea typeface="Open Sans"/>
                <a:cs typeface="Open Sans"/>
                <a:sym typeface="Open Sans"/>
              </a:rPr>
              <a:t>how to model business problems</a:t>
            </a:r>
            <a:endParaRPr sz="1100">
              <a:latin typeface="Open Sans"/>
              <a:ea typeface="Open Sans"/>
              <a:cs typeface="Open Sans"/>
              <a:sym typeface="Open Sans"/>
            </a:endParaRPr>
          </a:p>
        </p:txBody>
      </p:sp>
      <p:sp>
        <p:nvSpPr>
          <p:cNvPr id="74" name="Google Shape;74;p14"/>
          <p:cNvSpPr/>
          <p:nvPr/>
        </p:nvSpPr>
        <p:spPr>
          <a:xfrm>
            <a:off x="738250" y="1542525"/>
            <a:ext cx="1394700" cy="56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Changes value proposition</a:t>
            </a:r>
            <a:endParaRPr sz="1100">
              <a:latin typeface="Open Sans"/>
              <a:ea typeface="Open Sans"/>
              <a:cs typeface="Open Sans"/>
              <a:sym typeface="Open Sans"/>
            </a:endParaRPr>
          </a:p>
        </p:txBody>
      </p:sp>
      <p:sp>
        <p:nvSpPr>
          <p:cNvPr id="75" name="Google Shape;75;p14"/>
          <p:cNvSpPr/>
          <p:nvPr/>
        </p:nvSpPr>
        <p:spPr>
          <a:xfrm>
            <a:off x="746500" y="2178075"/>
            <a:ext cx="1378200" cy="519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Open Sans"/>
                <a:ea typeface="Open Sans"/>
                <a:cs typeface="Open Sans"/>
                <a:sym typeface="Open Sans"/>
              </a:rPr>
              <a:t>Students just want engagement</a:t>
            </a:r>
            <a:endParaRPr sz="1000">
              <a:latin typeface="Open Sans"/>
              <a:ea typeface="Open Sans"/>
              <a:cs typeface="Open Sans"/>
              <a:sym typeface="Open Sans"/>
            </a:endParaRPr>
          </a:p>
        </p:txBody>
      </p:sp>
      <p:sp>
        <p:nvSpPr>
          <p:cNvPr id="76" name="Google Shape;76;p14"/>
          <p:cNvSpPr/>
          <p:nvPr/>
        </p:nvSpPr>
        <p:spPr>
          <a:xfrm>
            <a:off x="746500" y="2817375"/>
            <a:ext cx="1378200" cy="5199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Open Sans"/>
                <a:ea typeface="Open Sans"/>
                <a:cs typeface="Open Sans"/>
                <a:sym typeface="Open Sans"/>
              </a:rPr>
              <a:t>Maybe just AI chat - but with smarter models - e.g. </a:t>
            </a:r>
            <a:endParaRPr sz="1000">
              <a:latin typeface="Open Sans"/>
              <a:ea typeface="Open Sans"/>
              <a:cs typeface="Open Sans"/>
              <a:sym typeface="Open Sans"/>
            </a:endParaRPr>
          </a:p>
        </p:txBody>
      </p:sp>
      <p:sp>
        <p:nvSpPr>
          <p:cNvPr id="77" name="Google Shape;77;p14"/>
          <p:cNvSpPr/>
          <p:nvPr/>
        </p:nvSpPr>
        <p:spPr>
          <a:xfrm>
            <a:off x="2813475" y="593475"/>
            <a:ext cx="1890000" cy="87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AI - Next Level Reporting</a:t>
            </a:r>
            <a:endParaRPr>
              <a:latin typeface="Open Sans"/>
              <a:ea typeface="Open Sans"/>
              <a:cs typeface="Open Sans"/>
              <a:sym typeface="Open Sans"/>
            </a:endParaRPr>
          </a:p>
        </p:txBody>
      </p:sp>
      <p:sp>
        <p:nvSpPr>
          <p:cNvPr id="78" name="Google Shape;78;p14"/>
          <p:cNvSpPr/>
          <p:nvPr/>
        </p:nvSpPr>
        <p:spPr>
          <a:xfrm>
            <a:off x="5252400" y="593475"/>
            <a:ext cx="1890000" cy="87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Experiential XR </a:t>
            </a:r>
            <a:endParaRPr>
              <a:latin typeface="Open Sans"/>
              <a:ea typeface="Open Sans"/>
              <a:cs typeface="Open Sans"/>
              <a:sym typeface="Open Sans"/>
            </a:endParaRPr>
          </a:p>
        </p:txBody>
      </p:sp>
      <p:sp>
        <p:nvSpPr>
          <p:cNvPr id="79" name="Google Shape;79;p14"/>
          <p:cNvSpPr/>
          <p:nvPr/>
        </p:nvSpPr>
        <p:spPr>
          <a:xfrm>
            <a:off x="5467050" y="1526025"/>
            <a:ext cx="1460700" cy="594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How do we start?</a:t>
            </a:r>
            <a:endParaRPr>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5"/>
          <p:cNvSpPr txBox="1"/>
          <p:nvPr/>
        </p:nvSpPr>
        <p:spPr>
          <a:xfrm>
            <a:off x="2594863" y="1857100"/>
            <a:ext cx="1836600" cy="290400"/>
          </a:xfrm>
          <a:prstGeom prst="rect">
            <a:avLst/>
          </a:prstGeom>
          <a:solidFill>
            <a:srgbClr val="B6D7A8"/>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Skills Tracking in App</a:t>
            </a:r>
            <a:endParaRPr b="1" sz="700">
              <a:latin typeface="Roboto"/>
              <a:ea typeface="Roboto"/>
              <a:cs typeface="Roboto"/>
              <a:sym typeface="Roboto"/>
            </a:endParaRPr>
          </a:p>
        </p:txBody>
      </p:sp>
      <p:sp>
        <p:nvSpPr>
          <p:cNvPr id="85" name="Google Shape;85;p15"/>
          <p:cNvSpPr txBox="1"/>
          <p:nvPr/>
        </p:nvSpPr>
        <p:spPr>
          <a:xfrm>
            <a:off x="3164050" y="3360463"/>
            <a:ext cx="3407700" cy="290400"/>
          </a:xfrm>
          <a:prstGeom prst="rect">
            <a:avLst/>
          </a:prstGeom>
          <a:solidFill>
            <a:srgbClr val="CCCC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Global Login - MFA, Security, UI</a:t>
            </a:r>
            <a:endParaRPr b="1" sz="700">
              <a:latin typeface="Roboto"/>
              <a:ea typeface="Roboto"/>
              <a:cs typeface="Roboto"/>
              <a:sym typeface="Roboto"/>
            </a:endParaRPr>
          </a:p>
        </p:txBody>
      </p:sp>
      <p:sp>
        <p:nvSpPr>
          <p:cNvPr id="86" name="Google Shape;86;p15"/>
          <p:cNvSpPr txBox="1"/>
          <p:nvPr/>
        </p:nvSpPr>
        <p:spPr>
          <a:xfrm>
            <a:off x="2521175" y="367650"/>
            <a:ext cx="1968600" cy="3078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Roboto Black"/>
                <a:ea typeface="Roboto Black"/>
                <a:cs typeface="Roboto Black"/>
                <a:sym typeface="Roboto Black"/>
              </a:rPr>
              <a:t>2025 Mar-June</a:t>
            </a:r>
            <a:endParaRPr sz="800">
              <a:latin typeface="Roboto Black"/>
              <a:ea typeface="Roboto Black"/>
              <a:cs typeface="Roboto Black"/>
              <a:sym typeface="Roboto Black"/>
            </a:endParaRPr>
          </a:p>
        </p:txBody>
      </p:sp>
      <p:sp>
        <p:nvSpPr>
          <p:cNvPr id="87" name="Google Shape;87;p15"/>
          <p:cNvSpPr txBox="1"/>
          <p:nvPr/>
        </p:nvSpPr>
        <p:spPr>
          <a:xfrm>
            <a:off x="4571993" y="367660"/>
            <a:ext cx="1996800" cy="3078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Roboto Black"/>
                <a:ea typeface="Roboto Black"/>
                <a:cs typeface="Roboto Black"/>
                <a:sym typeface="Roboto Black"/>
              </a:rPr>
              <a:t>2025 July-Sept</a:t>
            </a:r>
            <a:endParaRPr sz="800">
              <a:latin typeface="Roboto Black"/>
              <a:ea typeface="Roboto Black"/>
              <a:cs typeface="Roboto Black"/>
              <a:sym typeface="Roboto Black"/>
            </a:endParaRPr>
          </a:p>
        </p:txBody>
      </p:sp>
      <p:sp>
        <p:nvSpPr>
          <p:cNvPr id="88" name="Google Shape;88;p15"/>
          <p:cNvSpPr txBox="1"/>
          <p:nvPr/>
        </p:nvSpPr>
        <p:spPr>
          <a:xfrm>
            <a:off x="6645075" y="367650"/>
            <a:ext cx="1996800" cy="3078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Roboto Black"/>
                <a:ea typeface="Roboto Black"/>
                <a:cs typeface="Roboto Black"/>
                <a:sym typeface="Roboto Black"/>
              </a:rPr>
              <a:t>Unscheduled</a:t>
            </a:r>
            <a:endParaRPr sz="800">
              <a:latin typeface="Roboto Black"/>
              <a:ea typeface="Roboto Black"/>
              <a:cs typeface="Roboto Black"/>
              <a:sym typeface="Roboto Black"/>
            </a:endParaRPr>
          </a:p>
        </p:txBody>
      </p:sp>
      <p:sp>
        <p:nvSpPr>
          <p:cNvPr id="89" name="Google Shape;89;p15"/>
          <p:cNvSpPr txBox="1"/>
          <p:nvPr/>
        </p:nvSpPr>
        <p:spPr>
          <a:xfrm>
            <a:off x="6682650" y="2802525"/>
            <a:ext cx="1968600" cy="292500"/>
          </a:xfrm>
          <a:prstGeom prst="rect">
            <a:avLst/>
          </a:prstGeom>
          <a:solidFill>
            <a:schemeClr val="lt1"/>
          </a:solidFill>
          <a:ln cap="flat" cmpd="sng" w="9525">
            <a:solidFill>
              <a:srgbClr val="00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Practera Automation </a:t>
            </a:r>
            <a:endParaRPr b="1" sz="700">
              <a:latin typeface="Roboto"/>
              <a:ea typeface="Roboto"/>
              <a:cs typeface="Roboto"/>
              <a:sym typeface="Roboto"/>
            </a:endParaRPr>
          </a:p>
        </p:txBody>
      </p:sp>
      <p:sp>
        <p:nvSpPr>
          <p:cNvPr id="90" name="Google Shape;90;p15"/>
          <p:cNvSpPr txBox="1"/>
          <p:nvPr/>
        </p:nvSpPr>
        <p:spPr>
          <a:xfrm>
            <a:off x="6682650" y="1136150"/>
            <a:ext cx="1968600" cy="292500"/>
          </a:xfrm>
          <a:prstGeom prst="rect">
            <a:avLst/>
          </a:prstGeom>
          <a:solidFill>
            <a:schemeClr val="lt1"/>
          </a:solidFill>
          <a:ln cap="flat" cmpd="sng" w="9525">
            <a:solidFill>
              <a:srgbClr val="00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Project Brief Generator </a:t>
            </a:r>
            <a:endParaRPr b="1" sz="700">
              <a:latin typeface="Roboto"/>
              <a:ea typeface="Roboto"/>
              <a:cs typeface="Roboto"/>
              <a:sym typeface="Roboto"/>
            </a:endParaRPr>
          </a:p>
        </p:txBody>
      </p:sp>
      <p:sp>
        <p:nvSpPr>
          <p:cNvPr id="91" name="Google Shape;91;p15"/>
          <p:cNvSpPr txBox="1"/>
          <p:nvPr/>
        </p:nvSpPr>
        <p:spPr>
          <a:xfrm>
            <a:off x="6653775" y="1880157"/>
            <a:ext cx="1968600" cy="292500"/>
          </a:xfrm>
          <a:prstGeom prst="rect">
            <a:avLst/>
          </a:prstGeom>
          <a:solidFill>
            <a:schemeClr val="lt1"/>
          </a:solidFill>
          <a:ln cap="flat" cmpd="sng" w="9525">
            <a:solidFill>
              <a:srgbClr val="00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Improved Team 360 Authoring &amp; App UI </a:t>
            </a:r>
            <a:endParaRPr b="1" sz="700">
              <a:latin typeface="Roboto"/>
              <a:ea typeface="Roboto"/>
              <a:cs typeface="Roboto"/>
              <a:sym typeface="Roboto"/>
            </a:endParaRPr>
          </a:p>
        </p:txBody>
      </p:sp>
      <p:sp>
        <p:nvSpPr>
          <p:cNvPr id="92" name="Google Shape;92;p15"/>
          <p:cNvSpPr txBox="1"/>
          <p:nvPr/>
        </p:nvSpPr>
        <p:spPr>
          <a:xfrm rot="-5400000">
            <a:off x="-1559975" y="2445450"/>
            <a:ext cx="3651600" cy="276900"/>
          </a:xfrm>
          <a:prstGeom prst="rect">
            <a:avLst/>
          </a:prstGeom>
          <a:solidFill>
            <a:srgbClr val="FFF2CC"/>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600">
                <a:latin typeface="Roboto"/>
                <a:ea typeface="Roboto"/>
                <a:cs typeface="Roboto"/>
                <a:sym typeface="Roboto"/>
              </a:rPr>
              <a:t>PLATFORM</a:t>
            </a:r>
            <a:endParaRPr b="1" sz="600">
              <a:latin typeface="Roboto"/>
              <a:ea typeface="Roboto"/>
              <a:cs typeface="Roboto"/>
              <a:sym typeface="Roboto"/>
            </a:endParaRPr>
          </a:p>
        </p:txBody>
      </p:sp>
      <p:sp>
        <p:nvSpPr>
          <p:cNvPr id="93" name="Google Shape;93;p15"/>
          <p:cNvSpPr txBox="1"/>
          <p:nvPr/>
        </p:nvSpPr>
        <p:spPr>
          <a:xfrm>
            <a:off x="458375" y="367650"/>
            <a:ext cx="1985100" cy="3078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Roboto Black"/>
                <a:ea typeface="Roboto Black"/>
                <a:cs typeface="Roboto Black"/>
                <a:sym typeface="Roboto Black"/>
              </a:rPr>
              <a:t>2025 Jan-Mar</a:t>
            </a:r>
            <a:endParaRPr sz="800">
              <a:latin typeface="Roboto Black"/>
              <a:ea typeface="Roboto Black"/>
              <a:cs typeface="Roboto Black"/>
              <a:sym typeface="Roboto Black"/>
            </a:endParaRPr>
          </a:p>
        </p:txBody>
      </p:sp>
      <p:sp>
        <p:nvSpPr>
          <p:cNvPr id="94" name="Google Shape;94;p15"/>
          <p:cNvSpPr txBox="1"/>
          <p:nvPr/>
        </p:nvSpPr>
        <p:spPr>
          <a:xfrm>
            <a:off x="6640200" y="2602550"/>
            <a:ext cx="1968600" cy="292500"/>
          </a:xfrm>
          <a:prstGeom prst="rect">
            <a:avLst/>
          </a:prstGeom>
          <a:solidFill>
            <a:schemeClr val="lt1"/>
          </a:solidFill>
          <a:ln cap="flat" cmpd="sng" w="9525">
            <a:solidFill>
              <a:srgbClr val="00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Slack to Production inc. chat integration</a:t>
            </a:r>
            <a:endParaRPr b="1" sz="700">
              <a:latin typeface="Roboto"/>
              <a:ea typeface="Roboto"/>
              <a:cs typeface="Roboto"/>
              <a:sym typeface="Roboto"/>
            </a:endParaRPr>
          </a:p>
        </p:txBody>
      </p:sp>
      <p:sp>
        <p:nvSpPr>
          <p:cNvPr id="95" name="Google Shape;95;p15"/>
          <p:cNvSpPr txBox="1"/>
          <p:nvPr/>
        </p:nvSpPr>
        <p:spPr>
          <a:xfrm>
            <a:off x="3032325" y="4708492"/>
            <a:ext cx="29148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solidFill>
                  <a:srgbClr val="FF0000"/>
                </a:solidFill>
                <a:latin typeface="Roboto Medium"/>
                <a:ea typeface="Roboto Medium"/>
                <a:cs typeface="Roboto Medium"/>
                <a:sym typeface="Roboto Medium"/>
              </a:rPr>
              <a:t>Roadmap subject to Adjustment. Strictly commercial in confidence</a:t>
            </a:r>
            <a:endParaRPr sz="1100">
              <a:solidFill>
                <a:srgbClr val="FF0000"/>
              </a:solidFill>
              <a:latin typeface="Roboto Medium"/>
              <a:ea typeface="Roboto Medium"/>
              <a:cs typeface="Roboto Medium"/>
              <a:sym typeface="Roboto Medium"/>
            </a:endParaRPr>
          </a:p>
        </p:txBody>
      </p:sp>
      <p:sp>
        <p:nvSpPr>
          <p:cNvPr id="96" name="Google Shape;96;p15"/>
          <p:cNvSpPr txBox="1"/>
          <p:nvPr/>
        </p:nvSpPr>
        <p:spPr>
          <a:xfrm>
            <a:off x="1882050" y="4455225"/>
            <a:ext cx="5379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solidFill>
                  <a:schemeClr val="dk1"/>
                </a:solidFill>
              </a:rPr>
              <a:t>Color Key:</a:t>
            </a:r>
            <a:r>
              <a:rPr b="1" lang="en" sz="800">
                <a:solidFill>
                  <a:schemeClr val="accent4"/>
                </a:solidFill>
              </a:rPr>
              <a:t>    </a:t>
            </a:r>
            <a:r>
              <a:rPr b="1" lang="en" sz="800">
                <a:solidFill>
                  <a:srgbClr val="6AA84F"/>
                </a:solidFill>
              </a:rPr>
              <a:t>Complete</a:t>
            </a:r>
            <a:r>
              <a:rPr b="1" lang="en" sz="800">
                <a:solidFill>
                  <a:schemeClr val="accent4"/>
                </a:solidFill>
              </a:rPr>
              <a:t>     </a:t>
            </a:r>
            <a:r>
              <a:rPr b="1" lang="en" sz="800">
                <a:solidFill>
                  <a:srgbClr val="45818E"/>
                </a:solidFill>
              </a:rPr>
              <a:t>In Development</a:t>
            </a:r>
            <a:r>
              <a:rPr b="1" lang="en" sz="800">
                <a:solidFill>
                  <a:schemeClr val="accent4"/>
                </a:solidFill>
              </a:rPr>
              <a:t>    Planning     </a:t>
            </a:r>
            <a:r>
              <a:rPr b="1" lang="en" sz="800">
                <a:solidFill>
                  <a:srgbClr val="999999"/>
                </a:solidFill>
              </a:rPr>
              <a:t>Maintenance</a:t>
            </a:r>
            <a:endParaRPr b="1" sz="800">
              <a:solidFill>
                <a:srgbClr val="999999"/>
              </a:solidFill>
            </a:endParaRPr>
          </a:p>
        </p:txBody>
      </p:sp>
      <p:sp>
        <p:nvSpPr>
          <p:cNvPr id="97" name="Google Shape;97;p15"/>
          <p:cNvSpPr txBox="1"/>
          <p:nvPr/>
        </p:nvSpPr>
        <p:spPr>
          <a:xfrm>
            <a:off x="6645075" y="1519650"/>
            <a:ext cx="1985100" cy="292500"/>
          </a:xfrm>
          <a:prstGeom prst="rect">
            <a:avLst/>
          </a:prstGeom>
          <a:solidFill>
            <a:schemeClr val="lt1"/>
          </a:solidFill>
          <a:ln cap="flat" cmpd="sng" w="9525">
            <a:solidFill>
              <a:srgbClr val="00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On-device Notifications</a:t>
            </a:r>
            <a:endParaRPr b="1" sz="700">
              <a:latin typeface="Roboto"/>
              <a:ea typeface="Roboto"/>
              <a:cs typeface="Roboto"/>
              <a:sym typeface="Roboto"/>
            </a:endParaRPr>
          </a:p>
        </p:txBody>
      </p:sp>
      <p:sp>
        <p:nvSpPr>
          <p:cNvPr id="98" name="Google Shape;98;p15"/>
          <p:cNvSpPr txBox="1"/>
          <p:nvPr/>
        </p:nvSpPr>
        <p:spPr>
          <a:xfrm>
            <a:off x="6682127" y="3363688"/>
            <a:ext cx="1746000" cy="292500"/>
          </a:xfrm>
          <a:prstGeom prst="rect">
            <a:avLst/>
          </a:prstGeom>
          <a:solidFill>
            <a:srgbClr val="A2C4C9"/>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H5P Support</a:t>
            </a:r>
            <a:endParaRPr b="1" sz="700">
              <a:latin typeface="Roboto"/>
              <a:ea typeface="Roboto"/>
              <a:cs typeface="Roboto"/>
              <a:sym typeface="Roboto"/>
            </a:endParaRPr>
          </a:p>
        </p:txBody>
      </p:sp>
      <p:sp>
        <p:nvSpPr>
          <p:cNvPr id="99" name="Google Shape;99;p15"/>
          <p:cNvSpPr txBox="1"/>
          <p:nvPr/>
        </p:nvSpPr>
        <p:spPr>
          <a:xfrm>
            <a:off x="6645075" y="2241350"/>
            <a:ext cx="1968600" cy="292500"/>
          </a:xfrm>
          <a:prstGeom prst="rect">
            <a:avLst/>
          </a:prstGeom>
          <a:solidFill>
            <a:schemeClr val="lt1"/>
          </a:solidFill>
          <a:ln cap="flat" cmpd="sng" w="9525">
            <a:solidFill>
              <a:srgbClr val="00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Admin Chat/Activity Notification Emails</a:t>
            </a:r>
            <a:endParaRPr b="1" sz="700">
              <a:latin typeface="Roboto"/>
              <a:ea typeface="Roboto"/>
              <a:cs typeface="Roboto"/>
              <a:sym typeface="Roboto"/>
            </a:endParaRPr>
          </a:p>
        </p:txBody>
      </p:sp>
      <p:sp>
        <p:nvSpPr>
          <p:cNvPr id="100" name="Google Shape;100;p15"/>
          <p:cNvSpPr txBox="1"/>
          <p:nvPr/>
        </p:nvSpPr>
        <p:spPr>
          <a:xfrm>
            <a:off x="4583625" y="1506600"/>
            <a:ext cx="1985100" cy="4002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Rebuild Progress Tracking screens - Terence, Wes</a:t>
            </a:r>
            <a:endParaRPr b="1" sz="700">
              <a:latin typeface="Roboto"/>
              <a:ea typeface="Roboto"/>
              <a:cs typeface="Roboto"/>
              <a:sym typeface="Roboto"/>
            </a:endParaRPr>
          </a:p>
        </p:txBody>
      </p:sp>
      <p:sp>
        <p:nvSpPr>
          <p:cNvPr id="101" name="Google Shape;101;p15"/>
          <p:cNvSpPr txBox="1"/>
          <p:nvPr/>
        </p:nvSpPr>
        <p:spPr>
          <a:xfrm>
            <a:off x="457300" y="3753437"/>
            <a:ext cx="8184600" cy="292500"/>
          </a:xfrm>
          <a:prstGeom prst="rect">
            <a:avLst/>
          </a:prstGeom>
          <a:solidFill>
            <a:srgbClr val="CCCC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Bug Fixes &amp; Cost Controls</a:t>
            </a:r>
            <a:endParaRPr b="1" sz="700">
              <a:latin typeface="Roboto"/>
              <a:ea typeface="Roboto"/>
              <a:cs typeface="Roboto"/>
              <a:sym typeface="Roboto"/>
            </a:endParaRPr>
          </a:p>
        </p:txBody>
      </p:sp>
      <p:sp>
        <p:nvSpPr>
          <p:cNvPr id="102" name="Google Shape;102;p15"/>
          <p:cNvSpPr txBox="1"/>
          <p:nvPr/>
        </p:nvSpPr>
        <p:spPr>
          <a:xfrm>
            <a:off x="2868150" y="-33025"/>
            <a:ext cx="3407700" cy="48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latin typeface="Open Sans"/>
                <a:ea typeface="Open Sans"/>
                <a:cs typeface="Open Sans"/>
                <a:sym typeface="Open Sans"/>
              </a:rPr>
              <a:t>Roadmap</a:t>
            </a:r>
            <a:endParaRPr sz="1800">
              <a:solidFill>
                <a:schemeClr val="dk2"/>
              </a:solidFill>
              <a:latin typeface="Open Sans"/>
              <a:ea typeface="Open Sans"/>
              <a:cs typeface="Open Sans"/>
              <a:sym typeface="Open Sans"/>
            </a:endParaRPr>
          </a:p>
        </p:txBody>
      </p:sp>
      <p:sp>
        <p:nvSpPr>
          <p:cNvPr id="103" name="Google Shape;103;p15"/>
          <p:cNvSpPr txBox="1"/>
          <p:nvPr/>
        </p:nvSpPr>
        <p:spPr>
          <a:xfrm>
            <a:off x="453263" y="4067750"/>
            <a:ext cx="8184600" cy="292500"/>
          </a:xfrm>
          <a:prstGeom prst="rect">
            <a:avLst/>
          </a:prstGeom>
          <a:solidFill>
            <a:srgbClr val="CCCC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Test Automation - UI testing &amp; Automated Documentation, Cybersecurity Automation, AI Automation</a:t>
            </a:r>
            <a:endParaRPr b="1" sz="700">
              <a:latin typeface="Roboto"/>
              <a:ea typeface="Roboto"/>
              <a:cs typeface="Roboto"/>
              <a:sym typeface="Roboto"/>
            </a:endParaRPr>
          </a:p>
        </p:txBody>
      </p:sp>
      <p:sp>
        <p:nvSpPr>
          <p:cNvPr id="104" name="Google Shape;104;p15"/>
          <p:cNvSpPr txBox="1"/>
          <p:nvPr/>
        </p:nvSpPr>
        <p:spPr>
          <a:xfrm>
            <a:off x="458375" y="3363700"/>
            <a:ext cx="2595300" cy="2925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GDPR - deletion reporting, cleanup, audit</a:t>
            </a:r>
            <a:endParaRPr b="1" sz="700">
              <a:latin typeface="Roboto"/>
              <a:ea typeface="Roboto"/>
              <a:cs typeface="Roboto"/>
              <a:sym typeface="Roboto"/>
            </a:endParaRPr>
          </a:p>
        </p:txBody>
      </p:sp>
      <p:sp>
        <p:nvSpPr>
          <p:cNvPr id="105" name="Google Shape;105;p15"/>
          <p:cNvSpPr txBox="1"/>
          <p:nvPr/>
        </p:nvSpPr>
        <p:spPr>
          <a:xfrm>
            <a:off x="1868925" y="752350"/>
            <a:ext cx="4699800" cy="290400"/>
          </a:xfrm>
          <a:prstGeom prst="rect">
            <a:avLst/>
          </a:prstGeom>
          <a:solidFill>
            <a:srgbClr val="A4C2F4"/>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P2 New Report System</a:t>
            </a:r>
            <a:endParaRPr b="1" sz="700">
              <a:latin typeface="Roboto"/>
              <a:ea typeface="Roboto"/>
              <a:cs typeface="Roboto"/>
              <a:sym typeface="Roboto"/>
            </a:endParaRPr>
          </a:p>
        </p:txBody>
      </p:sp>
      <p:sp>
        <p:nvSpPr>
          <p:cNvPr id="106" name="Google Shape;106;p15"/>
          <p:cNvSpPr txBox="1"/>
          <p:nvPr/>
        </p:nvSpPr>
        <p:spPr>
          <a:xfrm>
            <a:off x="6645068" y="761850"/>
            <a:ext cx="1979400" cy="292500"/>
          </a:xfrm>
          <a:prstGeom prst="rect">
            <a:avLst/>
          </a:prstGeom>
          <a:solidFill>
            <a:schemeClr val="lt1"/>
          </a:solidFill>
          <a:ln cap="flat" cmpd="sng" w="9525">
            <a:solidFill>
              <a:srgbClr val="00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Compliance/Time Tracking Assessments</a:t>
            </a:r>
            <a:endParaRPr b="1" sz="700">
              <a:latin typeface="Roboto"/>
              <a:ea typeface="Roboto"/>
              <a:cs typeface="Roboto"/>
              <a:sym typeface="Roboto"/>
            </a:endParaRPr>
          </a:p>
        </p:txBody>
      </p:sp>
      <p:sp>
        <p:nvSpPr>
          <p:cNvPr id="107" name="Google Shape;107;p15"/>
          <p:cNvSpPr txBox="1"/>
          <p:nvPr/>
        </p:nvSpPr>
        <p:spPr>
          <a:xfrm>
            <a:off x="3813125" y="2263054"/>
            <a:ext cx="1229400" cy="290400"/>
          </a:xfrm>
          <a:prstGeom prst="rect">
            <a:avLst/>
          </a:prstGeom>
          <a:solidFill>
            <a:srgbClr val="B6D7A8"/>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Marketing Chatbot</a:t>
            </a:r>
            <a:endParaRPr b="1" sz="700">
              <a:latin typeface="Roboto"/>
              <a:ea typeface="Roboto"/>
              <a:cs typeface="Roboto"/>
              <a:sym typeface="Roboto"/>
            </a:endParaRPr>
          </a:p>
        </p:txBody>
      </p:sp>
      <p:sp>
        <p:nvSpPr>
          <p:cNvPr id="108" name="Google Shape;108;p15"/>
          <p:cNvSpPr txBox="1"/>
          <p:nvPr/>
        </p:nvSpPr>
        <p:spPr>
          <a:xfrm>
            <a:off x="6645074" y="2973938"/>
            <a:ext cx="1996800" cy="292500"/>
          </a:xfrm>
          <a:prstGeom prst="rect">
            <a:avLst/>
          </a:prstGeom>
          <a:noFill/>
          <a:ln cap="flat" cmpd="sng" w="9525">
            <a:solidFill>
              <a:srgbClr val="0E0E0E"/>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Product Catalog MVP</a:t>
            </a:r>
            <a:endParaRPr b="1" sz="700">
              <a:latin typeface="Roboto"/>
              <a:ea typeface="Roboto"/>
              <a:cs typeface="Roboto"/>
              <a:sym typeface="Roboto"/>
            </a:endParaRPr>
          </a:p>
        </p:txBody>
      </p:sp>
      <p:sp>
        <p:nvSpPr>
          <p:cNvPr id="109" name="Google Shape;109;p15"/>
          <p:cNvSpPr txBox="1"/>
          <p:nvPr/>
        </p:nvSpPr>
        <p:spPr>
          <a:xfrm>
            <a:off x="5253562" y="2240800"/>
            <a:ext cx="1318200" cy="292500"/>
          </a:xfrm>
          <a:prstGeom prst="rect">
            <a:avLst/>
          </a:prstGeom>
          <a:solidFill>
            <a:srgbClr val="A2C4C9"/>
          </a:solidFill>
          <a:ln cap="flat" cmpd="sng" w="9525">
            <a:solidFill>
              <a:srgbClr val="00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App UX - Page by group</a:t>
            </a:r>
            <a:endParaRPr b="1" sz="700">
              <a:latin typeface="Roboto"/>
              <a:ea typeface="Roboto"/>
              <a:cs typeface="Roboto"/>
              <a:sym typeface="Roboto"/>
            </a:endParaRPr>
          </a:p>
        </p:txBody>
      </p:sp>
      <p:sp>
        <p:nvSpPr>
          <p:cNvPr id="110" name="Google Shape;110;p15"/>
          <p:cNvSpPr txBox="1"/>
          <p:nvPr/>
        </p:nvSpPr>
        <p:spPr>
          <a:xfrm>
            <a:off x="4619500" y="1862300"/>
            <a:ext cx="1996800" cy="2904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Feedback Admin: Paginate &amp; Fix</a:t>
            </a:r>
            <a:endParaRPr b="1" sz="700">
              <a:latin typeface="Roboto"/>
              <a:ea typeface="Roboto"/>
              <a:cs typeface="Roboto"/>
              <a:sym typeface="Roboto"/>
            </a:endParaRPr>
          </a:p>
        </p:txBody>
      </p:sp>
      <p:sp>
        <p:nvSpPr>
          <p:cNvPr id="111" name="Google Shape;111;p15"/>
          <p:cNvSpPr txBox="1"/>
          <p:nvPr/>
        </p:nvSpPr>
        <p:spPr>
          <a:xfrm>
            <a:off x="5182425" y="2590113"/>
            <a:ext cx="1386300" cy="2925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Progress: view times</a:t>
            </a:r>
            <a:endParaRPr b="1" sz="700">
              <a:latin typeface="Roboto"/>
              <a:ea typeface="Roboto"/>
              <a:cs typeface="Roboto"/>
              <a:sym typeface="Roboto"/>
            </a:endParaRPr>
          </a:p>
        </p:txBody>
      </p:sp>
      <p:sp>
        <p:nvSpPr>
          <p:cNvPr id="112" name="Google Shape;112;p15"/>
          <p:cNvSpPr txBox="1"/>
          <p:nvPr/>
        </p:nvSpPr>
        <p:spPr>
          <a:xfrm>
            <a:off x="2521175" y="1121750"/>
            <a:ext cx="4047600" cy="292500"/>
          </a:xfrm>
          <a:prstGeom prst="rect">
            <a:avLst/>
          </a:prstGeom>
          <a:solidFill>
            <a:srgbClr val="A4C2F4"/>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AI System Rebuild</a:t>
            </a:r>
            <a:endParaRPr b="1" sz="700">
              <a:latin typeface="Roboto"/>
              <a:ea typeface="Roboto"/>
              <a:cs typeface="Roboto"/>
              <a:sym typeface="Roboto"/>
            </a:endParaRPr>
          </a:p>
        </p:txBody>
      </p:sp>
      <p:sp>
        <p:nvSpPr>
          <p:cNvPr id="113" name="Google Shape;113;p15"/>
          <p:cNvSpPr txBox="1"/>
          <p:nvPr/>
        </p:nvSpPr>
        <p:spPr>
          <a:xfrm>
            <a:off x="6748475" y="3095025"/>
            <a:ext cx="1902900" cy="290400"/>
          </a:xfrm>
          <a:prstGeom prst="rect">
            <a:avLst/>
          </a:prstGeom>
          <a:solidFill>
            <a:srgbClr val="FFF2CC"/>
          </a:solidFill>
          <a:ln cap="flat" cmpd="sng" w="9525">
            <a:solidFill>
              <a:srgbClr val="00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WAG 2.2 Admin UI</a:t>
            </a:r>
            <a:endParaRPr b="1" sz="700">
              <a:latin typeface="Roboto"/>
              <a:ea typeface="Roboto"/>
              <a:cs typeface="Roboto"/>
              <a:sym typeface="Roboto"/>
            </a:endParaRPr>
          </a:p>
        </p:txBody>
      </p:sp>
      <p:sp>
        <p:nvSpPr>
          <p:cNvPr id="114" name="Google Shape;114;p15"/>
          <p:cNvSpPr txBox="1"/>
          <p:nvPr/>
        </p:nvSpPr>
        <p:spPr>
          <a:xfrm>
            <a:off x="477500" y="752350"/>
            <a:ext cx="1318200" cy="2925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New Report Prototype</a:t>
            </a:r>
            <a:endParaRPr b="1" sz="700">
              <a:latin typeface="Roboto"/>
              <a:ea typeface="Roboto"/>
              <a:cs typeface="Roboto"/>
              <a:sym typeface="Roboto"/>
            </a:endParaRPr>
          </a:p>
        </p:txBody>
      </p:sp>
      <p:sp>
        <p:nvSpPr>
          <p:cNvPr id="115" name="Google Shape;115;p15"/>
          <p:cNvSpPr txBox="1"/>
          <p:nvPr/>
        </p:nvSpPr>
        <p:spPr>
          <a:xfrm>
            <a:off x="482625" y="2955525"/>
            <a:ext cx="1229400" cy="2925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Filestack Migration App</a:t>
            </a:r>
            <a:endParaRPr b="1" sz="700">
              <a:latin typeface="Roboto"/>
              <a:ea typeface="Roboto"/>
              <a:cs typeface="Roboto"/>
              <a:sym typeface="Roboto"/>
            </a:endParaRPr>
          </a:p>
        </p:txBody>
      </p:sp>
      <p:sp>
        <p:nvSpPr>
          <p:cNvPr id="116" name="Google Shape;116;p15"/>
          <p:cNvSpPr txBox="1"/>
          <p:nvPr/>
        </p:nvSpPr>
        <p:spPr>
          <a:xfrm>
            <a:off x="1816075" y="2594750"/>
            <a:ext cx="1480500" cy="292500"/>
          </a:xfrm>
          <a:prstGeom prst="rect">
            <a:avLst/>
          </a:prstGeom>
          <a:solidFill>
            <a:srgbClr val="B6D7A8"/>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Filestack Migration Admin</a:t>
            </a:r>
            <a:endParaRPr b="1" sz="700">
              <a:latin typeface="Roboto"/>
              <a:ea typeface="Roboto"/>
              <a:cs typeface="Roboto"/>
              <a:sym typeface="Roboto"/>
            </a:endParaRPr>
          </a:p>
        </p:txBody>
      </p:sp>
      <p:sp>
        <p:nvSpPr>
          <p:cNvPr id="117" name="Google Shape;117;p15"/>
          <p:cNvSpPr txBox="1"/>
          <p:nvPr/>
        </p:nvSpPr>
        <p:spPr>
          <a:xfrm>
            <a:off x="495463" y="2590425"/>
            <a:ext cx="1229400" cy="2925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Pulse Check Traffic Light</a:t>
            </a:r>
            <a:endParaRPr b="1" sz="700">
              <a:latin typeface="Roboto"/>
              <a:ea typeface="Roboto"/>
              <a:cs typeface="Roboto"/>
              <a:sym typeface="Roboto"/>
            </a:endParaRPr>
          </a:p>
        </p:txBody>
      </p:sp>
      <p:sp>
        <p:nvSpPr>
          <p:cNvPr id="118" name="Google Shape;118;p15"/>
          <p:cNvSpPr txBox="1"/>
          <p:nvPr/>
        </p:nvSpPr>
        <p:spPr>
          <a:xfrm>
            <a:off x="488899" y="2225350"/>
            <a:ext cx="1828200" cy="2925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Unlock requirements</a:t>
            </a:r>
            <a:endParaRPr b="1" sz="700">
              <a:latin typeface="Roboto"/>
              <a:ea typeface="Roboto"/>
              <a:cs typeface="Roboto"/>
              <a:sym typeface="Roboto"/>
            </a:endParaRPr>
          </a:p>
        </p:txBody>
      </p:sp>
      <p:sp>
        <p:nvSpPr>
          <p:cNvPr id="119" name="Google Shape;119;p15"/>
          <p:cNvSpPr txBox="1"/>
          <p:nvPr/>
        </p:nvSpPr>
        <p:spPr>
          <a:xfrm>
            <a:off x="521900" y="1853938"/>
            <a:ext cx="1229400" cy="2925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Activity Bookmarking</a:t>
            </a:r>
            <a:endParaRPr b="1" sz="700">
              <a:latin typeface="Roboto"/>
              <a:ea typeface="Roboto"/>
              <a:cs typeface="Roboto"/>
              <a:sym typeface="Roboto"/>
            </a:endParaRPr>
          </a:p>
        </p:txBody>
      </p:sp>
      <p:sp>
        <p:nvSpPr>
          <p:cNvPr id="120" name="Google Shape;120;p15"/>
          <p:cNvSpPr txBox="1"/>
          <p:nvPr/>
        </p:nvSpPr>
        <p:spPr>
          <a:xfrm>
            <a:off x="3296575" y="2969575"/>
            <a:ext cx="1229400" cy="2925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New Documentation Site</a:t>
            </a:r>
            <a:endParaRPr b="1" sz="700">
              <a:latin typeface="Roboto"/>
              <a:ea typeface="Roboto"/>
              <a:cs typeface="Roboto"/>
              <a:sym typeface="Roboto"/>
            </a:endParaRPr>
          </a:p>
        </p:txBody>
      </p:sp>
      <p:sp>
        <p:nvSpPr>
          <p:cNvPr id="121" name="Google Shape;121;p15"/>
          <p:cNvSpPr txBox="1"/>
          <p:nvPr/>
        </p:nvSpPr>
        <p:spPr>
          <a:xfrm>
            <a:off x="4619500" y="2969588"/>
            <a:ext cx="1229400" cy="2904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Security Audit / R&amp;D Tool</a:t>
            </a:r>
            <a:endParaRPr b="1" sz="700">
              <a:latin typeface="Roboto"/>
              <a:ea typeface="Roboto"/>
              <a:cs typeface="Roboto"/>
              <a:sym typeface="Roboto"/>
            </a:endParaRPr>
          </a:p>
        </p:txBody>
      </p:sp>
      <p:sp>
        <p:nvSpPr>
          <p:cNvPr id="122" name="Google Shape;122;p15"/>
          <p:cNvSpPr txBox="1"/>
          <p:nvPr/>
        </p:nvSpPr>
        <p:spPr>
          <a:xfrm>
            <a:off x="3387775" y="2600750"/>
            <a:ext cx="1828200" cy="2904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P3 prototype</a:t>
            </a:r>
            <a:endParaRPr b="1" sz="700">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id="127" name="Google Shape;127;p16"/>
          <p:cNvPicPr preferRelativeResize="0"/>
          <p:nvPr/>
        </p:nvPicPr>
        <p:blipFill>
          <a:blip r:embed="rId3">
            <a:alphaModFix/>
          </a:blip>
          <a:stretch>
            <a:fillRect/>
          </a:stretch>
        </p:blipFill>
        <p:spPr>
          <a:xfrm>
            <a:off x="522175" y="404875"/>
            <a:ext cx="1842275" cy="433875"/>
          </a:xfrm>
          <a:prstGeom prst="rect">
            <a:avLst/>
          </a:prstGeom>
          <a:noFill/>
          <a:ln>
            <a:noFill/>
          </a:ln>
        </p:spPr>
      </p:pic>
      <p:sp>
        <p:nvSpPr>
          <p:cNvPr id="128" name="Google Shape;128;p16"/>
          <p:cNvSpPr txBox="1"/>
          <p:nvPr/>
        </p:nvSpPr>
        <p:spPr>
          <a:xfrm>
            <a:off x="605125" y="1955125"/>
            <a:ext cx="3720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August</a:t>
            </a:r>
            <a:r>
              <a:rPr b="1" lang="en"/>
              <a:t> 2024</a:t>
            </a:r>
            <a:endParaRPr b="1"/>
          </a:p>
        </p:txBody>
      </p:sp>
      <p:sp>
        <p:nvSpPr>
          <p:cNvPr id="129" name="Google Shape;129;p16"/>
          <p:cNvSpPr txBox="1"/>
          <p:nvPr/>
        </p:nvSpPr>
        <p:spPr>
          <a:xfrm>
            <a:off x="605125" y="2355325"/>
            <a:ext cx="76401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300"/>
              <a:t>Platform Roadmap 202</a:t>
            </a:r>
            <a:r>
              <a:rPr b="1" lang="en" sz="2300"/>
              <a:t>4</a:t>
            </a:r>
            <a:r>
              <a:rPr b="1" lang="en" sz="2300"/>
              <a:t> </a:t>
            </a:r>
            <a:r>
              <a:rPr b="1" lang="en" sz="2300"/>
              <a:t>2nd</a:t>
            </a:r>
            <a:r>
              <a:rPr b="1" lang="en" sz="2300"/>
              <a:t> Half</a:t>
            </a:r>
            <a:endParaRPr b="1" sz="23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7"/>
          <p:cNvSpPr txBox="1"/>
          <p:nvPr/>
        </p:nvSpPr>
        <p:spPr>
          <a:xfrm>
            <a:off x="458375" y="3400000"/>
            <a:ext cx="4045200" cy="292500"/>
          </a:xfrm>
          <a:prstGeom prst="rect">
            <a:avLst/>
          </a:prstGeom>
          <a:solidFill>
            <a:srgbClr val="CCCC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Global Login - MFA, Security, UI</a:t>
            </a:r>
            <a:endParaRPr b="1" sz="700">
              <a:latin typeface="Roboto"/>
              <a:ea typeface="Roboto"/>
              <a:cs typeface="Roboto"/>
              <a:sym typeface="Roboto"/>
            </a:endParaRPr>
          </a:p>
        </p:txBody>
      </p:sp>
      <p:sp>
        <p:nvSpPr>
          <p:cNvPr id="135" name="Google Shape;135;p17"/>
          <p:cNvSpPr txBox="1"/>
          <p:nvPr/>
        </p:nvSpPr>
        <p:spPr>
          <a:xfrm>
            <a:off x="2521175" y="367650"/>
            <a:ext cx="1968600" cy="3078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Roboto Black"/>
                <a:ea typeface="Roboto Black"/>
                <a:cs typeface="Roboto Black"/>
                <a:sym typeface="Roboto Black"/>
              </a:rPr>
              <a:t>2024 Oct - Dec</a:t>
            </a:r>
            <a:endParaRPr sz="800">
              <a:latin typeface="Roboto Black"/>
              <a:ea typeface="Roboto Black"/>
              <a:cs typeface="Roboto Black"/>
              <a:sym typeface="Roboto Black"/>
            </a:endParaRPr>
          </a:p>
        </p:txBody>
      </p:sp>
      <p:sp>
        <p:nvSpPr>
          <p:cNvPr id="136" name="Google Shape;136;p17"/>
          <p:cNvSpPr txBox="1"/>
          <p:nvPr/>
        </p:nvSpPr>
        <p:spPr>
          <a:xfrm>
            <a:off x="4571993" y="367660"/>
            <a:ext cx="1996800" cy="3078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Roboto Black"/>
                <a:ea typeface="Roboto Black"/>
                <a:cs typeface="Roboto Black"/>
                <a:sym typeface="Roboto Black"/>
              </a:rPr>
              <a:t>2025 Jan - Mar</a:t>
            </a:r>
            <a:endParaRPr sz="800">
              <a:latin typeface="Roboto Black"/>
              <a:ea typeface="Roboto Black"/>
              <a:cs typeface="Roboto Black"/>
              <a:sym typeface="Roboto Black"/>
            </a:endParaRPr>
          </a:p>
        </p:txBody>
      </p:sp>
      <p:sp>
        <p:nvSpPr>
          <p:cNvPr id="137" name="Google Shape;137;p17"/>
          <p:cNvSpPr txBox="1"/>
          <p:nvPr/>
        </p:nvSpPr>
        <p:spPr>
          <a:xfrm>
            <a:off x="6645075" y="367650"/>
            <a:ext cx="1996800" cy="3078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Roboto Black"/>
                <a:ea typeface="Roboto Black"/>
                <a:cs typeface="Roboto Black"/>
                <a:sym typeface="Roboto Black"/>
              </a:rPr>
              <a:t>Unscheduled</a:t>
            </a:r>
            <a:endParaRPr sz="800">
              <a:latin typeface="Roboto Black"/>
              <a:ea typeface="Roboto Black"/>
              <a:cs typeface="Roboto Black"/>
              <a:sym typeface="Roboto Black"/>
            </a:endParaRPr>
          </a:p>
        </p:txBody>
      </p:sp>
      <p:sp>
        <p:nvSpPr>
          <p:cNvPr id="138" name="Google Shape;138;p17"/>
          <p:cNvSpPr txBox="1"/>
          <p:nvPr/>
        </p:nvSpPr>
        <p:spPr>
          <a:xfrm>
            <a:off x="6657525" y="1140750"/>
            <a:ext cx="1968600" cy="292500"/>
          </a:xfrm>
          <a:prstGeom prst="rect">
            <a:avLst/>
          </a:prstGeom>
          <a:solidFill>
            <a:schemeClr val="lt1"/>
          </a:solidFill>
          <a:ln cap="flat" cmpd="sng" w="9525">
            <a:solidFill>
              <a:srgbClr val="00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Practera Automation </a:t>
            </a:r>
            <a:endParaRPr b="1" sz="700">
              <a:latin typeface="Roboto"/>
              <a:ea typeface="Roboto"/>
              <a:cs typeface="Roboto"/>
              <a:sym typeface="Roboto"/>
            </a:endParaRPr>
          </a:p>
        </p:txBody>
      </p:sp>
      <p:sp>
        <p:nvSpPr>
          <p:cNvPr id="139" name="Google Shape;139;p17"/>
          <p:cNvSpPr txBox="1"/>
          <p:nvPr/>
        </p:nvSpPr>
        <p:spPr>
          <a:xfrm>
            <a:off x="4565574" y="1514350"/>
            <a:ext cx="1968600" cy="2925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Project Brief Generator </a:t>
            </a:r>
            <a:endParaRPr b="1" sz="700">
              <a:latin typeface="Roboto"/>
              <a:ea typeface="Roboto"/>
              <a:cs typeface="Roboto"/>
              <a:sym typeface="Roboto"/>
            </a:endParaRPr>
          </a:p>
        </p:txBody>
      </p:sp>
      <p:sp>
        <p:nvSpPr>
          <p:cNvPr id="140" name="Google Shape;140;p17"/>
          <p:cNvSpPr txBox="1"/>
          <p:nvPr/>
        </p:nvSpPr>
        <p:spPr>
          <a:xfrm>
            <a:off x="6653775" y="1880157"/>
            <a:ext cx="1968600" cy="292500"/>
          </a:xfrm>
          <a:prstGeom prst="rect">
            <a:avLst/>
          </a:prstGeom>
          <a:solidFill>
            <a:schemeClr val="lt1"/>
          </a:solidFill>
          <a:ln cap="flat" cmpd="sng" w="9525">
            <a:solidFill>
              <a:srgbClr val="00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Improved Team 360 Authoring &amp; App UI </a:t>
            </a:r>
            <a:endParaRPr b="1" sz="700">
              <a:latin typeface="Roboto"/>
              <a:ea typeface="Roboto"/>
              <a:cs typeface="Roboto"/>
              <a:sym typeface="Roboto"/>
            </a:endParaRPr>
          </a:p>
        </p:txBody>
      </p:sp>
      <p:sp>
        <p:nvSpPr>
          <p:cNvPr id="141" name="Google Shape;141;p17"/>
          <p:cNvSpPr txBox="1"/>
          <p:nvPr/>
        </p:nvSpPr>
        <p:spPr>
          <a:xfrm rot="-5400000">
            <a:off x="-1559975" y="2445450"/>
            <a:ext cx="3651600" cy="276900"/>
          </a:xfrm>
          <a:prstGeom prst="rect">
            <a:avLst/>
          </a:prstGeom>
          <a:solidFill>
            <a:srgbClr val="FFF2CC"/>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600">
                <a:latin typeface="Roboto"/>
                <a:ea typeface="Roboto"/>
                <a:cs typeface="Roboto"/>
                <a:sym typeface="Roboto"/>
              </a:rPr>
              <a:t>PLATFORM</a:t>
            </a:r>
            <a:endParaRPr b="1" sz="600">
              <a:latin typeface="Roboto"/>
              <a:ea typeface="Roboto"/>
              <a:cs typeface="Roboto"/>
              <a:sym typeface="Roboto"/>
            </a:endParaRPr>
          </a:p>
        </p:txBody>
      </p:sp>
      <p:sp>
        <p:nvSpPr>
          <p:cNvPr id="142" name="Google Shape;142;p17"/>
          <p:cNvSpPr txBox="1"/>
          <p:nvPr/>
        </p:nvSpPr>
        <p:spPr>
          <a:xfrm>
            <a:off x="458375" y="367650"/>
            <a:ext cx="1985100" cy="3078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Roboto Black"/>
                <a:ea typeface="Roboto Black"/>
                <a:cs typeface="Roboto Black"/>
                <a:sym typeface="Roboto Black"/>
              </a:rPr>
              <a:t>2024 July - Sept</a:t>
            </a:r>
            <a:endParaRPr sz="800">
              <a:latin typeface="Roboto Black"/>
              <a:ea typeface="Roboto Black"/>
              <a:cs typeface="Roboto Black"/>
              <a:sym typeface="Roboto Black"/>
            </a:endParaRPr>
          </a:p>
        </p:txBody>
      </p:sp>
      <p:sp>
        <p:nvSpPr>
          <p:cNvPr id="143" name="Google Shape;143;p17"/>
          <p:cNvSpPr txBox="1"/>
          <p:nvPr/>
        </p:nvSpPr>
        <p:spPr>
          <a:xfrm>
            <a:off x="482625" y="761850"/>
            <a:ext cx="1944300" cy="292500"/>
          </a:xfrm>
          <a:prstGeom prst="rect">
            <a:avLst/>
          </a:prstGeom>
          <a:solidFill>
            <a:srgbClr val="B6D7A8"/>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AI - PDFs and PPT files + Assistants</a:t>
            </a:r>
            <a:endParaRPr b="1" sz="700">
              <a:latin typeface="Roboto"/>
              <a:ea typeface="Roboto"/>
              <a:cs typeface="Roboto"/>
              <a:sym typeface="Roboto"/>
            </a:endParaRPr>
          </a:p>
        </p:txBody>
      </p:sp>
      <p:sp>
        <p:nvSpPr>
          <p:cNvPr id="144" name="Google Shape;144;p17"/>
          <p:cNvSpPr txBox="1"/>
          <p:nvPr/>
        </p:nvSpPr>
        <p:spPr>
          <a:xfrm>
            <a:off x="6640200" y="2602550"/>
            <a:ext cx="1968600" cy="292500"/>
          </a:xfrm>
          <a:prstGeom prst="rect">
            <a:avLst/>
          </a:prstGeom>
          <a:solidFill>
            <a:schemeClr val="lt1"/>
          </a:solidFill>
          <a:ln cap="flat" cmpd="sng" w="9525">
            <a:solidFill>
              <a:srgbClr val="00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Slack to Production inc. chat integration</a:t>
            </a:r>
            <a:endParaRPr b="1" sz="700">
              <a:latin typeface="Roboto"/>
              <a:ea typeface="Roboto"/>
              <a:cs typeface="Roboto"/>
              <a:sym typeface="Roboto"/>
            </a:endParaRPr>
          </a:p>
        </p:txBody>
      </p:sp>
      <p:sp>
        <p:nvSpPr>
          <p:cNvPr id="145" name="Google Shape;145;p17"/>
          <p:cNvSpPr txBox="1"/>
          <p:nvPr/>
        </p:nvSpPr>
        <p:spPr>
          <a:xfrm>
            <a:off x="3032325" y="4708492"/>
            <a:ext cx="29148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solidFill>
                  <a:srgbClr val="FF0000"/>
                </a:solidFill>
                <a:latin typeface="Roboto Medium"/>
                <a:ea typeface="Roboto Medium"/>
                <a:cs typeface="Roboto Medium"/>
                <a:sym typeface="Roboto Medium"/>
              </a:rPr>
              <a:t>Roadmap subject to Adjustment. Strictly commercial in confidence</a:t>
            </a:r>
            <a:endParaRPr sz="1100">
              <a:solidFill>
                <a:srgbClr val="FF0000"/>
              </a:solidFill>
              <a:latin typeface="Roboto Medium"/>
              <a:ea typeface="Roboto Medium"/>
              <a:cs typeface="Roboto Medium"/>
              <a:sym typeface="Roboto Medium"/>
            </a:endParaRPr>
          </a:p>
        </p:txBody>
      </p:sp>
      <p:sp>
        <p:nvSpPr>
          <p:cNvPr id="146" name="Google Shape;146;p17"/>
          <p:cNvSpPr txBox="1"/>
          <p:nvPr/>
        </p:nvSpPr>
        <p:spPr>
          <a:xfrm>
            <a:off x="1882050" y="4455225"/>
            <a:ext cx="5379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solidFill>
                  <a:schemeClr val="dk1"/>
                </a:solidFill>
              </a:rPr>
              <a:t>Color Key:</a:t>
            </a:r>
            <a:r>
              <a:rPr b="1" lang="en" sz="800">
                <a:solidFill>
                  <a:schemeClr val="accent4"/>
                </a:solidFill>
              </a:rPr>
              <a:t>    </a:t>
            </a:r>
            <a:r>
              <a:rPr b="1" lang="en" sz="800">
                <a:solidFill>
                  <a:srgbClr val="6AA84F"/>
                </a:solidFill>
              </a:rPr>
              <a:t>Complete</a:t>
            </a:r>
            <a:r>
              <a:rPr b="1" lang="en" sz="800">
                <a:solidFill>
                  <a:schemeClr val="accent4"/>
                </a:solidFill>
              </a:rPr>
              <a:t>     </a:t>
            </a:r>
            <a:r>
              <a:rPr b="1" lang="en" sz="800">
                <a:solidFill>
                  <a:srgbClr val="45818E"/>
                </a:solidFill>
              </a:rPr>
              <a:t>In Development</a:t>
            </a:r>
            <a:r>
              <a:rPr b="1" lang="en" sz="800">
                <a:solidFill>
                  <a:schemeClr val="accent4"/>
                </a:solidFill>
              </a:rPr>
              <a:t>    Planning     </a:t>
            </a:r>
            <a:r>
              <a:rPr b="1" lang="en" sz="800">
                <a:solidFill>
                  <a:srgbClr val="999999"/>
                </a:solidFill>
              </a:rPr>
              <a:t>Maintenance</a:t>
            </a:r>
            <a:endParaRPr b="1" sz="800">
              <a:solidFill>
                <a:srgbClr val="999999"/>
              </a:solidFill>
            </a:endParaRPr>
          </a:p>
        </p:txBody>
      </p:sp>
      <p:sp>
        <p:nvSpPr>
          <p:cNvPr id="147" name="Google Shape;147;p17"/>
          <p:cNvSpPr txBox="1"/>
          <p:nvPr/>
        </p:nvSpPr>
        <p:spPr>
          <a:xfrm>
            <a:off x="6645075" y="1519650"/>
            <a:ext cx="1985100" cy="292500"/>
          </a:xfrm>
          <a:prstGeom prst="rect">
            <a:avLst/>
          </a:prstGeom>
          <a:solidFill>
            <a:schemeClr val="lt1"/>
          </a:solidFill>
          <a:ln cap="flat" cmpd="sng" w="9525">
            <a:solidFill>
              <a:srgbClr val="00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On-device Notifications</a:t>
            </a:r>
            <a:endParaRPr b="1" sz="700">
              <a:latin typeface="Roboto"/>
              <a:ea typeface="Roboto"/>
              <a:cs typeface="Roboto"/>
              <a:sym typeface="Roboto"/>
            </a:endParaRPr>
          </a:p>
        </p:txBody>
      </p:sp>
      <p:sp>
        <p:nvSpPr>
          <p:cNvPr id="148" name="Google Shape;148;p17"/>
          <p:cNvSpPr txBox="1"/>
          <p:nvPr/>
        </p:nvSpPr>
        <p:spPr>
          <a:xfrm>
            <a:off x="4574850" y="2230338"/>
            <a:ext cx="1985100" cy="292500"/>
          </a:xfrm>
          <a:prstGeom prst="rect">
            <a:avLst/>
          </a:prstGeom>
          <a:solidFill>
            <a:srgbClr val="A2C4C9"/>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H5P Support</a:t>
            </a:r>
            <a:endParaRPr b="1" sz="700">
              <a:latin typeface="Roboto"/>
              <a:ea typeface="Roboto"/>
              <a:cs typeface="Roboto"/>
              <a:sym typeface="Roboto"/>
            </a:endParaRPr>
          </a:p>
        </p:txBody>
      </p:sp>
      <p:sp>
        <p:nvSpPr>
          <p:cNvPr id="149" name="Google Shape;149;p17"/>
          <p:cNvSpPr txBox="1"/>
          <p:nvPr/>
        </p:nvSpPr>
        <p:spPr>
          <a:xfrm>
            <a:off x="6645075" y="2241350"/>
            <a:ext cx="1968600" cy="292500"/>
          </a:xfrm>
          <a:prstGeom prst="rect">
            <a:avLst/>
          </a:prstGeom>
          <a:solidFill>
            <a:schemeClr val="lt1"/>
          </a:solidFill>
          <a:ln cap="flat" cmpd="sng" w="9525">
            <a:solidFill>
              <a:srgbClr val="00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Admin Chat/Activity Notification Emails</a:t>
            </a:r>
            <a:endParaRPr b="1" sz="700">
              <a:latin typeface="Roboto"/>
              <a:ea typeface="Roboto"/>
              <a:cs typeface="Roboto"/>
              <a:sym typeface="Roboto"/>
            </a:endParaRPr>
          </a:p>
        </p:txBody>
      </p:sp>
      <p:sp>
        <p:nvSpPr>
          <p:cNvPr id="150" name="Google Shape;150;p17"/>
          <p:cNvSpPr txBox="1"/>
          <p:nvPr/>
        </p:nvSpPr>
        <p:spPr>
          <a:xfrm>
            <a:off x="2499625" y="1891475"/>
            <a:ext cx="1145400" cy="292500"/>
          </a:xfrm>
          <a:prstGeom prst="rect">
            <a:avLst/>
          </a:prstGeom>
          <a:solidFill>
            <a:srgbClr val="B6D7A8"/>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App UX - Pulse checks</a:t>
            </a:r>
            <a:endParaRPr b="1" sz="700">
              <a:latin typeface="Roboto"/>
              <a:ea typeface="Roboto"/>
              <a:cs typeface="Roboto"/>
              <a:sym typeface="Roboto"/>
            </a:endParaRPr>
          </a:p>
        </p:txBody>
      </p:sp>
      <p:sp>
        <p:nvSpPr>
          <p:cNvPr id="151" name="Google Shape;151;p17"/>
          <p:cNvSpPr txBox="1"/>
          <p:nvPr/>
        </p:nvSpPr>
        <p:spPr>
          <a:xfrm>
            <a:off x="4565571" y="2608213"/>
            <a:ext cx="2330100" cy="2925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Rebuild Progress Tracking screens - Terence, Wes</a:t>
            </a:r>
            <a:endParaRPr b="1" sz="700">
              <a:latin typeface="Roboto"/>
              <a:ea typeface="Roboto"/>
              <a:cs typeface="Roboto"/>
              <a:sym typeface="Roboto"/>
            </a:endParaRPr>
          </a:p>
        </p:txBody>
      </p:sp>
      <p:sp>
        <p:nvSpPr>
          <p:cNvPr id="152" name="Google Shape;152;p17"/>
          <p:cNvSpPr txBox="1"/>
          <p:nvPr/>
        </p:nvSpPr>
        <p:spPr>
          <a:xfrm>
            <a:off x="457300" y="3753437"/>
            <a:ext cx="8184600" cy="292500"/>
          </a:xfrm>
          <a:prstGeom prst="rect">
            <a:avLst/>
          </a:prstGeom>
          <a:solidFill>
            <a:srgbClr val="CCCC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Bug Fixes &amp; Cost Controls</a:t>
            </a:r>
            <a:endParaRPr b="1" sz="700">
              <a:latin typeface="Roboto"/>
              <a:ea typeface="Roboto"/>
              <a:cs typeface="Roboto"/>
              <a:sym typeface="Roboto"/>
            </a:endParaRPr>
          </a:p>
        </p:txBody>
      </p:sp>
      <p:sp>
        <p:nvSpPr>
          <p:cNvPr id="153" name="Google Shape;153;p17"/>
          <p:cNvSpPr txBox="1"/>
          <p:nvPr/>
        </p:nvSpPr>
        <p:spPr>
          <a:xfrm>
            <a:off x="2868150" y="-33025"/>
            <a:ext cx="3407700" cy="48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latin typeface="Open Sans"/>
                <a:ea typeface="Open Sans"/>
                <a:cs typeface="Open Sans"/>
                <a:sym typeface="Open Sans"/>
              </a:rPr>
              <a:t>Roadmap</a:t>
            </a:r>
            <a:endParaRPr sz="1800">
              <a:solidFill>
                <a:schemeClr val="dk2"/>
              </a:solidFill>
              <a:latin typeface="Open Sans"/>
              <a:ea typeface="Open Sans"/>
              <a:cs typeface="Open Sans"/>
              <a:sym typeface="Open Sans"/>
            </a:endParaRPr>
          </a:p>
        </p:txBody>
      </p:sp>
      <p:sp>
        <p:nvSpPr>
          <p:cNvPr id="154" name="Google Shape;154;p17"/>
          <p:cNvSpPr txBox="1"/>
          <p:nvPr/>
        </p:nvSpPr>
        <p:spPr>
          <a:xfrm>
            <a:off x="453263" y="4067750"/>
            <a:ext cx="8184600" cy="292500"/>
          </a:xfrm>
          <a:prstGeom prst="rect">
            <a:avLst/>
          </a:prstGeom>
          <a:solidFill>
            <a:srgbClr val="CCCC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Test Automation - UI testing &amp; Automated Documentation, Cybersecurity Automation, AI Automation</a:t>
            </a:r>
            <a:endParaRPr b="1" sz="700">
              <a:latin typeface="Roboto"/>
              <a:ea typeface="Roboto"/>
              <a:cs typeface="Roboto"/>
              <a:sym typeface="Roboto"/>
            </a:endParaRPr>
          </a:p>
        </p:txBody>
      </p:sp>
      <p:sp>
        <p:nvSpPr>
          <p:cNvPr id="155" name="Google Shape;155;p17"/>
          <p:cNvSpPr txBox="1"/>
          <p:nvPr/>
        </p:nvSpPr>
        <p:spPr>
          <a:xfrm>
            <a:off x="4577725" y="3400000"/>
            <a:ext cx="3139800" cy="2925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GDPR - deletion reporting, cleanup, audit</a:t>
            </a:r>
            <a:endParaRPr b="1" sz="700">
              <a:latin typeface="Roboto"/>
              <a:ea typeface="Roboto"/>
              <a:cs typeface="Roboto"/>
              <a:sym typeface="Roboto"/>
            </a:endParaRPr>
          </a:p>
        </p:txBody>
      </p:sp>
      <p:sp>
        <p:nvSpPr>
          <p:cNvPr id="156" name="Google Shape;156;p17"/>
          <p:cNvSpPr txBox="1"/>
          <p:nvPr/>
        </p:nvSpPr>
        <p:spPr>
          <a:xfrm>
            <a:off x="2465900" y="2975075"/>
            <a:ext cx="4045200" cy="2925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Metrics Release Version</a:t>
            </a:r>
            <a:endParaRPr b="1" sz="700">
              <a:latin typeface="Roboto"/>
              <a:ea typeface="Roboto"/>
              <a:cs typeface="Roboto"/>
              <a:sym typeface="Roboto"/>
            </a:endParaRPr>
          </a:p>
        </p:txBody>
      </p:sp>
      <p:sp>
        <p:nvSpPr>
          <p:cNvPr id="157" name="Google Shape;157;p17"/>
          <p:cNvSpPr txBox="1"/>
          <p:nvPr/>
        </p:nvSpPr>
        <p:spPr>
          <a:xfrm>
            <a:off x="1389550" y="1116083"/>
            <a:ext cx="1053600" cy="292500"/>
          </a:xfrm>
          <a:prstGeom prst="rect">
            <a:avLst/>
          </a:prstGeom>
          <a:solidFill>
            <a:srgbClr val="B6D7A8"/>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Product Catalog POC</a:t>
            </a:r>
            <a:endParaRPr b="1" sz="700">
              <a:latin typeface="Roboto"/>
              <a:ea typeface="Roboto"/>
              <a:cs typeface="Roboto"/>
              <a:sym typeface="Roboto"/>
            </a:endParaRPr>
          </a:p>
        </p:txBody>
      </p:sp>
      <p:sp>
        <p:nvSpPr>
          <p:cNvPr id="158" name="Google Shape;158;p17"/>
          <p:cNvSpPr txBox="1"/>
          <p:nvPr/>
        </p:nvSpPr>
        <p:spPr>
          <a:xfrm>
            <a:off x="6645068" y="761850"/>
            <a:ext cx="1979400" cy="292500"/>
          </a:xfrm>
          <a:prstGeom prst="rect">
            <a:avLst/>
          </a:prstGeom>
          <a:solidFill>
            <a:schemeClr val="lt1"/>
          </a:solidFill>
          <a:ln cap="flat" cmpd="sng" w="9525">
            <a:solidFill>
              <a:srgbClr val="00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Compliance/Time Tracking Assessments</a:t>
            </a:r>
            <a:endParaRPr b="1" sz="700">
              <a:latin typeface="Roboto"/>
              <a:ea typeface="Roboto"/>
              <a:cs typeface="Roboto"/>
              <a:sym typeface="Roboto"/>
            </a:endParaRPr>
          </a:p>
        </p:txBody>
      </p:sp>
      <p:sp>
        <p:nvSpPr>
          <p:cNvPr id="159" name="Google Shape;159;p17"/>
          <p:cNvSpPr txBox="1"/>
          <p:nvPr/>
        </p:nvSpPr>
        <p:spPr>
          <a:xfrm>
            <a:off x="1728875" y="2225338"/>
            <a:ext cx="1298700" cy="292500"/>
          </a:xfrm>
          <a:prstGeom prst="rect">
            <a:avLst/>
          </a:prstGeom>
          <a:solidFill>
            <a:srgbClr val="B6D7A8"/>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App UX - Unlock conditions </a:t>
            </a:r>
            <a:endParaRPr b="1" sz="700">
              <a:latin typeface="Roboto"/>
              <a:ea typeface="Roboto"/>
              <a:cs typeface="Roboto"/>
              <a:sym typeface="Roboto"/>
            </a:endParaRPr>
          </a:p>
        </p:txBody>
      </p:sp>
      <p:sp>
        <p:nvSpPr>
          <p:cNvPr id="160" name="Google Shape;160;p17"/>
          <p:cNvSpPr txBox="1"/>
          <p:nvPr/>
        </p:nvSpPr>
        <p:spPr>
          <a:xfrm>
            <a:off x="1728875" y="2600225"/>
            <a:ext cx="1145400" cy="292500"/>
          </a:xfrm>
          <a:prstGeom prst="rect">
            <a:avLst/>
          </a:prstGeom>
          <a:solidFill>
            <a:srgbClr val="A2C4C9"/>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App UX - 1-5 rating</a:t>
            </a:r>
            <a:endParaRPr b="1" sz="700">
              <a:latin typeface="Roboto"/>
              <a:ea typeface="Roboto"/>
              <a:cs typeface="Roboto"/>
              <a:sym typeface="Roboto"/>
            </a:endParaRPr>
          </a:p>
        </p:txBody>
      </p:sp>
      <p:sp>
        <p:nvSpPr>
          <p:cNvPr id="161" name="Google Shape;161;p17"/>
          <p:cNvSpPr txBox="1"/>
          <p:nvPr/>
        </p:nvSpPr>
        <p:spPr>
          <a:xfrm>
            <a:off x="4571999" y="1133338"/>
            <a:ext cx="1996800" cy="2925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Product Catalog MVP</a:t>
            </a:r>
            <a:endParaRPr b="1" sz="700">
              <a:latin typeface="Roboto"/>
              <a:ea typeface="Roboto"/>
              <a:cs typeface="Roboto"/>
              <a:sym typeface="Roboto"/>
            </a:endParaRPr>
          </a:p>
        </p:txBody>
      </p:sp>
      <p:sp>
        <p:nvSpPr>
          <p:cNvPr id="162" name="Google Shape;162;p17"/>
          <p:cNvSpPr txBox="1"/>
          <p:nvPr/>
        </p:nvSpPr>
        <p:spPr>
          <a:xfrm>
            <a:off x="5048975" y="1891475"/>
            <a:ext cx="1480500" cy="292500"/>
          </a:xfrm>
          <a:prstGeom prst="rect">
            <a:avLst/>
          </a:prstGeom>
          <a:solidFill>
            <a:srgbClr val="A2C4C9"/>
          </a:solidFill>
          <a:ln cap="flat" cmpd="sng" w="9525">
            <a:solidFill>
              <a:srgbClr val="00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App UX - Page by group</a:t>
            </a:r>
            <a:endParaRPr b="1" sz="700">
              <a:latin typeface="Roboto"/>
              <a:ea typeface="Roboto"/>
              <a:cs typeface="Roboto"/>
              <a:sym typeface="Roboto"/>
            </a:endParaRPr>
          </a:p>
        </p:txBody>
      </p:sp>
      <p:sp>
        <p:nvSpPr>
          <p:cNvPr id="163" name="Google Shape;163;p17"/>
          <p:cNvSpPr txBox="1"/>
          <p:nvPr/>
        </p:nvSpPr>
        <p:spPr>
          <a:xfrm>
            <a:off x="2938825" y="2600225"/>
            <a:ext cx="1551000" cy="2925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Feedback Admin: Paginate &amp; Fix</a:t>
            </a:r>
            <a:endParaRPr b="1" sz="700">
              <a:latin typeface="Roboto"/>
              <a:ea typeface="Roboto"/>
              <a:cs typeface="Roboto"/>
              <a:sym typeface="Roboto"/>
            </a:endParaRPr>
          </a:p>
        </p:txBody>
      </p:sp>
      <p:sp>
        <p:nvSpPr>
          <p:cNvPr id="164" name="Google Shape;164;p17"/>
          <p:cNvSpPr txBox="1"/>
          <p:nvPr/>
        </p:nvSpPr>
        <p:spPr>
          <a:xfrm>
            <a:off x="3103425" y="2225350"/>
            <a:ext cx="1386300" cy="2925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Progress: view times</a:t>
            </a:r>
            <a:endParaRPr b="1" sz="700">
              <a:latin typeface="Roboto"/>
              <a:ea typeface="Roboto"/>
              <a:cs typeface="Roboto"/>
              <a:sym typeface="Roboto"/>
            </a:endParaRPr>
          </a:p>
        </p:txBody>
      </p:sp>
      <p:sp>
        <p:nvSpPr>
          <p:cNvPr id="165" name="Google Shape;165;p17"/>
          <p:cNvSpPr txBox="1"/>
          <p:nvPr/>
        </p:nvSpPr>
        <p:spPr>
          <a:xfrm>
            <a:off x="3697650" y="1891475"/>
            <a:ext cx="1298700" cy="292500"/>
          </a:xfrm>
          <a:prstGeom prst="rect">
            <a:avLst/>
          </a:prstGeom>
          <a:solidFill>
            <a:srgbClr val="B6D7A8"/>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App UX - Remember where</a:t>
            </a:r>
            <a:endParaRPr b="1" sz="700">
              <a:latin typeface="Roboto"/>
              <a:ea typeface="Roboto"/>
              <a:cs typeface="Roboto"/>
              <a:sym typeface="Roboto"/>
            </a:endParaRPr>
          </a:p>
        </p:txBody>
      </p:sp>
      <p:sp>
        <p:nvSpPr>
          <p:cNvPr id="166" name="Google Shape;166;p17"/>
          <p:cNvSpPr txBox="1"/>
          <p:nvPr/>
        </p:nvSpPr>
        <p:spPr>
          <a:xfrm>
            <a:off x="1060700" y="1891475"/>
            <a:ext cx="1386300" cy="292500"/>
          </a:xfrm>
          <a:prstGeom prst="rect">
            <a:avLst/>
          </a:prstGeom>
          <a:solidFill>
            <a:srgbClr val="B6D7A8"/>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App UX - Required questions</a:t>
            </a:r>
            <a:endParaRPr b="1" sz="700">
              <a:latin typeface="Roboto"/>
              <a:ea typeface="Roboto"/>
              <a:cs typeface="Roboto"/>
              <a:sym typeface="Roboto"/>
            </a:endParaRPr>
          </a:p>
        </p:txBody>
      </p:sp>
      <p:sp>
        <p:nvSpPr>
          <p:cNvPr id="167" name="Google Shape;167;p17"/>
          <p:cNvSpPr txBox="1"/>
          <p:nvPr/>
        </p:nvSpPr>
        <p:spPr>
          <a:xfrm>
            <a:off x="2521175" y="757825"/>
            <a:ext cx="1968600" cy="2925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AI - Custom GPTs with Training Data</a:t>
            </a:r>
            <a:endParaRPr b="1" sz="700">
              <a:latin typeface="Roboto"/>
              <a:ea typeface="Roboto"/>
              <a:cs typeface="Roboto"/>
              <a:sym typeface="Roboto"/>
            </a:endParaRPr>
          </a:p>
        </p:txBody>
      </p:sp>
      <p:sp>
        <p:nvSpPr>
          <p:cNvPr id="168" name="Google Shape;168;p17"/>
          <p:cNvSpPr txBox="1"/>
          <p:nvPr/>
        </p:nvSpPr>
        <p:spPr>
          <a:xfrm>
            <a:off x="482625" y="2975075"/>
            <a:ext cx="1944300" cy="292500"/>
          </a:xfrm>
          <a:prstGeom prst="rect">
            <a:avLst/>
          </a:prstGeom>
          <a:solidFill>
            <a:srgbClr val="B6D7A8"/>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Engagement Metrics</a:t>
            </a:r>
            <a:endParaRPr b="1" sz="700">
              <a:latin typeface="Roboto"/>
              <a:ea typeface="Roboto"/>
              <a:cs typeface="Roboto"/>
              <a:sym typeface="Roboto"/>
            </a:endParaRPr>
          </a:p>
        </p:txBody>
      </p:sp>
      <p:sp>
        <p:nvSpPr>
          <p:cNvPr id="169" name="Google Shape;169;p17"/>
          <p:cNvSpPr txBox="1"/>
          <p:nvPr/>
        </p:nvSpPr>
        <p:spPr>
          <a:xfrm>
            <a:off x="1041800" y="1499238"/>
            <a:ext cx="1424100" cy="292500"/>
          </a:xfrm>
          <a:prstGeom prst="rect">
            <a:avLst/>
          </a:prstGeom>
          <a:solidFill>
            <a:srgbClr val="B6D7A8"/>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Project Brief Generator POC </a:t>
            </a:r>
            <a:endParaRPr b="1" sz="700">
              <a:latin typeface="Roboto"/>
              <a:ea typeface="Roboto"/>
              <a:cs typeface="Roboto"/>
              <a:sym typeface="Roboto"/>
            </a:endParaRPr>
          </a:p>
        </p:txBody>
      </p:sp>
      <p:sp>
        <p:nvSpPr>
          <p:cNvPr id="170" name="Google Shape;170;p17"/>
          <p:cNvSpPr txBox="1"/>
          <p:nvPr/>
        </p:nvSpPr>
        <p:spPr>
          <a:xfrm>
            <a:off x="4577725" y="752338"/>
            <a:ext cx="1979400" cy="292500"/>
          </a:xfrm>
          <a:prstGeom prst="rect">
            <a:avLst/>
          </a:prstGeom>
          <a:solidFill>
            <a:schemeClr val="lt1"/>
          </a:solidFill>
          <a:ln cap="flat" cmpd="sng" w="9525">
            <a:solidFill>
              <a:srgbClr val="00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AI Coach - Team Chat</a:t>
            </a:r>
            <a:endParaRPr b="1" sz="700">
              <a:latin typeface="Roboto"/>
              <a:ea typeface="Roboto"/>
              <a:cs typeface="Roboto"/>
              <a:sym typeface="Roboto"/>
            </a:endParaRPr>
          </a:p>
        </p:txBody>
      </p:sp>
      <p:pic>
        <p:nvPicPr>
          <p:cNvPr id="171" name="Google Shape;171;p17"/>
          <p:cNvPicPr preferRelativeResize="0"/>
          <p:nvPr/>
        </p:nvPicPr>
        <p:blipFill>
          <a:blip r:embed="rId3">
            <a:alphaModFix/>
          </a:blip>
          <a:stretch>
            <a:fillRect/>
          </a:stretch>
        </p:blipFill>
        <p:spPr>
          <a:xfrm>
            <a:off x="2327797" y="752362"/>
            <a:ext cx="138102" cy="138102"/>
          </a:xfrm>
          <a:prstGeom prst="rect">
            <a:avLst/>
          </a:prstGeom>
          <a:noFill/>
          <a:ln>
            <a:noFill/>
          </a:ln>
        </p:spPr>
      </p:pic>
      <p:pic>
        <p:nvPicPr>
          <p:cNvPr id="172" name="Google Shape;172;p17"/>
          <p:cNvPicPr preferRelativeResize="0"/>
          <p:nvPr/>
        </p:nvPicPr>
        <p:blipFill>
          <a:blip r:embed="rId3">
            <a:alphaModFix/>
          </a:blip>
          <a:stretch>
            <a:fillRect/>
          </a:stretch>
        </p:blipFill>
        <p:spPr>
          <a:xfrm>
            <a:off x="2327797" y="1116087"/>
            <a:ext cx="138102" cy="138102"/>
          </a:xfrm>
          <a:prstGeom prst="rect">
            <a:avLst/>
          </a:prstGeom>
          <a:noFill/>
          <a:ln>
            <a:noFill/>
          </a:ln>
        </p:spPr>
      </p:pic>
      <p:pic>
        <p:nvPicPr>
          <p:cNvPr id="173" name="Google Shape;173;p17"/>
          <p:cNvPicPr preferRelativeResize="0"/>
          <p:nvPr/>
        </p:nvPicPr>
        <p:blipFill>
          <a:blip r:embed="rId3">
            <a:alphaModFix/>
          </a:blip>
          <a:stretch>
            <a:fillRect/>
          </a:stretch>
        </p:blipFill>
        <p:spPr>
          <a:xfrm>
            <a:off x="2327797" y="1503787"/>
            <a:ext cx="138102" cy="138102"/>
          </a:xfrm>
          <a:prstGeom prst="rect">
            <a:avLst/>
          </a:prstGeom>
          <a:noFill/>
          <a:ln>
            <a:noFill/>
          </a:ln>
        </p:spPr>
      </p:pic>
      <p:pic>
        <p:nvPicPr>
          <p:cNvPr id="174" name="Google Shape;174;p17"/>
          <p:cNvPicPr preferRelativeResize="0"/>
          <p:nvPr/>
        </p:nvPicPr>
        <p:blipFill>
          <a:blip r:embed="rId3">
            <a:alphaModFix/>
          </a:blip>
          <a:stretch>
            <a:fillRect/>
          </a:stretch>
        </p:blipFill>
        <p:spPr>
          <a:xfrm>
            <a:off x="2327797" y="1864574"/>
            <a:ext cx="138102" cy="138102"/>
          </a:xfrm>
          <a:prstGeom prst="rect">
            <a:avLst/>
          </a:prstGeom>
          <a:noFill/>
          <a:ln>
            <a:noFill/>
          </a:ln>
        </p:spPr>
      </p:pic>
      <p:pic>
        <p:nvPicPr>
          <p:cNvPr id="175" name="Google Shape;175;p17"/>
          <p:cNvPicPr preferRelativeResize="0"/>
          <p:nvPr/>
        </p:nvPicPr>
        <p:blipFill>
          <a:blip r:embed="rId4">
            <a:alphaModFix/>
          </a:blip>
          <a:stretch>
            <a:fillRect/>
          </a:stretch>
        </p:blipFill>
        <p:spPr>
          <a:xfrm>
            <a:off x="2309172" y="2979512"/>
            <a:ext cx="138102" cy="13810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8"/>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Priority Feature 1</a:t>
            </a:r>
            <a:endParaRPr/>
          </a:p>
        </p:txBody>
      </p:sp>
      <p:sp>
        <p:nvSpPr>
          <p:cNvPr id="181" name="Google Shape;181;p18"/>
          <p:cNvSpPr txBox="1"/>
          <p:nvPr>
            <p:ph idx="2" type="body"/>
          </p:nvPr>
        </p:nvSpPr>
        <p:spPr>
          <a:xfrm>
            <a:off x="424200" y="1266175"/>
            <a:ext cx="84081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AI handles pdfs, files, uses new assistant capability</a:t>
            </a:r>
            <a:endParaRPr b="1"/>
          </a:p>
          <a:p>
            <a:pPr indent="0" lvl="0" marL="0" rtl="0" algn="l">
              <a:spcBef>
                <a:spcPts val="1200"/>
              </a:spcBef>
              <a:spcAft>
                <a:spcPts val="0"/>
              </a:spcAft>
              <a:buNone/>
            </a:pPr>
            <a:r>
              <a:rPr b="1" lang="en" sz="1150"/>
              <a:t>Problem: AI only accepts text input</a:t>
            </a:r>
            <a:endParaRPr b="1" sz="1150"/>
          </a:p>
          <a:p>
            <a:pPr indent="-317500" lvl="0" marL="457200" rtl="0" algn="l">
              <a:spcBef>
                <a:spcPts val="1200"/>
              </a:spcBef>
              <a:spcAft>
                <a:spcPts val="0"/>
              </a:spcAft>
              <a:buSzPts val="1400"/>
              <a:buChar char="-"/>
            </a:pPr>
            <a:r>
              <a:rPr lang="en"/>
              <a:t>Can upload documents, images to AI feedback</a:t>
            </a:r>
            <a:endParaRPr/>
          </a:p>
          <a:p>
            <a:pPr indent="-317500" lvl="0" marL="457200" rtl="0" algn="l">
              <a:spcBef>
                <a:spcPts val="0"/>
              </a:spcBef>
              <a:spcAft>
                <a:spcPts val="0"/>
              </a:spcAft>
              <a:buSzPts val="1400"/>
              <a:buChar char="-"/>
            </a:pPr>
            <a:r>
              <a:rPr lang="en"/>
              <a:t>Requires upgrade integration with GPT, should improve accuracy &amp; reduce cost</a:t>
            </a:r>
            <a:endParaRPr/>
          </a:p>
          <a:p>
            <a:pPr indent="-317500" lvl="0" marL="457200" rtl="0" algn="l">
              <a:spcBef>
                <a:spcPts val="0"/>
              </a:spcBef>
              <a:spcAft>
                <a:spcPts val="0"/>
              </a:spcAft>
              <a:buSzPts val="1400"/>
              <a:buChar char="-"/>
            </a:pPr>
            <a:r>
              <a:rPr lang="en"/>
              <a:t>Support custom Assistants</a:t>
            </a:r>
            <a:endParaRPr/>
          </a:p>
          <a:p>
            <a:pPr indent="-317500" lvl="0" marL="457200" rtl="0" algn="l">
              <a:spcBef>
                <a:spcPts val="0"/>
              </a:spcBef>
              <a:spcAft>
                <a:spcPts val="0"/>
              </a:spcAft>
              <a:buSzPts val="1400"/>
              <a:buChar char="-"/>
            </a:pPr>
            <a:r>
              <a:rPr lang="en"/>
              <a:t>Released like Metrics with a feature toggle</a:t>
            </a:r>
            <a:endParaRPr/>
          </a:p>
          <a:p>
            <a:pPr indent="0" lvl="0" marL="0" rtl="0" algn="l">
              <a:spcBef>
                <a:spcPts val="1200"/>
              </a:spcBef>
              <a:spcAft>
                <a:spcPts val="0"/>
              </a:spcAft>
              <a:buNone/>
            </a:pPr>
            <a:r>
              <a:rPr b="1" lang="en"/>
              <a:t>Key Developers: Wes, Paul</a:t>
            </a:r>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9"/>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Priority Improvement 1</a:t>
            </a:r>
            <a:endParaRPr/>
          </a:p>
        </p:txBody>
      </p:sp>
      <p:sp>
        <p:nvSpPr>
          <p:cNvPr id="187" name="Google Shape;187;p19"/>
          <p:cNvSpPr txBox="1"/>
          <p:nvPr>
            <p:ph idx="2" type="body"/>
          </p:nvPr>
        </p:nvSpPr>
        <p:spPr>
          <a:xfrm>
            <a:off x="424200" y="1065050"/>
            <a:ext cx="8408100" cy="38907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688"/>
              <a:buNone/>
            </a:pPr>
            <a:r>
              <a:rPr b="1" lang="en" sz="1075"/>
              <a:t>App UX issues</a:t>
            </a:r>
            <a:endParaRPr b="1" sz="1075"/>
          </a:p>
          <a:p>
            <a:pPr indent="0" lvl="0" marL="0" rtl="0" algn="l">
              <a:lnSpc>
                <a:spcPct val="95000"/>
              </a:lnSpc>
              <a:spcBef>
                <a:spcPts val="1200"/>
              </a:spcBef>
              <a:spcAft>
                <a:spcPts val="0"/>
              </a:spcAft>
              <a:buSzPts val="688"/>
              <a:buNone/>
            </a:pPr>
            <a:r>
              <a:rPr b="1" lang="en" sz="719"/>
              <a:t>Problem 1: </a:t>
            </a:r>
            <a:r>
              <a:rPr b="1" lang="en" sz="719"/>
              <a:t>Answering multiple choice questions like 1-5 scales in the app is clunky</a:t>
            </a:r>
            <a:endParaRPr b="1" sz="719"/>
          </a:p>
          <a:p>
            <a:pPr indent="-284163" lvl="0" marL="457200" rtl="0" algn="l">
              <a:lnSpc>
                <a:spcPct val="95000"/>
              </a:lnSpc>
              <a:spcBef>
                <a:spcPts val="1200"/>
              </a:spcBef>
              <a:spcAft>
                <a:spcPts val="0"/>
              </a:spcAft>
              <a:buSzPts val="875"/>
              <a:buChar char="-"/>
            </a:pPr>
            <a:r>
              <a:rPr lang="en" sz="875"/>
              <a:t>Need to render this like most survey tools</a:t>
            </a:r>
            <a:endParaRPr sz="875"/>
          </a:p>
          <a:p>
            <a:pPr indent="0" lvl="0" marL="0" rtl="0" algn="l">
              <a:lnSpc>
                <a:spcPct val="95000"/>
              </a:lnSpc>
              <a:spcBef>
                <a:spcPts val="1200"/>
              </a:spcBef>
              <a:spcAft>
                <a:spcPts val="0"/>
              </a:spcAft>
              <a:buSzPts val="688"/>
              <a:buNone/>
            </a:pPr>
            <a:r>
              <a:rPr b="1" lang="en" sz="719"/>
              <a:t>Problem 2: When an assessment is long I sometimes get lost/skip questions and then can’t submit</a:t>
            </a:r>
            <a:endParaRPr b="1" sz="719"/>
          </a:p>
          <a:p>
            <a:pPr indent="-274241" lvl="0" marL="457200" rtl="0" algn="l">
              <a:lnSpc>
                <a:spcPct val="95000"/>
              </a:lnSpc>
              <a:spcBef>
                <a:spcPts val="1200"/>
              </a:spcBef>
              <a:spcAft>
                <a:spcPts val="0"/>
              </a:spcAft>
              <a:buSzPts val="719"/>
              <a:buChar char="-"/>
            </a:pPr>
            <a:r>
              <a:rPr lang="en" sz="719"/>
              <a:t>** Better handle questions that are required but not filled in</a:t>
            </a:r>
            <a:endParaRPr sz="719"/>
          </a:p>
          <a:p>
            <a:pPr indent="-274241" lvl="0" marL="457200" rtl="0" algn="l">
              <a:lnSpc>
                <a:spcPct val="95000"/>
              </a:lnSpc>
              <a:spcBef>
                <a:spcPts val="0"/>
              </a:spcBef>
              <a:spcAft>
                <a:spcPts val="0"/>
              </a:spcAft>
              <a:buSzPts val="719"/>
              <a:buChar char="-"/>
            </a:pPr>
            <a:r>
              <a:rPr lang="en" sz="719"/>
              <a:t>Paginate groups</a:t>
            </a:r>
            <a:endParaRPr sz="719"/>
          </a:p>
          <a:p>
            <a:pPr indent="0" lvl="0" marL="0" rtl="0" algn="l">
              <a:lnSpc>
                <a:spcPct val="95000"/>
              </a:lnSpc>
              <a:spcBef>
                <a:spcPts val="1200"/>
              </a:spcBef>
              <a:spcAft>
                <a:spcPts val="0"/>
              </a:spcAft>
              <a:buSzPts val="688"/>
              <a:buNone/>
            </a:pPr>
            <a:r>
              <a:rPr b="1" lang="en" sz="719"/>
              <a:t>Problem 3: I don’t know what I have to do to unlock something</a:t>
            </a:r>
            <a:endParaRPr sz="875"/>
          </a:p>
          <a:p>
            <a:pPr indent="-284163" lvl="0" marL="457200" rtl="0" algn="l">
              <a:lnSpc>
                <a:spcPct val="95000"/>
              </a:lnSpc>
              <a:spcBef>
                <a:spcPts val="1200"/>
              </a:spcBef>
              <a:spcAft>
                <a:spcPts val="0"/>
              </a:spcAft>
              <a:buSzPts val="875"/>
              <a:buChar char="-"/>
            </a:pPr>
            <a:r>
              <a:rPr lang="en" sz="875"/>
              <a:t>Clicking on a locked item shows a popup explaining how to unlock</a:t>
            </a:r>
            <a:endParaRPr sz="875"/>
          </a:p>
          <a:p>
            <a:pPr indent="-284163" lvl="0" marL="457200" rtl="0" algn="l">
              <a:lnSpc>
                <a:spcPct val="95000"/>
              </a:lnSpc>
              <a:spcBef>
                <a:spcPts val="0"/>
              </a:spcBef>
              <a:spcAft>
                <a:spcPts val="0"/>
              </a:spcAft>
              <a:buSzPts val="875"/>
              <a:buChar char="-"/>
            </a:pPr>
            <a:r>
              <a:rPr lang="en" sz="875"/>
              <a:t>Clicking on an unearned badge shows a popup explaining how to earn</a:t>
            </a:r>
            <a:endParaRPr sz="875"/>
          </a:p>
          <a:p>
            <a:pPr indent="0" lvl="0" marL="0" rtl="0" algn="l">
              <a:lnSpc>
                <a:spcPct val="95000"/>
              </a:lnSpc>
              <a:spcBef>
                <a:spcPts val="1200"/>
              </a:spcBef>
              <a:spcAft>
                <a:spcPts val="0"/>
              </a:spcAft>
              <a:buSzPts val="688"/>
              <a:buNone/>
            </a:pPr>
            <a:r>
              <a:rPr b="1" lang="en" sz="719"/>
              <a:t>Problem 4: What is the point of the pulse checks?</a:t>
            </a:r>
            <a:endParaRPr b="1" sz="719"/>
          </a:p>
          <a:p>
            <a:pPr indent="-284163" lvl="0" marL="457200" rtl="0" algn="l">
              <a:lnSpc>
                <a:spcPct val="95000"/>
              </a:lnSpc>
              <a:spcBef>
                <a:spcPts val="1200"/>
              </a:spcBef>
              <a:spcAft>
                <a:spcPts val="0"/>
              </a:spcAft>
              <a:buSzPts val="875"/>
              <a:buChar char="-"/>
            </a:pPr>
            <a:r>
              <a:rPr lang="en" sz="875"/>
              <a:t>Show self / team average / expert average / pulse check status on dashboard (grey - no data, green .7+ avg, yellow .4=&gt;.7, red 0=&gt;.4)</a:t>
            </a:r>
            <a:br>
              <a:rPr lang="en" sz="875"/>
            </a:br>
            <a:r>
              <a:rPr lang="en" sz="875"/>
              <a:t>On track: self | team | expert</a:t>
            </a:r>
            <a:endParaRPr sz="875"/>
          </a:p>
          <a:p>
            <a:pPr indent="-284163" lvl="0" marL="457200" rtl="0" algn="l">
              <a:lnSpc>
                <a:spcPct val="95000"/>
              </a:lnSpc>
              <a:spcBef>
                <a:spcPts val="0"/>
              </a:spcBef>
              <a:spcAft>
                <a:spcPts val="0"/>
              </a:spcAft>
              <a:buSzPts val="875"/>
              <a:buChar char="-"/>
            </a:pPr>
            <a:r>
              <a:rPr lang="en" sz="875"/>
              <a:t>Feature toggle: visible to learner/expert</a:t>
            </a:r>
            <a:endParaRPr sz="875"/>
          </a:p>
          <a:p>
            <a:pPr indent="0" lvl="0" marL="0" rtl="0" algn="l">
              <a:lnSpc>
                <a:spcPct val="95000"/>
              </a:lnSpc>
              <a:spcBef>
                <a:spcPts val="1200"/>
              </a:spcBef>
              <a:spcAft>
                <a:spcPts val="0"/>
              </a:spcAft>
              <a:buNone/>
            </a:pPr>
            <a:r>
              <a:rPr b="1" lang="en" sz="775"/>
              <a:t>Problem 5: I closed the window now I can’t remember where I was up to</a:t>
            </a:r>
            <a:endParaRPr b="1" sz="775"/>
          </a:p>
          <a:p>
            <a:pPr indent="-277813" lvl="0" marL="457200" rtl="0" algn="l">
              <a:lnSpc>
                <a:spcPct val="95000"/>
              </a:lnSpc>
              <a:spcBef>
                <a:spcPts val="1200"/>
              </a:spcBef>
              <a:spcAft>
                <a:spcPts val="0"/>
              </a:spcAft>
              <a:buSzPts val="775"/>
              <a:buChar char="-"/>
            </a:pPr>
            <a:r>
              <a:rPr lang="en" sz="775"/>
              <a:t>Local storage of most recently visited activity / task - visualization, scroll to</a:t>
            </a:r>
            <a:endParaRPr sz="775"/>
          </a:p>
          <a:p>
            <a:pPr indent="0" lvl="0" marL="0" rtl="0" algn="l">
              <a:lnSpc>
                <a:spcPct val="95000"/>
              </a:lnSpc>
              <a:spcBef>
                <a:spcPts val="1200"/>
              </a:spcBef>
              <a:spcAft>
                <a:spcPts val="0"/>
              </a:spcAft>
              <a:buNone/>
            </a:pPr>
            <a:r>
              <a:rPr b="1" lang="en" sz="775"/>
              <a:t>Problem 6: Marking as complete isn’t really a good indicator of “progress”</a:t>
            </a:r>
            <a:endParaRPr b="1" sz="775"/>
          </a:p>
          <a:p>
            <a:pPr indent="-277813" lvl="0" marL="457200" rtl="0" algn="l">
              <a:lnSpc>
                <a:spcPct val="95000"/>
              </a:lnSpc>
              <a:spcBef>
                <a:spcPts val="1200"/>
              </a:spcBef>
              <a:spcAft>
                <a:spcPts val="0"/>
              </a:spcAft>
              <a:buSzPts val="775"/>
              <a:buChar char="-"/>
            </a:pPr>
            <a:r>
              <a:rPr lang="en" sz="775"/>
              <a:t>Track the amount of time spent on a topic or assessment and record this in the db</a:t>
            </a:r>
            <a:endParaRPr sz="775"/>
          </a:p>
          <a:p>
            <a:pPr indent="0" lvl="0" marL="0" rtl="0" algn="l">
              <a:lnSpc>
                <a:spcPct val="95000"/>
              </a:lnSpc>
              <a:spcBef>
                <a:spcPts val="1200"/>
              </a:spcBef>
              <a:spcAft>
                <a:spcPts val="1200"/>
              </a:spcAft>
              <a:buSzPts val="688"/>
              <a:buNone/>
            </a:pPr>
            <a:r>
              <a:rPr b="1" lang="en" sz="1075"/>
              <a:t>Key Developers: Chaw, Terence</a:t>
            </a:r>
            <a:endParaRPr sz="1075"/>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0"/>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Priority Feature 2</a:t>
            </a:r>
            <a:endParaRPr/>
          </a:p>
        </p:txBody>
      </p:sp>
      <p:sp>
        <p:nvSpPr>
          <p:cNvPr id="193" name="Google Shape;193;p20"/>
          <p:cNvSpPr txBox="1"/>
          <p:nvPr>
            <p:ph idx="2" type="body"/>
          </p:nvPr>
        </p:nvSpPr>
        <p:spPr>
          <a:xfrm>
            <a:off x="424200" y="1266175"/>
            <a:ext cx="84081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Practera Product Catalog - integrated into Practera + Externally</a:t>
            </a:r>
            <a:endParaRPr b="1"/>
          </a:p>
          <a:p>
            <a:pPr indent="0" lvl="0" marL="0" rtl="0" algn="l">
              <a:spcBef>
                <a:spcPts val="1200"/>
              </a:spcBef>
              <a:spcAft>
                <a:spcPts val="0"/>
              </a:spcAft>
              <a:buNone/>
            </a:pPr>
            <a:r>
              <a:rPr b="1" lang="en" sz="1150"/>
              <a:t>Problem: Very difficult for customers to see just how much we can do</a:t>
            </a:r>
            <a:endParaRPr b="1" sz="1150"/>
          </a:p>
          <a:p>
            <a:pPr indent="-317500" lvl="0" marL="457200" rtl="0" algn="l">
              <a:spcBef>
                <a:spcPts val="1200"/>
              </a:spcBef>
              <a:spcAft>
                <a:spcPts val="0"/>
              </a:spcAft>
              <a:buSzPts val="1400"/>
              <a:buChar char="-"/>
            </a:pPr>
            <a:r>
              <a:rPr lang="en"/>
              <a:t>Database of products that is easy to edit, extend (DynamoDB + GraphQL)</a:t>
            </a:r>
            <a:endParaRPr/>
          </a:p>
          <a:p>
            <a:pPr indent="-317500" lvl="0" marL="457200" rtl="0" algn="l">
              <a:spcBef>
                <a:spcPts val="0"/>
              </a:spcBef>
              <a:spcAft>
                <a:spcPts val="0"/>
              </a:spcAft>
              <a:buSzPts val="1400"/>
              <a:buChar char="-"/>
            </a:pPr>
            <a:r>
              <a:rPr lang="en"/>
              <a:t>Renders products in searchable catalog inside Practera</a:t>
            </a:r>
            <a:endParaRPr/>
          </a:p>
          <a:p>
            <a:pPr indent="-317500" lvl="0" marL="457200" rtl="0" algn="l">
              <a:spcBef>
                <a:spcPts val="0"/>
              </a:spcBef>
              <a:spcAft>
                <a:spcPts val="0"/>
              </a:spcAft>
              <a:buSzPts val="1400"/>
              <a:buChar char="-"/>
            </a:pPr>
            <a:r>
              <a:rPr lang="en"/>
              <a:t>Click to purchase / get a quote / deploy from template library (where appropriate)</a:t>
            </a:r>
            <a:endParaRPr/>
          </a:p>
          <a:p>
            <a:pPr indent="0" lvl="0" marL="0" rtl="0" algn="l">
              <a:spcBef>
                <a:spcPts val="1200"/>
              </a:spcBef>
              <a:spcAft>
                <a:spcPts val="0"/>
              </a:spcAft>
              <a:buNone/>
            </a:pPr>
            <a:r>
              <a:rPr b="1" lang="en"/>
              <a:t>Key Developers: Rodney, Shawn</a:t>
            </a:r>
            <a:endParaRPr/>
          </a:p>
          <a:p>
            <a:pPr indent="0" lvl="0" marL="0" rtl="0" algn="l">
              <a:spcBef>
                <a:spcPts val="1200"/>
              </a:spcBef>
              <a:spcAft>
                <a:spcPts val="1200"/>
              </a:spcAft>
              <a:buNone/>
            </a:pPr>
            <a:r>
              <a:t/>
            </a:r>
            <a:endParaRPr/>
          </a:p>
        </p:txBody>
      </p:sp>
      <p:pic>
        <p:nvPicPr>
          <p:cNvPr id="194" name="Google Shape;194;p20"/>
          <p:cNvPicPr preferRelativeResize="0"/>
          <p:nvPr/>
        </p:nvPicPr>
        <p:blipFill>
          <a:blip r:embed="rId3">
            <a:alphaModFix/>
          </a:blip>
          <a:stretch>
            <a:fillRect/>
          </a:stretch>
        </p:blipFill>
        <p:spPr>
          <a:xfrm>
            <a:off x="4945150" y="2887200"/>
            <a:ext cx="4033249" cy="23927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1"/>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Priority Improvement 2</a:t>
            </a:r>
            <a:endParaRPr/>
          </a:p>
        </p:txBody>
      </p:sp>
      <p:sp>
        <p:nvSpPr>
          <p:cNvPr id="200" name="Google Shape;200;p21"/>
          <p:cNvSpPr txBox="1"/>
          <p:nvPr>
            <p:ph idx="2" type="body"/>
          </p:nvPr>
        </p:nvSpPr>
        <p:spPr>
          <a:xfrm>
            <a:off x="424200" y="1266175"/>
            <a:ext cx="8408100" cy="33027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en"/>
              <a:t>Feedback Admin Interface &amp; Progress Interface Refresh</a:t>
            </a:r>
            <a:endParaRPr b="1"/>
          </a:p>
          <a:p>
            <a:pPr indent="0" lvl="0" marL="0" rtl="0" algn="l">
              <a:spcBef>
                <a:spcPts val="1200"/>
              </a:spcBef>
              <a:spcAft>
                <a:spcPts val="0"/>
              </a:spcAft>
              <a:buNone/>
            </a:pPr>
            <a:r>
              <a:rPr b="1" lang="en" sz="1150"/>
              <a:t>Problem: The data on the feedback summary is wrong &amp; summary takes a long time to load for big programs</a:t>
            </a:r>
            <a:endParaRPr b="1" sz="1150"/>
          </a:p>
          <a:p>
            <a:pPr indent="-310833" lvl="0" marL="457200" rtl="0" algn="l">
              <a:spcBef>
                <a:spcPts val="1200"/>
              </a:spcBef>
              <a:spcAft>
                <a:spcPts val="0"/>
              </a:spcAft>
              <a:buSzPct val="100000"/>
              <a:buChar char="-"/>
            </a:pPr>
            <a:r>
              <a:rPr lang="en"/>
              <a:t>Need to rewrite screen to make it accurate &amp; faster *** in cutie? First past core, second cutie</a:t>
            </a:r>
            <a:endParaRPr/>
          </a:p>
          <a:p>
            <a:pPr indent="0" lvl="0" marL="0" rtl="0" algn="l">
              <a:spcBef>
                <a:spcPts val="1200"/>
              </a:spcBef>
              <a:spcAft>
                <a:spcPts val="0"/>
              </a:spcAft>
              <a:buNone/>
            </a:pPr>
            <a:r>
              <a:rPr b="1" lang="en" sz="1150"/>
              <a:t>Problem: Team moderated assessments are impossible to manage</a:t>
            </a:r>
            <a:endParaRPr b="1" sz="1150"/>
          </a:p>
          <a:p>
            <a:pPr indent="-310833" lvl="0" marL="457200" rtl="0" algn="l">
              <a:spcBef>
                <a:spcPts val="1200"/>
              </a:spcBef>
              <a:spcAft>
                <a:spcPts val="0"/>
              </a:spcAft>
              <a:buSzPct val="100000"/>
              <a:buChar char="-"/>
            </a:pPr>
            <a:r>
              <a:rPr lang="en"/>
              <a:t>Need to rewrite how these assessments are handled - like Team360</a:t>
            </a:r>
            <a:endParaRPr/>
          </a:p>
          <a:p>
            <a:pPr indent="0" lvl="0" marL="0" rtl="0" algn="l">
              <a:spcBef>
                <a:spcPts val="1200"/>
              </a:spcBef>
              <a:spcAft>
                <a:spcPts val="0"/>
              </a:spcAft>
              <a:buNone/>
            </a:pPr>
            <a:r>
              <a:rPr b="1" lang="en" sz="1150"/>
              <a:t>Problem: Dashboard and Enrolments screen progress indicators aren’t helpful for managing real-time</a:t>
            </a:r>
            <a:endParaRPr b="1" sz="1150"/>
          </a:p>
          <a:p>
            <a:pPr indent="-310833" lvl="0" marL="457200" rtl="0" algn="l">
              <a:spcBef>
                <a:spcPts val="1200"/>
              </a:spcBef>
              <a:spcAft>
                <a:spcPts val="0"/>
              </a:spcAft>
              <a:buSzPct val="100000"/>
              <a:buChar char="-"/>
            </a:pPr>
            <a:r>
              <a:rPr lang="en"/>
              <a:t>Need a new progress screen that is actionable *** in cutie? YES</a:t>
            </a:r>
            <a:endParaRPr/>
          </a:p>
          <a:p>
            <a:pPr indent="-310833" lvl="0" marL="457200" rtl="0" algn="l">
              <a:spcBef>
                <a:spcPts val="0"/>
              </a:spcBef>
              <a:spcAft>
                <a:spcPts val="0"/>
              </a:spcAft>
              <a:buSzPct val="100000"/>
              <a:buChar char="-"/>
            </a:pPr>
            <a:r>
              <a:rPr lang="en"/>
              <a:t>TRACKING TIME SPENT ON APP SCREENS - TOPICS, ASSESSMENTS</a:t>
            </a:r>
            <a:endParaRPr/>
          </a:p>
          <a:p>
            <a:pPr indent="0" lvl="0" marL="0" rtl="0" algn="l">
              <a:spcBef>
                <a:spcPts val="1200"/>
              </a:spcBef>
              <a:spcAft>
                <a:spcPts val="0"/>
              </a:spcAft>
              <a:buNone/>
            </a:pPr>
            <a:r>
              <a:rPr b="1" lang="en"/>
              <a:t>Key Developers: Terence, Wes</a:t>
            </a:r>
            <a:endParaRPr/>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2"/>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Priority Feature 3</a:t>
            </a:r>
            <a:endParaRPr/>
          </a:p>
        </p:txBody>
      </p:sp>
      <p:sp>
        <p:nvSpPr>
          <p:cNvPr id="206" name="Google Shape;206;p22"/>
          <p:cNvSpPr txBox="1"/>
          <p:nvPr>
            <p:ph idx="2" type="body"/>
          </p:nvPr>
        </p:nvSpPr>
        <p:spPr>
          <a:xfrm>
            <a:off x="424200" y="1266175"/>
            <a:ext cx="8408100" cy="33027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a:t>Project Brief Generation SPA - stand alone</a:t>
            </a:r>
            <a:endParaRPr b="1"/>
          </a:p>
          <a:p>
            <a:pPr indent="0" lvl="0" marL="0" rtl="0" algn="l">
              <a:spcBef>
                <a:spcPts val="1200"/>
              </a:spcBef>
              <a:spcAft>
                <a:spcPts val="0"/>
              </a:spcAft>
              <a:buNone/>
            </a:pPr>
            <a:r>
              <a:rPr lang="en" sz="1050">
                <a:solidFill>
                  <a:srgbClr val="0E0E0E"/>
                </a:solidFill>
                <a:latin typeface="Arial"/>
                <a:ea typeface="Arial"/>
                <a:cs typeface="Arial"/>
                <a:sym typeface="Arial"/>
              </a:rPr>
              <a:t>a single page app that talks to two pre-defined GPT assistants (1 knows about companies &amp; sectors, 2 knows about projects) to recommend projects that could be done by student teams. The flow of the app is as follows:</a:t>
            </a:r>
            <a:endParaRPr sz="1050">
              <a:solidFill>
                <a:srgbClr val="0E0E0E"/>
              </a:solidFill>
              <a:latin typeface="Arial"/>
              <a:ea typeface="Arial"/>
              <a:cs typeface="Arial"/>
              <a:sym typeface="Arial"/>
            </a:endParaRPr>
          </a:p>
          <a:p>
            <a:pPr indent="0" lvl="0" marL="0" rtl="0" algn="l">
              <a:spcBef>
                <a:spcPts val="0"/>
              </a:spcBef>
              <a:spcAft>
                <a:spcPts val="0"/>
              </a:spcAft>
              <a:buNone/>
            </a:pPr>
            <a:r>
              <a:rPr lang="en" sz="1050">
                <a:solidFill>
                  <a:srgbClr val="0E0E0E"/>
                </a:solidFill>
                <a:latin typeface="Arial"/>
                <a:ea typeface="Arial"/>
                <a:cs typeface="Arial"/>
                <a:sym typeface="Arial"/>
              </a:rPr>
              <a:t>1 - UI: What is your company name</a:t>
            </a:r>
            <a:endParaRPr sz="1050">
              <a:solidFill>
                <a:srgbClr val="0E0E0E"/>
              </a:solidFill>
              <a:latin typeface="Arial"/>
              <a:ea typeface="Arial"/>
              <a:cs typeface="Arial"/>
              <a:sym typeface="Arial"/>
            </a:endParaRPr>
          </a:p>
          <a:p>
            <a:pPr indent="0" lvl="0" marL="0" rtl="0" algn="l">
              <a:spcBef>
                <a:spcPts val="0"/>
              </a:spcBef>
              <a:spcAft>
                <a:spcPts val="0"/>
              </a:spcAft>
              <a:buNone/>
            </a:pPr>
            <a:r>
              <a:rPr lang="en" sz="1050">
                <a:solidFill>
                  <a:srgbClr val="0E0E0E"/>
                </a:solidFill>
                <a:latin typeface="Arial"/>
                <a:ea typeface="Arial"/>
                <a:cs typeface="Arial"/>
                <a:sym typeface="Arial"/>
              </a:rPr>
              <a:t>2 - GPT assistant 1: provides a summary the company's sector, key products/services. UI: Ask: is this mostly correct? Yes - go to 4 No go to 3</a:t>
            </a:r>
            <a:endParaRPr sz="1050">
              <a:solidFill>
                <a:srgbClr val="0E0E0E"/>
              </a:solidFill>
              <a:latin typeface="Arial"/>
              <a:ea typeface="Arial"/>
              <a:cs typeface="Arial"/>
              <a:sym typeface="Arial"/>
            </a:endParaRPr>
          </a:p>
          <a:p>
            <a:pPr indent="0" lvl="0" marL="0" rtl="0" algn="l">
              <a:spcBef>
                <a:spcPts val="0"/>
              </a:spcBef>
              <a:spcAft>
                <a:spcPts val="0"/>
              </a:spcAft>
              <a:buNone/>
            </a:pPr>
            <a:r>
              <a:rPr lang="en" sz="1050">
                <a:solidFill>
                  <a:srgbClr val="0E0E0E"/>
                </a:solidFill>
                <a:latin typeface="Arial"/>
                <a:ea typeface="Arial"/>
                <a:cs typeface="Arial"/>
                <a:sym typeface="Arial"/>
              </a:rPr>
              <a:t>3 - UI: Describe your sector and key product/service in one or two sentences</a:t>
            </a:r>
            <a:endParaRPr sz="1050">
              <a:solidFill>
                <a:srgbClr val="0E0E0E"/>
              </a:solidFill>
              <a:latin typeface="Arial"/>
              <a:ea typeface="Arial"/>
              <a:cs typeface="Arial"/>
              <a:sym typeface="Arial"/>
            </a:endParaRPr>
          </a:p>
          <a:p>
            <a:pPr indent="0" lvl="0" marL="0" rtl="0" algn="l">
              <a:spcBef>
                <a:spcPts val="0"/>
              </a:spcBef>
              <a:spcAft>
                <a:spcPts val="0"/>
              </a:spcAft>
              <a:buNone/>
            </a:pPr>
            <a:r>
              <a:rPr lang="en" sz="1050">
                <a:solidFill>
                  <a:srgbClr val="0E0E0E"/>
                </a:solidFill>
                <a:latin typeface="Arial"/>
                <a:ea typeface="Arial"/>
                <a:cs typeface="Arial"/>
                <a:sym typeface="Arial"/>
              </a:rPr>
              <a:t>4 - GPT assistant 2: using file search: Here are several projects that other companies like yours have recently done: - UI: list of 3-5 project titles, click on any for a full project brief in a modal</a:t>
            </a:r>
            <a:endParaRPr sz="1050">
              <a:solidFill>
                <a:srgbClr val="0E0E0E"/>
              </a:solidFill>
              <a:latin typeface="Arial"/>
              <a:ea typeface="Arial"/>
              <a:cs typeface="Arial"/>
              <a:sym typeface="Arial"/>
            </a:endParaRPr>
          </a:p>
          <a:p>
            <a:pPr indent="0" lvl="0" marL="0" rtl="0" algn="l">
              <a:spcBef>
                <a:spcPts val="0"/>
              </a:spcBef>
              <a:spcAft>
                <a:spcPts val="0"/>
              </a:spcAft>
              <a:buNone/>
            </a:pPr>
            <a:r>
              <a:rPr lang="en" sz="1050">
                <a:solidFill>
                  <a:srgbClr val="0E0E0E"/>
                </a:solidFill>
                <a:latin typeface="Arial"/>
                <a:ea typeface="Arial"/>
                <a:cs typeface="Arial"/>
                <a:sym typeface="Arial"/>
              </a:rPr>
              <a:t>5 - UI in a few works describe a project you'd like to do or idea you'd like to explore but don't have time for right now. GPT Assistant 2: Give some examples like - add an AI chatbot to our website, make an AI avatar of myself, build a new product website.</a:t>
            </a:r>
            <a:endParaRPr sz="1050">
              <a:solidFill>
                <a:srgbClr val="0E0E0E"/>
              </a:solidFill>
              <a:latin typeface="Arial"/>
              <a:ea typeface="Arial"/>
              <a:cs typeface="Arial"/>
              <a:sym typeface="Arial"/>
            </a:endParaRPr>
          </a:p>
          <a:p>
            <a:pPr indent="0" lvl="0" marL="0" rtl="0" algn="l">
              <a:spcBef>
                <a:spcPts val="0"/>
              </a:spcBef>
              <a:spcAft>
                <a:spcPts val="0"/>
              </a:spcAft>
              <a:buNone/>
            </a:pPr>
            <a:r>
              <a:rPr lang="en" sz="1050">
                <a:solidFill>
                  <a:srgbClr val="0E0E0E"/>
                </a:solidFill>
                <a:latin typeface="Arial"/>
                <a:ea typeface="Arial"/>
                <a:cs typeface="Arial"/>
                <a:sym typeface="Arial"/>
              </a:rPr>
              <a:t>6 - GPT Assistant 2: creates a project brief that can be given to consultants or a team of students</a:t>
            </a:r>
            <a:endParaRPr sz="1050">
              <a:solidFill>
                <a:srgbClr val="0E0E0E"/>
              </a:solidFill>
              <a:latin typeface="Arial"/>
              <a:ea typeface="Arial"/>
              <a:cs typeface="Arial"/>
              <a:sym typeface="Arial"/>
            </a:endParaRPr>
          </a:p>
          <a:p>
            <a:pPr indent="0" lvl="0" marL="0" rtl="0" algn="l">
              <a:spcBef>
                <a:spcPts val="0"/>
              </a:spcBef>
              <a:spcAft>
                <a:spcPts val="0"/>
              </a:spcAft>
              <a:buNone/>
            </a:pPr>
            <a:r>
              <a:rPr lang="en" sz="1050">
                <a:solidFill>
                  <a:srgbClr val="0E0E0E"/>
                </a:solidFill>
                <a:latin typeface="Arial"/>
                <a:ea typeface="Arial"/>
                <a:cs typeface="Arial"/>
                <a:sym typeface="Arial"/>
              </a:rPr>
              <a:t>7 - UI - would you like a team of students to do any of these projects for you for free? Yes - contact form. No - thanks, hope this was useful</a:t>
            </a:r>
            <a:endParaRPr sz="1050">
              <a:solidFill>
                <a:srgbClr val="0E0E0E"/>
              </a:solidFill>
              <a:latin typeface="Arial"/>
              <a:ea typeface="Arial"/>
              <a:cs typeface="Arial"/>
              <a:sym typeface="Arial"/>
            </a:endParaRPr>
          </a:p>
          <a:p>
            <a:pPr indent="0" lvl="0" marL="0" rtl="0" algn="l">
              <a:spcBef>
                <a:spcPts val="0"/>
              </a:spcBef>
              <a:spcAft>
                <a:spcPts val="0"/>
              </a:spcAft>
              <a:buNone/>
            </a:pPr>
            <a:r>
              <a:t/>
            </a:r>
            <a:endParaRPr b="1"/>
          </a:p>
          <a:p>
            <a:pPr indent="0" lvl="0" marL="0" rtl="0" algn="l">
              <a:spcBef>
                <a:spcPts val="1200"/>
              </a:spcBef>
              <a:spcAft>
                <a:spcPts val="1200"/>
              </a:spcAft>
              <a:buNone/>
            </a:pPr>
            <a:r>
              <a:t/>
            </a:r>
            <a:endParaRPr b="1"/>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3"/>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Priority Improvement</a:t>
            </a:r>
            <a:r>
              <a:rPr lang="en"/>
              <a:t> 3</a:t>
            </a:r>
            <a:endParaRPr/>
          </a:p>
        </p:txBody>
      </p:sp>
      <p:sp>
        <p:nvSpPr>
          <p:cNvPr id="212" name="Google Shape;212;p23"/>
          <p:cNvSpPr txBox="1"/>
          <p:nvPr>
            <p:ph idx="2" type="body"/>
          </p:nvPr>
        </p:nvSpPr>
        <p:spPr>
          <a:xfrm>
            <a:off x="424200" y="1266175"/>
            <a:ext cx="84081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GDPR - Properly Handle Dropped, Unenrolled &amp; Deleted Users</a:t>
            </a:r>
            <a:endParaRPr b="1"/>
          </a:p>
          <a:p>
            <a:pPr indent="0" lvl="0" marL="0" rtl="0" algn="l">
              <a:spcBef>
                <a:spcPts val="1200"/>
              </a:spcBef>
              <a:spcAft>
                <a:spcPts val="0"/>
              </a:spcAft>
              <a:buNone/>
            </a:pPr>
            <a:r>
              <a:rPr b="1" lang="en" sz="1150"/>
              <a:t>Problem: It is unclear what should happen when users are dropped, unenrolled or deleted or programs end</a:t>
            </a:r>
            <a:endParaRPr b="1" sz="1150"/>
          </a:p>
          <a:p>
            <a:pPr indent="-317500" lvl="0" marL="457200" rtl="0" algn="l">
              <a:spcBef>
                <a:spcPts val="1200"/>
              </a:spcBef>
              <a:spcAft>
                <a:spcPts val="0"/>
              </a:spcAft>
              <a:buSzPts val="1400"/>
              <a:buChar char="-"/>
            </a:pPr>
            <a:r>
              <a:rPr lang="en"/>
              <a:t>Define the single source of truth for user access &amp; states for each role</a:t>
            </a:r>
            <a:endParaRPr/>
          </a:p>
          <a:p>
            <a:pPr indent="-304800" lvl="1" marL="914400" rtl="0" algn="l">
              <a:spcBef>
                <a:spcPts val="0"/>
              </a:spcBef>
              <a:spcAft>
                <a:spcPts val="0"/>
              </a:spcAft>
              <a:buSzPts val="1200"/>
              <a:buChar char="-"/>
            </a:pPr>
            <a:r>
              <a:rPr lang="en"/>
              <a:t>Ensure GDPR requirements met</a:t>
            </a:r>
            <a:endParaRPr/>
          </a:p>
          <a:p>
            <a:pPr indent="-304800" lvl="1" marL="914400" rtl="0" algn="l">
              <a:spcBef>
                <a:spcPts val="0"/>
              </a:spcBef>
              <a:spcAft>
                <a:spcPts val="0"/>
              </a:spcAft>
              <a:buSzPts val="1200"/>
              <a:buChar char="-"/>
            </a:pPr>
            <a:r>
              <a:rPr lang="en"/>
              <a:t>Handle users &amp; admins across multiple institutions properly</a:t>
            </a:r>
            <a:endParaRPr/>
          </a:p>
          <a:p>
            <a:pPr indent="-304800" lvl="1" marL="914400" rtl="0" algn="l">
              <a:spcBef>
                <a:spcPts val="0"/>
              </a:spcBef>
              <a:spcAft>
                <a:spcPts val="0"/>
              </a:spcAft>
              <a:buSzPts val="1200"/>
              <a:buChar char="-"/>
            </a:pPr>
            <a:r>
              <a:rPr lang="en"/>
              <a:t>Ensure when access is removed users cannot access any associated resources</a:t>
            </a:r>
            <a:endParaRPr/>
          </a:p>
          <a:p>
            <a:pPr indent="-304800" lvl="1" marL="914400" rtl="0" algn="l">
              <a:spcBef>
                <a:spcPts val="0"/>
              </a:spcBef>
              <a:spcAft>
                <a:spcPts val="0"/>
              </a:spcAft>
              <a:buSzPts val="1200"/>
              <a:buChar char="-"/>
            </a:pPr>
            <a:r>
              <a:rPr lang="en"/>
              <a:t>Go-live start/end dates enforced</a:t>
            </a:r>
            <a:endParaRPr/>
          </a:p>
          <a:p>
            <a:pPr indent="-317500" lvl="0" marL="457200" rtl="0" algn="l">
              <a:spcBef>
                <a:spcPts val="0"/>
              </a:spcBef>
              <a:spcAft>
                <a:spcPts val="0"/>
              </a:spcAft>
              <a:buSzPts val="1400"/>
              <a:buChar char="-"/>
            </a:pPr>
            <a:r>
              <a:rPr lang="en"/>
              <a:t>Ensure all reporting and admin screens recognize and deal with each user state appropriately</a:t>
            </a:r>
            <a:endParaRPr/>
          </a:p>
          <a:p>
            <a:pPr indent="0" lvl="0" marL="0" rtl="0" algn="l">
              <a:spcBef>
                <a:spcPts val="1200"/>
              </a:spcBef>
              <a:spcAft>
                <a:spcPts val="1200"/>
              </a:spcAft>
              <a:buNone/>
            </a:pPr>
            <a:r>
              <a:rPr b="1" lang="en"/>
              <a:t>Key Developers: Shawn, Terence</a:t>
            </a:r>
            <a:endParaRPr b="1"/>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Maintenance</a:t>
            </a:r>
            <a:endParaRPr/>
          </a:p>
        </p:txBody>
      </p:sp>
      <p:sp>
        <p:nvSpPr>
          <p:cNvPr id="218" name="Google Shape;218;p24"/>
          <p:cNvSpPr txBox="1"/>
          <p:nvPr>
            <p:ph idx="1" type="body"/>
          </p:nvPr>
        </p:nvSpPr>
        <p:spPr>
          <a:xfrm>
            <a:off x="311700" y="1266175"/>
            <a:ext cx="3999900" cy="33027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b="1" lang="en"/>
              <a:t>Compliance</a:t>
            </a:r>
            <a:endParaRPr b="1"/>
          </a:p>
          <a:p>
            <a:pPr indent="-297498" lvl="0" marL="457200" rtl="0" algn="l">
              <a:spcBef>
                <a:spcPts val="1200"/>
              </a:spcBef>
              <a:spcAft>
                <a:spcPts val="0"/>
              </a:spcAft>
              <a:buSzPct val="100000"/>
              <a:buChar char="-"/>
            </a:pPr>
            <a:r>
              <a:rPr lang="en"/>
              <a:t>WCAG and GDPR certification</a:t>
            </a:r>
            <a:endParaRPr/>
          </a:p>
          <a:p>
            <a:pPr indent="-297498" lvl="0" marL="457200" rtl="0" algn="l">
              <a:spcBef>
                <a:spcPts val="0"/>
              </a:spcBef>
              <a:spcAft>
                <a:spcPts val="0"/>
              </a:spcAft>
              <a:buSzPct val="100000"/>
              <a:buChar char="-"/>
            </a:pPr>
            <a:r>
              <a:rPr lang="en"/>
              <a:t>Run regular firedrills and improve compliance</a:t>
            </a:r>
            <a:endParaRPr/>
          </a:p>
          <a:p>
            <a:pPr indent="0" lvl="0" marL="0" rtl="0" algn="l">
              <a:spcBef>
                <a:spcPts val="1200"/>
              </a:spcBef>
              <a:spcAft>
                <a:spcPts val="0"/>
              </a:spcAft>
              <a:buNone/>
            </a:pPr>
            <a:r>
              <a:rPr b="1" lang="en"/>
              <a:t>Global Login</a:t>
            </a:r>
            <a:endParaRPr/>
          </a:p>
          <a:p>
            <a:pPr indent="-297498" lvl="0" marL="457200" rtl="0" algn="l">
              <a:spcBef>
                <a:spcPts val="1200"/>
              </a:spcBef>
              <a:spcAft>
                <a:spcPts val="0"/>
              </a:spcAft>
              <a:buSzPct val="100000"/>
              <a:buChar char="-"/>
            </a:pPr>
            <a:r>
              <a:rPr lang="en"/>
              <a:t>Change MFA to email-based from SMS</a:t>
            </a:r>
            <a:endParaRPr/>
          </a:p>
          <a:p>
            <a:pPr indent="-297498" lvl="0" marL="457200" rtl="0" algn="l">
              <a:spcBef>
                <a:spcPts val="0"/>
              </a:spcBef>
              <a:spcAft>
                <a:spcPts val="0"/>
              </a:spcAft>
              <a:buSzPct val="100000"/>
              <a:buChar char="-"/>
            </a:pPr>
            <a:r>
              <a:rPr lang="en"/>
              <a:t>Improve login UI</a:t>
            </a:r>
            <a:endParaRPr/>
          </a:p>
          <a:p>
            <a:pPr indent="0" lvl="0" marL="0" rtl="0" algn="l">
              <a:spcBef>
                <a:spcPts val="1200"/>
              </a:spcBef>
              <a:spcAft>
                <a:spcPts val="0"/>
              </a:spcAft>
              <a:buNone/>
            </a:pPr>
            <a:r>
              <a:rPr b="1" lang="en"/>
              <a:t>GPT</a:t>
            </a:r>
            <a:endParaRPr b="1"/>
          </a:p>
          <a:p>
            <a:pPr indent="-297498" lvl="0" marL="457200" rtl="0" algn="l">
              <a:spcBef>
                <a:spcPts val="1200"/>
              </a:spcBef>
              <a:spcAft>
                <a:spcPts val="0"/>
              </a:spcAft>
              <a:buSzPct val="100000"/>
              <a:buChar char="-"/>
            </a:pPr>
            <a:r>
              <a:rPr lang="en"/>
              <a:t>Use latest GPT format for AI to save cost &amp; improve accuracy</a:t>
            </a:r>
            <a:endParaRPr/>
          </a:p>
          <a:p>
            <a:pPr indent="0" lvl="0" marL="0" rtl="0" algn="l">
              <a:spcBef>
                <a:spcPts val="1200"/>
              </a:spcBef>
              <a:spcAft>
                <a:spcPts val="0"/>
              </a:spcAft>
              <a:buNone/>
            </a:pPr>
            <a:r>
              <a:rPr b="1" lang="en"/>
              <a:t>Security</a:t>
            </a:r>
            <a:endParaRPr b="1"/>
          </a:p>
          <a:p>
            <a:pPr indent="-297498" lvl="0" marL="457200" rtl="0" algn="l">
              <a:spcBef>
                <a:spcPts val="1200"/>
              </a:spcBef>
              <a:spcAft>
                <a:spcPts val="0"/>
              </a:spcAft>
              <a:buSzPct val="100000"/>
              <a:buChar char="-"/>
            </a:pPr>
            <a:r>
              <a:rPr lang="en"/>
              <a:t>Automate penetration test scans</a:t>
            </a:r>
            <a:endParaRPr/>
          </a:p>
          <a:p>
            <a:pPr indent="-297498" lvl="0" marL="457200" rtl="0" algn="l">
              <a:spcBef>
                <a:spcPts val="0"/>
              </a:spcBef>
              <a:spcAft>
                <a:spcPts val="0"/>
              </a:spcAft>
              <a:buSzPct val="100000"/>
              <a:buChar char="-"/>
            </a:pPr>
            <a:r>
              <a:rPr lang="en"/>
              <a:t>Solve all medium security issues identified</a:t>
            </a:r>
            <a:endParaRPr/>
          </a:p>
        </p:txBody>
      </p:sp>
      <p:sp>
        <p:nvSpPr>
          <p:cNvPr id="219" name="Google Shape;219;p24"/>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fontScale="70000" lnSpcReduction="10000"/>
          </a:bodyPr>
          <a:lstStyle/>
          <a:p>
            <a:pPr indent="0" lvl="0" marL="0" rtl="0" algn="l">
              <a:spcBef>
                <a:spcPts val="0"/>
              </a:spcBef>
              <a:spcAft>
                <a:spcPts val="0"/>
              </a:spcAft>
              <a:buNone/>
            </a:pPr>
            <a:r>
              <a:rPr b="1" lang="en"/>
              <a:t>Testing</a:t>
            </a:r>
            <a:endParaRPr b="1"/>
          </a:p>
          <a:p>
            <a:pPr indent="-290830" lvl="0" marL="457200" rtl="0" algn="l">
              <a:spcBef>
                <a:spcPts val="1200"/>
              </a:spcBef>
              <a:spcAft>
                <a:spcPts val="0"/>
              </a:spcAft>
              <a:buSzPct val="100000"/>
              <a:buChar char="-"/>
            </a:pPr>
            <a:r>
              <a:rPr lang="en"/>
              <a:t>Faster release cycle by sharing regression testing across dev team &amp; with UI Testing Automation</a:t>
            </a:r>
            <a:endParaRPr/>
          </a:p>
          <a:p>
            <a:pPr indent="-290830" lvl="0" marL="457200" rtl="0" algn="l">
              <a:spcBef>
                <a:spcPts val="0"/>
              </a:spcBef>
              <a:spcAft>
                <a:spcPts val="0"/>
              </a:spcAft>
              <a:buSzPct val="100000"/>
              <a:buChar char="-"/>
            </a:pPr>
            <a:r>
              <a:rPr lang="en"/>
              <a:t>Use load testing to validate optimal resourcing levels</a:t>
            </a:r>
            <a:endParaRPr/>
          </a:p>
          <a:p>
            <a:pPr indent="0" lvl="0" marL="0" rtl="0" algn="l">
              <a:spcBef>
                <a:spcPts val="1200"/>
              </a:spcBef>
              <a:spcAft>
                <a:spcPts val="0"/>
              </a:spcAft>
              <a:buNone/>
            </a:pPr>
            <a:r>
              <a:rPr b="1" lang="en"/>
              <a:t>Devops</a:t>
            </a:r>
            <a:endParaRPr b="1"/>
          </a:p>
          <a:p>
            <a:pPr indent="-290830" lvl="0" marL="457200" rtl="0" algn="l">
              <a:spcBef>
                <a:spcPts val="1200"/>
              </a:spcBef>
              <a:spcAft>
                <a:spcPts val="0"/>
              </a:spcAft>
              <a:buSzPct val="100000"/>
              <a:buChar char="-"/>
            </a:pPr>
            <a:r>
              <a:rPr lang="en"/>
              <a:t>Replace 3rd party services (Mandrill, Filestack, Twilio) with AWS services to reduce cost &amp; improve compliance</a:t>
            </a:r>
            <a:endParaRPr/>
          </a:p>
          <a:p>
            <a:pPr indent="-290830" lvl="0" marL="457200" rtl="0" algn="l">
              <a:spcBef>
                <a:spcPts val="0"/>
              </a:spcBef>
              <a:spcAft>
                <a:spcPts val="0"/>
              </a:spcAft>
              <a:buSzPct val="100000"/>
              <a:buChar char="-"/>
            </a:pPr>
            <a:r>
              <a:rPr lang="en"/>
              <a:t>Proactively scale up/down based on go live usage information</a:t>
            </a:r>
            <a:endParaRPr/>
          </a:p>
          <a:p>
            <a:pPr indent="-290830" lvl="0" marL="457200" rtl="0" algn="l">
              <a:spcBef>
                <a:spcPts val="0"/>
              </a:spcBef>
              <a:spcAft>
                <a:spcPts val="0"/>
              </a:spcAft>
              <a:buSzPct val="100000"/>
              <a:buChar char="-"/>
            </a:pPr>
            <a:r>
              <a:rPr lang="en"/>
              <a:t>Standardize &amp; secure developer environment</a:t>
            </a:r>
            <a:endParaRPr/>
          </a:p>
          <a:p>
            <a:pPr indent="-290830" lvl="0" marL="457200" rtl="0" algn="l">
              <a:spcBef>
                <a:spcPts val="0"/>
              </a:spcBef>
              <a:spcAft>
                <a:spcPts val="0"/>
              </a:spcAft>
              <a:buSzPct val="100000"/>
              <a:buChar char="-"/>
            </a:pPr>
            <a:r>
              <a:rPr lang="en"/>
              <a:t>Ongoing cost optimization</a:t>
            </a:r>
            <a:endParaRPr/>
          </a:p>
          <a:p>
            <a:pPr indent="0" lvl="0" marL="0" rtl="0" algn="l">
              <a:spcBef>
                <a:spcPts val="1200"/>
              </a:spcBef>
              <a:spcAft>
                <a:spcPts val="0"/>
              </a:spcAft>
              <a:buNone/>
            </a:pPr>
            <a:r>
              <a:rPr b="1" lang="en"/>
              <a:t>Bugfixes</a:t>
            </a:r>
            <a:endParaRPr b="1"/>
          </a:p>
          <a:p>
            <a:pPr indent="-290830" lvl="0" marL="457200" rtl="0" algn="l">
              <a:spcBef>
                <a:spcPts val="1200"/>
              </a:spcBef>
              <a:spcAft>
                <a:spcPts val="0"/>
              </a:spcAft>
              <a:buSzPct val="100000"/>
              <a:buChar char="-"/>
            </a:pPr>
            <a:r>
              <a:rPr lang="en"/>
              <a:t>Continue to reduce backlog to &lt; 10 active bugs</a:t>
            </a:r>
            <a:endParaRPr/>
          </a:p>
          <a:p>
            <a:pPr indent="0" lvl="0" marL="0" rtl="0" algn="l">
              <a:spcBef>
                <a:spcPts val="120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5"/>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Unprioritized Features</a:t>
            </a:r>
            <a:endParaRPr/>
          </a:p>
        </p:txBody>
      </p:sp>
      <p:sp>
        <p:nvSpPr>
          <p:cNvPr id="225" name="Google Shape;225;p25"/>
          <p:cNvSpPr txBox="1"/>
          <p:nvPr>
            <p:ph idx="2" type="body"/>
          </p:nvPr>
        </p:nvSpPr>
        <p:spPr>
          <a:xfrm>
            <a:off x="424200" y="1266175"/>
            <a:ext cx="8408100" cy="33027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a:t>Reporting System - Phase 2 - Enhanced Reporting</a:t>
            </a:r>
            <a:endParaRPr b="1"/>
          </a:p>
          <a:p>
            <a:pPr indent="0" lvl="0" marL="0" rtl="0" algn="l">
              <a:spcBef>
                <a:spcPts val="1200"/>
              </a:spcBef>
              <a:spcAft>
                <a:spcPts val="0"/>
              </a:spcAft>
              <a:buNone/>
            </a:pPr>
            <a:r>
              <a:rPr b="1" lang="en" sz="1150"/>
              <a:t>Problem: end-of-program reports are time consuming</a:t>
            </a:r>
            <a:endParaRPr b="1" sz="1150"/>
          </a:p>
          <a:p>
            <a:pPr indent="-317500" lvl="0" marL="457200" rtl="0" algn="l">
              <a:spcBef>
                <a:spcPts val="1200"/>
              </a:spcBef>
              <a:spcAft>
                <a:spcPts val="0"/>
              </a:spcAft>
              <a:buSzPts val="1400"/>
              <a:buChar char="-"/>
            </a:pPr>
            <a:r>
              <a:rPr lang="en"/>
              <a:t>Automate End-of-Program Report Data Gathering</a:t>
            </a:r>
            <a:endParaRPr/>
          </a:p>
          <a:p>
            <a:pPr indent="-317500" lvl="0" marL="457200" rtl="0" algn="l">
              <a:spcBef>
                <a:spcPts val="0"/>
              </a:spcBef>
              <a:spcAft>
                <a:spcPts val="0"/>
              </a:spcAft>
              <a:buSzPts val="1400"/>
              <a:buChar char="-"/>
            </a:pPr>
            <a:r>
              <a:rPr lang="en"/>
              <a:t>Analysis will be per experience, can roll-up to whole institution</a:t>
            </a:r>
            <a:endParaRPr/>
          </a:p>
          <a:p>
            <a:pPr indent="-317500" lvl="0" marL="457200" rtl="0" algn="l">
              <a:spcBef>
                <a:spcPts val="0"/>
              </a:spcBef>
              <a:spcAft>
                <a:spcPts val="0"/>
              </a:spcAft>
              <a:buSzPts val="1400"/>
              <a:buChar char="-"/>
            </a:pPr>
            <a:r>
              <a:rPr lang="en"/>
              <a:t>Initial scope is to provide a CSV export similar to existing exports that covers all the essential stats necessary for end of program reporting</a:t>
            </a:r>
            <a:endParaRPr/>
          </a:p>
          <a:p>
            <a:pPr indent="-304800" lvl="1" marL="914400" rtl="0" algn="l">
              <a:spcBef>
                <a:spcPts val="0"/>
              </a:spcBef>
              <a:spcAft>
                <a:spcPts val="0"/>
              </a:spcAft>
              <a:buSzPts val="1200"/>
              <a:buChar char="-"/>
            </a:pPr>
            <a:r>
              <a:rPr lang="en"/>
              <a:t>Need to get list of desired analytics from Programs team</a:t>
            </a:r>
            <a:endParaRPr/>
          </a:p>
          <a:p>
            <a:pPr indent="-304800" lvl="1" marL="914400" rtl="0" algn="l">
              <a:spcBef>
                <a:spcPts val="0"/>
              </a:spcBef>
              <a:spcAft>
                <a:spcPts val="0"/>
              </a:spcAft>
              <a:buSzPts val="1200"/>
              <a:buChar char="-"/>
            </a:pPr>
            <a:r>
              <a:rPr lang="en"/>
              <a:t>Need UI for selecting assessments/questions to do statistical analysis for export</a:t>
            </a:r>
            <a:endParaRPr/>
          </a:p>
          <a:p>
            <a:pPr indent="-317500" lvl="0" marL="457200" rtl="0" algn="l">
              <a:spcBef>
                <a:spcPts val="0"/>
              </a:spcBef>
              <a:spcAft>
                <a:spcPts val="0"/>
              </a:spcAft>
              <a:buSzPts val="1400"/>
              <a:buChar char="-"/>
            </a:pPr>
            <a:r>
              <a:rPr lang="en"/>
              <a:t>Out of scope for Phase 1:</a:t>
            </a:r>
            <a:endParaRPr/>
          </a:p>
          <a:p>
            <a:pPr indent="-304800" lvl="1" marL="914400" rtl="0" algn="l">
              <a:spcBef>
                <a:spcPts val="0"/>
              </a:spcBef>
              <a:spcAft>
                <a:spcPts val="0"/>
              </a:spcAft>
              <a:buSzPts val="1200"/>
              <a:buChar char="-"/>
            </a:pPr>
            <a:r>
              <a:rPr lang="en"/>
              <a:t>Multi-institution reporting (whitepapers) - requires complex handling of privacy / GDPR</a:t>
            </a:r>
            <a:endParaRPr/>
          </a:p>
          <a:p>
            <a:pPr indent="-304800" lvl="1" marL="914400" rtl="0" algn="l">
              <a:spcBef>
                <a:spcPts val="0"/>
              </a:spcBef>
              <a:spcAft>
                <a:spcPts val="0"/>
              </a:spcAft>
              <a:buSzPts val="1200"/>
              <a:buChar char="-"/>
            </a:pPr>
            <a:r>
              <a:rPr lang="en"/>
              <a:t>Report generation - the programs team will experiment with different 3rd party packages</a:t>
            </a:r>
            <a:endParaRPr/>
          </a:p>
          <a:p>
            <a:pPr indent="0" lvl="0" marL="0" rtl="0" algn="l">
              <a:spcBef>
                <a:spcPts val="1200"/>
              </a:spcBef>
              <a:spcAft>
                <a:spcPts val="1200"/>
              </a:spcAft>
              <a:buNone/>
            </a:pPr>
            <a:r>
              <a:rPr b="1" lang="en"/>
              <a:t>Key Developers: Shawn, Terence</a:t>
            </a:r>
            <a:endParaRPr b="1"/>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6"/>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Unprioritized </a:t>
            </a:r>
            <a:r>
              <a:rPr lang="en"/>
              <a:t>Features, continued</a:t>
            </a:r>
            <a:endParaRPr/>
          </a:p>
        </p:txBody>
      </p:sp>
      <p:sp>
        <p:nvSpPr>
          <p:cNvPr id="231" name="Google Shape;231;p26"/>
          <p:cNvSpPr txBox="1"/>
          <p:nvPr>
            <p:ph idx="1" type="body"/>
          </p:nvPr>
        </p:nvSpPr>
        <p:spPr>
          <a:xfrm>
            <a:off x="311700" y="1266175"/>
            <a:ext cx="81099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Practera Automation</a:t>
            </a:r>
            <a:endParaRPr b="1"/>
          </a:p>
          <a:p>
            <a:pPr indent="0" lvl="0" marL="0" rtl="0" algn="l">
              <a:spcBef>
                <a:spcPts val="1200"/>
              </a:spcBef>
              <a:spcAft>
                <a:spcPts val="0"/>
              </a:spcAft>
              <a:buNone/>
            </a:pPr>
            <a:r>
              <a:rPr b="1" lang="en" sz="1150"/>
              <a:t>Problem: too many repetitive tasks to use practera </a:t>
            </a:r>
            <a:endParaRPr b="1" sz="1150"/>
          </a:p>
          <a:p>
            <a:pPr indent="-317500" lvl="0" marL="457200" rtl="0" algn="l">
              <a:spcBef>
                <a:spcPts val="1200"/>
              </a:spcBef>
              <a:spcAft>
                <a:spcPts val="0"/>
              </a:spcAft>
              <a:buSzPts val="1400"/>
              <a:buChar char="-"/>
            </a:pPr>
            <a:r>
              <a:rPr lang="en"/>
              <a:t>Unified system for making things happen “automatically” when conditions are met</a:t>
            </a:r>
            <a:endParaRPr/>
          </a:p>
          <a:p>
            <a:pPr indent="-317500" lvl="0" marL="457200" rtl="0" algn="l">
              <a:spcBef>
                <a:spcPts val="0"/>
              </a:spcBef>
              <a:spcAft>
                <a:spcPts val="0"/>
              </a:spcAft>
              <a:buSzPts val="1400"/>
              <a:buChar char="-"/>
            </a:pPr>
            <a:r>
              <a:rPr lang="en"/>
              <a:t>Examples: automate submission reminder notifications, registration reminders, feedback reminders, ELSA interventions</a:t>
            </a:r>
            <a:endParaRPr/>
          </a:p>
          <a:p>
            <a:pPr indent="-317500" lvl="0" marL="457200" rtl="0" algn="l">
              <a:spcBef>
                <a:spcPts val="0"/>
              </a:spcBef>
              <a:spcAft>
                <a:spcPts val="0"/>
              </a:spcAft>
              <a:buSzPts val="1400"/>
              <a:buChar char="-"/>
            </a:pPr>
            <a:r>
              <a:rPr lang="en"/>
              <a:t>Automations build on “triggers” - will be able to send notifications in addition to badges &amp; unlocks, when conditions met</a:t>
            </a:r>
            <a:endParaRPr/>
          </a:p>
          <a:p>
            <a:pPr indent="-317500" lvl="0" marL="457200" rtl="0" algn="l">
              <a:spcBef>
                <a:spcPts val="0"/>
              </a:spcBef>
              <a:spcAft>
                <a:spcPts val="0"/>
              </a:spcAft>
              <a:buSzPts val="1400"/>
              <a:buChar char="-"/>
            </a:pPr>
            <a:r>
              <a:rPr lang="en"/>
              <a:t>New trigger conditions - trigger on/after date - e.g. if not submitted and the submission date has passed, send reminder.</a:t>
            </a:r>
            <a:endParaRPr/>
          </a:p>
          <a:p>
            <a:pPr indent="-317500" lvl="0" marL="457200" rtl="0" algn="l">
              <a:spcBef>
                <a:spcPts val="0"/>
              </a:spcBef>
              <a:spcAft>
                <a:spcPts val="0"/>
              </a:spcAft>
              <a:buSzPts val="1400"/>
              <a:buChar char="-"/>
            </a:pPr>
            <a:r>
              <a:rPr lang="en"/>
              <a:t>Consistent branding, customizable templates for ALL current notifications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7"/>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Unprioritized Features, </a:t>
            </a:r>
            <a:r>
              <a:rPr lang="en"/>
              <a:t>continued</a:t>
            </a:r>
            <a:endParaRPr/>
          </a:p>
        </p:txBody>
      </p:sp>
      <p:sp>
        <p:nvSpPr>
          <p:cNvPr id="237" name="Google Shape;237;p27"/>
          <p:cNvSpPr txBox="1"/>
          <p:nvPr>
            <p:ph idx="2" type="body"/>
          </p:nvPr>
        </p:nvSpPr>
        <p:spPr>
          <a:xfrm>
            <a:off x="424200" y="1266175"/>
            <a:ext cx="84081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Compliance Assessments</a:t>
            </a:r>
            <a:endParaRPr b="1"/>
          </a:p>
          <a:p>
            <a:pPr indent="0" lvl="0" marL="0" rtl="0" algn="l">
              <a:spcBef>
                <a:spcPts val="1200"/>
              </a:spcBef>
              <a:spcAft>
                <a:spcPts val="0"/>
              </a:spcAft>
              <a:buNone/>
            </a:pPr>
            <a:r>
              <a:rPr b="1" lang="en" sz="1150"/>
              <a:t>Problem: current moderated assessments are clunky for handling compliance files</a:t>
            </a:r>
            <a:endParaRPr b="1" sz="1150"/>
          </a:p>
          <a:p>
            <a:pPr indent="-317500" lvl="0" marL="457200" rtl="0" algn="l">
              <a:spcBef>
                <a:spcPts val="1200"/>
              </a:spcBef>
              <a:spcAft>
                <a:spcPts val="0"/>
              </a:spcAft>
              <a:buSzPts val="1400"/>
              <a:buChar char="-"/>
            </a:pPr>
            <a:r>
              <a:rPr lang="en"/>
              <a:t>New assessment type: compliance</a:t>
            </a:r>
            <a:endParaRPr/>
          </a:p>
          <a:p>
            <a:pPr indent="-317500" lvl="0" marL="457200" rtl="0" algn="l">
              <a:spcBef>
                <a:spcPts val="0"/>
              </a:spcBef>
              <a:spcAft>
                <a:spcPts val="0"/>
              </a:spcAft>
              <a:buSzPts val="1400"/>
              <a:buChar char="-"/>
            </a:pPr>
            <a:r>
              <a:rPr lang="en"/>
              <a:t>Admin can easily review &amp; verify or require resubmission w/comments</a:t>
            </a:r>
            <a:endParaRPr/>
          </a:p>
          <a:p>
            <a:pPr indent="-317500" lvl="0" marL="457200" rtl="0" algn="l">
              <a:spcBef>
                <a:spcPts val="0"/>
              </a:spcBef>
              <a:spcAft>
                <a:spcPts val="0"/>
              </a:spcAft>
              <a:buSzPts val="1400"/>
              <a:buChar char="-"/>
            </a:pPr>
            <a:r>
              <a:rPr lang="en"/>
              <a:t>Assessment management screen shows compliance status</a:t>
            </a:r>
            <a:endParaRPr/>
          </a:p>
          <a:p>
            <a:pPr indent="-317500" lvl="0" marL="457200" rtl="0" algn="l">
              <a:spcBef>
                <a:spcPts val="0"/>
              </a:spcBef>
              <a:spcAft>
                <a:spcPts val="0"/>
              </a:spcAft>
              <a:buSzPts val="1400"/>
              <a:buChar char="-"/>
            </a:pPr>
            <a:r>
              <a:rPr lang="en"/>
              <a:t>Unlocks can be set based on admin marking the assessment as compliant</a:t>
            </a:r>
            <a:endParaRPr/>
          </a:p>
          <a:p>
            <a:pPr indent="-317500" lvl="0" marL="457200" rtl="0" algn="l">
              <a:spcBef>
                <a:spcPts val="0"/>
              </a:spcBef>
              <a:spcAft>
                <a:spcPts val="0"/>
              </a:spcAft>
              <a:buSzPts val="1400"/>
              <a:buChar char="-"/>
            </a:pPr>
            <a:r>
              <a:rPr lang="en"/>
              <a:t>Can also be used for timesheets</a:t>
            </a:r>
            <a:endParaRPr/>
          </a:p>
          <a:p>
            <a:pPr indent="0" lvl="0" marL="0" rtl="0" algn="l">
              <a:spcBef>
                <a:spcPts val="1200"/>
              </a:spcBef>
              <a:spcAft>
                <a:spcPts val="1200"/>
              </a:spcAft>
              <a:buNone/>
            </a:pPr>
            <a:r>
              <a:rPr b="1" lang="en"/>
              <a:t>Key Developers: Wes, Chaw</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8"/>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Unprioritized </a:t>
            </a:r>
            <a:r>
              <a:rPr lang="en"/>
              <a:t>Features, continued</a:t>
            </a:r>
            <a:endParaRPr/>
          </a:p>
        </p:txBody>
      </p:sp>
      <p:sp>
        <p:nvSpPr>
          <p:cNvPr id="243" name="Google Shape;243;p28"/>
          <p:cNvSpPr txBox="1"/>
          <p:nvPr>
            <p:ph idx="1" type="body"/>
          </p:nvPr>
        </p:nvSpPr>
        <p:spPr>
          <a:xfrm>
            <a:off x="311700" y="1266175"/>
            <a:ext cx="3999900" cy="33027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en"/>
              <a:t>Project Briefs </a:t>
            </a:r>
            <a:endParaRPr b="1"/>
          </a:p>
          <a:p>
            <a:pPr indent="0" lvl="0" marL="0" rtl="0" algn="l">
              <a:spcBef>
                <a:spcPts val="1200"/>
              </a:spcBef>
              <a:spcAft>
                <a:spcPts val="0"/>
              </a:spcAft>
              <a:buNone/>
            </a:pPr>
            <a:r>
              <a:rPr b="1" lang="en" sz="1100"/>
              <a:t>Problem: project briefs are NOT in practera</a:t>
            </a:r>
            <a:endParaRPr b="1" sz="1100"/>
          </a:p>
          <a:p>
            <a:pPr indent="-310833" lvl="0" marL="457200" rtl="0" algn="l">
              <a:spcBef>
                <a:spcPts val="1200"/>
              </a:spcBef>
              <a:spcAft>
                <a:spcPts val="0"/>
              </a:spcAft>
              <a:buSzPct val="100000"/>
              <a:buChar char="-"/>
            </a:pPr>
            <a:r>
              <a:rPr lang="en"/>
              <a:t>Collect briefs via hubspot</a:t>
            </a:r>
            <a:endParaRPr/>
          </a:p>
          <a:p>
            <a:pPr indent="-310833" lvl="0" marL="457200" rtl="0" algn="l">
              <a:spcBef>
                <a:spcPts val="0"/>
              </a:spcBef>
              <a:spcAft>
                <a:spcPts val="0"/>
              </a:spcAft>
              <a:buSzPct val="100000"/>
              <a:buChar char="-"/>
            </a:pPr>
            <a:r>
              <a:rPr lang="en"/>
              <a:t>Pull data from hubspot into Practera</a:t>
            </a:r>
            <a:endParaRPr/>
          </a:p>
          <a:p>
            <a:pPr indent="-310833" lvl="0" marL="457200" rtl="0" algn="l">
              <a:spcBef>
                <a:spcPts val="0"/>
              </a:spcBef>
              <a:spcAft>
                <a:spcPts val="0"/>
              </a:spcAft>
              <a:buSzPct val="100000"/>
              <a:buChar char="-"/>
            </a:pPr>
            <a:r>
              <a:rPr lang="en"/>
              <a:t>Admin can select &amp; assign briefs </a:t>
            </a:r>
            <a:endParaRPr/>
          </a:p>
          <a:p>
            <a:pPr indent="-310833" lvl="0" marL="457200" rtl="0" algn="l">
              <a:spcBef>
                <a:spcPts val="0"/>
              </a:spcBef>
              <a:spcAft>
                <a:spcPts val="0"/>
              </a:spcAft>
              <a:buSzPct val="100000"/>
              <a:buChar char="-"/>
            </a:pPr>
            <a:r>
              <a:rPr lang="en"/>
              <a:t>Briefs details appear in App on home page. Potentially interactive elements</a:t>
            </a:r>
            <a:endParaRPr/>
          </a:p>
          <a:p>
            <a:pPr indent="0" lvl="0" marL="0" rtl="0" algn="l">
              <a:spcBef>
                <a:spcPts val="1200"/>
              </a:spcBef>
              <a:spcAft>
                <a:spcPts val="0"/>
              </a:spcAft>
              <a:buNone/>
            </a:pPr>
            <a:r>
              <a:rPr b="1" lang="en"/>
              <a:t>H5P Integration</a:t>
            </a:r>
            <a:endParaRPr b="1"/>
          </a:p>
          <a:p>
            <a:pPr indent="0" lvl="0" marL="0" rtl="0" algn="l">
              <a:spcBef>
                <a:spcPts val="1200"/>
              </a:spcBef>
              <a:spcAft>
                <a:spcPts val="0"/>
              </a:spcAft>
              <a:buNone/>
            </a:pPr>
            <a:r>
              <a:rPr b="1" lang="en" sz="1100"/>
              <a:t>Problem: support interactive content</a:t>
            </a:r>
            <a:endParaRPr b="1" sz="1100"/>
          </a:p>
          <a:p>
            <a:pPr indent="-310833" lvl="0" marL="457200" rtl="0" algn="l">
              <a:spcBef>
                <a:spcPts val="1200"/>
              </a:spcBef>
              <a:spcAft>
                <a:spcPts val="0"/>
              </a:spcAft>
              <a:buSzPct val="100000"/>
              <a:buChar char="-"/>
            </a:pPr>
            <a:r>
              <a:rPr lang="en"/>
              <a:t>Ensure progress is loaded/saved/integrated with overall progress</a:t>
            </a:r>
            <a:endParaRPr/>
          </a:p>
          <a:p>
            <a:pPr indent="0" lvl="0" marL="0" rtl="0" algn="l">
              <a:spcBef>
                <a:spcPts val="1200"/>
              </a:spcBef>
              <a:spcAft>
                <a:spcPts val="1200"/>
              </a:spcAft>
              <a:buNone/>
            </a:pPr>
            <a:r>
              <a:t/>
            </a:r>
            <a:endParaRPr b="1"/>
          </a:p>
        </p:txBody>
      </p:sp>
      <p:sp>
        <p:nvSpPr>
          <p:cNvPr id="244" name="Google Shape;244;p28"/>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a:t>Slack</a:t>
            </a:r>
            <a:endParaRPr b="1"/>
          </a:p>
          <a:p>
            <a:pPr indent="0" lvl="0" marL="0" rtl="0" algn="l">
              <a:spcBef>
                <a:spcPts val="1200"/>
              </a:spcBef>
              <a:spcAft>
                <a:spcPts val="0"/>
              </a:spcAft>
              <a:buNone/>
            </a:pPr>
            <a:r>
              <a:rPr b="1" lang="en" sz="1100"/>
              <a:t>Problem: students don’t use email, we don’t have an app</a:t>
            </a:r>
            <a:endParaRPr b="1" sz="1100"/>
          </a:p>
          <a:p>
            <a:pPr indent="-317500" lvl="0" marL="457200" rtl="0" algn="l">
              <a:spcBef>
                <a:spcPts val="1200"/>
              </a:spcBef>
              <a:spcAft>
                <a:spcPts val="0"/>
              </a:spcAft>
              <a:buSzPts val="1400"/>
              <a:buChar char="-"/>
            </a:pPr>
            <a:r>
              <a:rPr lang="en"/>
              <a:t>Ensure existing slack integration is working &amp; full supported</a:t>
            </a:r>
            <a:endParaRPr/>
          </a:p>
          <a:p>
            <a:pPr indent="-317500" lvl="0" marL="457200" rtl="0" algn="l">
              <a:spcBef>
                <a:spcPts val="0"/>
              </a:spcBef>
              <a:spcAft>
                <a:spcPts val="0"/>
              </a:spcAft>
              <a:buSzPts val="1400"/>
              <a:buChar char="-"/>
            </a:pPr>
            <a:r>
              <a:rPr lang="en"/>
              <a:t>Integrate chat so slack &amp; practera chat is twinned &amp; support threading</a:t>
            </a:r>
            <a:endParaRPr/>
          </a:p>
          <a:p>
            <a:pPr indent="-317500" lvl="0" marL="457200" rtl="0" algn="l">
              <a:spcBef>
                <a:spcPts val="0"/>
              </a:spcBef>
              <a:spcAft>
                <a:spcPts val="0"/>
              </a:spcAft>
              <a:buSzPts val="1400"/>
              <a:buChar char="-"/>
            </a:pPr>
            <a:r>
              <a:rPr lang="en"/>
              <a:t>Deliver reminders/notifications/pulse checks via slack</a:t>
            </a:r>
            <a:endParaRPr/>
          </a:p>
          <a:p>
            <a:pPr indent="0" lvl="0" marL="0" rtl="0" algn="l">
              <a:spcBef>
                <a:spcPts val="1200"/>
              </a:spcBef>
              <a:spcAft>
                <a:spcPts val="0"/>
              </a:spcAft>
              <a:buNone/>
            </a:pPr>
            <a:r>
              <a:rPr b="1" lang="en" sz="1100"/>
              <a:t>Problem: various issues with Practera Chat</a:t>
            </a:r>
            <a:endParaRPr b="1" sz="1100"/>
          </a:p>
          <a:p>
            <a:pPr indent="-317500" lvl="0" marL="457200" rtl="0" algn="l">
              <a:spcBef>
                <a:spcPts val="1200"/>
              </a:spcBef>
              <a:spcAft>
                <a:spcPts val="0"/>
              </a:spcAft>
              <a:buSzPts val="1400"/>
              <a:buChar char="-"/>
            </a:pPr>
            <a:r>
              <a:rPr lang="en"/>
              <a:t>Once we have slack, we can use it for more complex chat requirements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9"/>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Unprioritized </a:t>
            </a:r>
            <a:r>
              <a:rPr lang="en"/>
              <a:t>Features, continued</a:t>
            </a:r>
            <a:endParaRPr/>
          </a:p>
        </p:txBody>
      </p:sp>
      <p:sp>
        <p:nvSpPr>
          <p:cNvPr id="250" name="Google Shape;250;p29"/>
          <p:cNvSpPr txBox="1"/>
          <p:nvPr>
            <p:ph idx="2" type="body"/>
          </p:nvPr>
        </p:nvSpPr>
        <p:spPr>
          <a:xfrm>
            <a:off x="311700" y="1152475"/>
            <a:ext cx="8520600" cy="394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rPr b="1" lang="en" sz="1100"/>
              <a:t>Admin Unread Chat Notifications</a:t>
            </a:r>
            <a:endParaRPr b="1" sz="1100"/>
          </a:p>
          <a:p>
            <a:pPr indent="-298450" lvl="0" marL="457200" rtl="0" algn="l">
              <a:spcBef>
                <a:spcPts val="1200"/>
              </a:spcBef>
              <a:spcAft>
                <a:spcPts val="0"/>
              </a:spcAft>
              <a:buSzPts val="1100"/>
              <a:buChar char="-"/>
            </a:pPr>
            <a:r>
              <a:rPr lang="en" sz="1100"/>
              <a:t>Send admins a regular “digest” of unread messages across all the various team channels</a:t>
            </a:r>
            <a:endParaRPr sz="1100"/>
          </a:p>
          <a:p>
            <a:pPr indent="0" lvl="0" marL="0" rtl="0" algn="l">
              <a:spcBef>
                <a:spcPts val="1200"/>
              </a:spcBef>
              <a:spcAft>
                <a:spcPts val="0"/>
              </a:spcAft>
              <a:buSzPts val="605"/>
              <a:buNone/>
            </a:pPr>
            <a:r>
              <a:rPr b="1" lang="en" sz="1100"/>
              <a:t>Notification Inbox In App</a:t>
            </a:r>
            <a:endParaRPr b="1" sz="1100"/>
          </a:p>
          <a:p>
            <a:pPr indent="-298450" lvl="0" marL="457200" rtl="0" algn="l">
              <a:spcBef>
                <a:spcPts val="1200"/>
              </a:spcBef>
              <a:spcAft>
                <a:spcPts val="0"/>
              </a:spcAft>
              <a:buSzPts val="1100"/>
              <a:buChar char="-"/>
            </a:pPr>
            <a:r>
              <a:rPr lang="en" sz="1100"/>
              <a:t>All “automated” notifications are delivered to a special chat channel in the app</a:t>
            </a:r>
            <a:endParaRPr sz="1100"/>
          </a:p>
          <a:p>
            <a:pPr indent="0" lvl="0" marL="0" rtl="0" algn="l">
              <a:spcBef>
                <a:spcPts val="1200"/>
              </a:spcBef>
              <a:spcAft>
                <a:spcPts val="0"/>
              </a:spcAft>
              <a:buNone/>
            </a:pPr>
            <a:r>
              <a:rPr b="1" lang="en" sz="1100"/>
              <a:t>Official Integration with Canvas, Brightspace</a:t>
            </a:r>
            <a:endParaRPr b="1" sz="1100"/>
          </a:p>
          <a:p>
            <a:pPr indent="-298450" lvl="0" marL="457200" rtl="0" algn="l">
              <a:spcBef>
                <a:spcPts val="1200"/>
              </a:spcBef>
              <a:spcAft>
                <a:spcPts val="0"/>
              </a:spcAft>
              <a:buSzPts val="1100"/>
              <a:buChar char="-"/>
            </a:pPr>
            <a:r>
              <a:rPr lang="en" sz="1100"/>
              <a:t>Better documentation, certification, listing in their directory </a:t>
            </a:r>
            <a:endParaRPr sz="1100"/>
          </a:p>
          <a:p>
            <a:pPr indent="0" lvl="0" marL="0" rtl="0" algn="l">
              <a:spcBef>
                <a:spcPts val="1200"/>
              </a:spcBef>
              <a:spcAft>
                <a:spcPts val="0"/>
              </a:spcAft>
              <a:buNone/>
            </a:pPr>
            <a:r>
              <a:rPr b="1" lang="en" sz="1100"/>
              <a:t>Further Improve Assessment UX</a:t>
            </a:r>
            <a:endParaRPr b="1" sz="1100"/>
          </a:p>
          <a:p>
            <a:pPr indent="-298450" lvl="0" marL="457200" rtl="0" algn="l">
              <a:spcBef>
                <a:spcPts val="1200"/>
              </a:spcBef>
              <a:spcAft>
                <a:spcPts val="0"/>
              </a:spcAft>
              <a:buSzPts val="1100"/>
              <a:buChar char="-"/>
            </a:pPr>
            <a:r>
              <a:rPr lang="en" sz="1100"/>
              <a:t>Allow reviewers to see PDFs and other docs in split panel with review questions</a:t>
            </a:r>
            <a:endParaRPr sz="1100"/>
          </a:p>
          <a:p>
            <a:pPr indent="-298450" lvl="0" marL="457200" rtl="0" algn="l">
              <a:spcBef>
                <a:spcPts val="0"/>
              </a:spcBef>
              <a:spcAft>
                <a:spcPts val="0"/>
              </a:spcAft>
              <a:buSzPts val="1100"/>
              <a:buChar char="-"/>
            </a:pPr>
            <a:r>
              <a:rPr lang="en" sz="1100"/>
              <a:t>Allow PDF annotations</a:t>
            </a:r>
            <a:endParaRPr b="1" sz="1100"/>
          </a:p>
          <a:p>
            <a:pPr indent="-298450" lvl="0" marL="457200" rtl="0" algn="l">
              <a:spcBef>
                <a:spcPts val="0"/>
              </a:spcBef>
              <a:spcAft>
                <a:spcPts val="0"/>
              </a:spcAft>
              <a:buSzPts val="1100"/>
              <a:buChar char="-"/>
            </a:pPr>
            <a:r>
              <a:rPr lang="en" sz="1100"/>
              <a:t>Only create a single group for the Team360 - Practera will automatically create the hidden per-student groups</a:t>
            </a:r>
            <a:endParaRPr sz="1100"/>
          </a:p>
          <a:p>
            <a:pPr indent="0" lvl="0" marL="0" rtl="0" algn="l">
              <a:spcBef>
                <a:spcPts val="1200"/>
              </a:spcBef>
              <a:spcAft>
                <a:spcPts val="1200"/>
              </a:spcAft>
              <a:buNone/>
            </a:pPr>
            <a:r>
              <a:rPr b="1" lang="en" sz="1100"/>
              <a:t>Custom Activities for Project Tracking</a:t>
            </a:r>
            <a:endParaRPr b="1" sz="11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pic>
        <p:nvPicPr>
          <p:cNvPr id="255" name="Google Shape;255;p30"/>
          <p:cNvPicPr preferRelativeResize="0"/>
          <p:nvPr/>
        </p:nvPicPr>
        <p:blipFill>
          <a:blip r:embed="rId3">
            <a:alphaModFix/>
          </a:blip>
          <a:stretch>
            <a:fillRect/>
          </a:stretch>
        </p:blipFill>
        <p:spPr>
          <a:xfrm>
            <a:off x="522175" y="404875"/>
            <a:ext cx="1842275" cy="433875"/>
          </a:xfrm>
          <a:prstGeom prst="rect">
            <a:avLst/>
          </a:prstGeom>
          <a:noFill/>
          <a:ln>
            <a:noFill/>
          </a:ln>
        </p:spPr>
      </p:pic>
      <p:sp>
        <p:nvSpPr>
          <p:cNvPr id="256" name="Google Shape;256;p30"/>
          <p:cNvSpPr txBox="1"/>
          <p:nvPr/>
        </p:nvSpPr>
        <p:spPr>
          <a:xfrm>
            <a:off x="605125" y="1955125"/>
            <a:ext cx="3720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July</a:t>
            </a:r>
            <a:r>
              <a:rPr b="1" lang="en"/>
              <a:t> 2024</a:t>
            </a:r>
            <a:endParaRPr b="1"/>
          </a:p>
        </p:txBody>
      </p:sp>
      <p:sp>
        <p:nvSpPr>
          <p:cNvPr id="257" name="Google Shape;257;p30"/>
          <p:cNvSpPr txBox="1"/>
          <p:nvPr/>
        </p:nvSpPr>
        <p:spPr>
          <a:xfrm>
            <a:off x="605125" y="2355325"/>
            <a:ext cx="76401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300"/>
              <a:t>Platform Roadmap 2024 1st Half</a:t>
            </a:r>
            <a:endParaRPr b="1" sz="23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1"/>
          <p:cNvSpPr txBox="1"/>
          <p:nvPr/>
        </p:nvSpPr>
        <p:spPr>
          <a:xfrm>
            <a:off x="2521175" y="367650"/>
            <a:ext cx="1968600" cy="3078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Roboto Black"/>
                <a:ea typeface="Roboto Black"/>
                <a:cs typeface="Roboto Black"/>
                <a:sym typeface="Roboto Black"/>
              </a:rPr>
              <a:t>2024 Apr - Jun</a:t>
            </a:r>
            <a:endParaRPr sz="800">
              <a:latin typeface="Roboto Black"/>
              <a:ea typeface="Roboto Black"/>
              <a:cs typeface="Roboto Black"/>
              <a:sym typeface="Roboto Black"/>
            </a:endParaRPr>
          </a:p>
        </p:txBody>
      </p:sp>
      <p:sp>
        <p:nvSpPr>
          <p:cNvPr id="263" name="Google Shape;263;p31"/>
          <p:cNvSpPr txBox="1"/>
          <p:nvPr/>
        </p:nvSpPr>
        <p:spPr>
          <a:xfrm>
            <a:off x="4571993" y="367660"/>
            <a:ext cx="1996800" cy="3078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Roboto Black"/>
                <a:ea typeface="Roboto Black"/>
                <a:cs typeface="Roboto Black"/>
                <a:sym typeface="Roboto Black"/>
              </a:rPr>
              <a:t>2024 Jul - Sept</a:t>
            </a:r>
            <a:endParaRPr sz="800">
              <a:latin typeface="Roboto Black"/>
              <a:ea typeface="Roboto Black"/>
              <a:cs typeface="Roboto Black"/>
              <a:sym typeface="Roboto Black"/>
            </a:endParaRPr>
          </a:p>
        </p:txBody>
      </p:sp>
      <p:sp>
        <p:nvSpPr>
          <p:cNvPr id="264" name="Google Shape;264;p31"/>
          <p:cNvSpPr txBox="1"/>
          <p:nvPr/>
        </p:nvSpPr>
        <p:spPr>
          <a:xfrm>
            <a:off x="6645075" y="367650"/>
            <a:ext cx="1996800" cy="3078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Roboto Black"/>
                <a:ea typeface="Roboto Black"/>
                <a:cs typeface="Roboto Black"/>
                <a:sym typeface="Roboto Black"/>
              </a:rPr>
              <a:t>2024 Oct - Dec</a:t>
            </a:r>
            <a:endParaRPr sz="800">
              <a:latin typeface="Roboto Black"/>
              <a:ea typeface="Roboto Black"/>
              <a:cs typeface="Roboto Black"/>
              <a:sym typeface="Roboto Black"/>
            </a:endParaRPr>
          </a:p>
        </p:txBody>
      </p:sp>
      <p:sp>
        <p:nvSpPr>
          <p:cNvPr id="265" name="Google Shape;265;p31"/>
          <p:cNvSpPr txBox="1"/>
          <p:nvPr/>
        </p:nvSpPr>
        <p:spPr>
          <a:xfrm>
            <a:off x="4572600" y="734350"/>
            <a:ext cx="4042200" cy="292500"/>
          </a:xfrm>
          <a:prstGeom prst="rect">
            <a:avLst/>
          </a:prstGeom>
          <a:solidFill>
            <a:schemeClr val="lt1"/>
          </a:solidFill>
          <a:ln cap="flat" cmpd="sng" w="9525">
            <a:solidFill>
              <a:srgbClr val="00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Practera Automation (Shawn, Terence, Sunil/Rodney, Wes)</a:t>
            </a:r>
            <a:endParaRPr b="1" sz="700">
              <a:latin typeface="Roboto"/>
              <a:ea typeface="Roboto"/>
              <a:cs typeface="Roboto"/>
              <a:sym typeface="Roboto"/>
            </a:endParaRPr>
          </a:p>
        </p:txBody>
      </p:sp>
      <p:sp>
        <p:nvSpPr>
          <p:cNvPr id="266" name="Google Shape;266;p31"/>
          <p:cNvSpPr txBox="1"/>
          <p:nvPr/>
        </p:nvSpPr>
        <p:spPr>
          <a:xfrm>
            <a:off x="4572600" y="1084513"/>
            <a:ext cx="4042200" cy="292500"/>
          </a:xfrm>
          <a:prstGeom prst="rect">
            <a:avLst/>
          </a:prstGeom>
          <a:solidFill>
            <a:schemeClr val="lt1"/>
          </a:solidFill>
          <a:ln cap="flat" cmpd="sng" w="9525">
            <a:solidFill>
              <a:srgbClr val="00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Project Brief Management (Shawn, Chaw, Terence, Sasanga)</a:t>
            </a:r>
            <a:endParaRPr b="1" sz="700">
              <a:latin typeface="Roboto"/>
              <a:ea typeface="Roboto"/>
              <a:cs typeface="Roboto"/>
              <a:sym typeface="Roboto"/>
            </a:endParaRPr>
          </a:p>
        </p:txBody>
      </p:sp>
      <p:sp>
        <p:nvSpPr>
          <p:cNvPr id="267" name="Google Shape;267;p31"/>
          <p:cNvSpPr txBox="1"/>
          <p:nvPr/>
        </p:nvSpPr>
        <p:spPr>
          <a:xfrm>
            <a:off x="4572600" y="3198958"/>
            <a:ext cx="1996800" cy="292500"/>
          </a:xfrm>
          <a:prstGeom prst="rect">
            <a:avLst/>
          </a:prstGeom>
          <a:solidFill>
            <a:schemeClr val="lt1"/>
          </a:solidFill>
          <a:ln cap="flat" cmpd="sng" w="9525">
            <a:solidFill>
              <a:srgbClr val="00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Improved Team 360 Authoring &amp; App UI </a:t>
            </a:r>
            <a:endParaRPr b="1" sz="700">
              <a:latin typeface="Roboto"/>
              <a:ea typeface="Roboto"/>
              <a:cs typeface="Roboto"/>
              <a:sym typeface="Roboto"/>
            </a:endParaRPr>
          </a:p>
        </p:txBody>
      </p:sp>
      <p:sp>
        <p:nvSpPr>
          <p:cNvPr id="268" name="Google Shape;268;p31"/>
          <p:cNvSpPr txBox="1"/>
          <p:nvPr/>
        </p:nvSpPr>
        <p:spPr>
          <a:xfrm rot="-5400000">
            <a:off x="-1559975" y="2445450"/>
            <a:ext cx="3651600" cy="276900"/>
          </a:xfrm>
          <a:prstGeom prst="rect">
            <a:avLst/>
          </a:prstGeom>
          <a:solidFill>
            <a:srgbClr val="FFF2CC"/>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600">
                <a:latin typeface="Roboto"/>
                <a:ea typeface="Roboto"/>
                <a:cs typeface="Roboto"/>
                <a:sym typeface="Roboto"/>
              </a:rPr>
              <a:t>PLATFORM</a:t>
            </a:r>
            <a:endParaRPr b="1" sz="600">
              <a:latin typeface="Roboto"/>
              <a:ea typeface="Roboto"/>
              <a:cs typeface="Roboto"/>
              <a:sym typeface="Roboto"/>
            </a:endParaRPr>
          </a:p>
        </p:txBody>
      </p:sp>
      <p:sp>
        <p:nvSpPr>
          <p:cNvPr id="269" name="Google Shape;269;p31"/>
          <p:cNvSpPr txBox="1"/>
          <p:nvPr/>
        </p:nvSpPr>
        <p:spPr>
          <a:xfrm>
            <a:off x="458375" y="367650"/>
            <a:ext cx="1985100" cy="3078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Roboto Black"/>
                <a:ea typeface="Roboto Black"/>
                <a:cs typeface="Roboto Black"/>
                <a:sym typeface="Roboto Black"/>
              </a:rPr>
              <a:t>2024 Jan - Mar</a:t>
            </a:r>
            <a:endParaRPr sz="800">
              <a:latin typeface="Roboto Black"/>
              <a:ea typeface="Roboto Black"/>
              <a:cs typeface="Roboto Black"/>
              <a:sym typeface="Roboto Black"/>
            </a:endParaRPr>
          </a:p>
        </p:txBody>
      </p:sp>
      <p:sp>
        <p:nvSpPr>
          <p:cNvPr id="270" name="Google Shape;270;p31"/>
          <p:cNvSpPr txBox="1"/>
          <p:nvPr/>
        </p:nvSpPr>
        <p:spPr>
          <a:xfrm>
            <a:off x="1449450" y="1095013"/>
            <a:ext cx="3055800" cy="2925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AI - Process PDFs and PPT files (Wes, Paul)</a:t>
            </a:r>
            <a:endParaRPr b="1" sz="700">
              <a:latin typeface="Roboto"/>
              <a:ea typeface="Roboto"/>
              <a:cs typeface="Roboto"/>
              <a:sym typeface="Roboto"/>
            </a:endParaRPr>
          </a:p>
        </p:txBody>
      </p:sp>
      <p:sp>
        <p:nvSpPr>
          <p:cNvPr id="271" name="Google Shape;271;p31"/>
          <p:cNvSpPr txBox="1"/>
          <p:nvPr/>
        </p:nvSpPr>
        <p:spPr>
          <a:xfrm>
            <a:off x="6645375" y="3195525"/>
            <a:ext cx="1968600" cy="292500"/>
          </a:xfrm>
          <a:prstGeom prst="rect">
            <a:avLst/>
          </a:prstGeom>
          <a:solidFill>
            <a:schemeClr val="lt1"/>
          </a:solidFill>
          <a:ln cap="flat" cmpd="sng" w="9525">
            <a:solidFill>
              <a:srgbClr val="00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LTI 1.3 + Gradebook</a:t>
            </a:r>
            <a:endParaRPr b="1" sz="700">
              <a:latin typeface="Roboto"/>
              <a:ea typeface="Roboto"/>
              <a:cs typeface="Roboto"/>
              <a:sym typeface="Roboto"/>
            </a:endParaRPr>
          </a:p>
        </p:txBody>
      </p:sp>
      <p:sp>
        <p:nvSpPr>
          <p:cNvPr id="272" name="Google Shape;272;p31"/>
          <p:cNvSpPr txBox="1"/>
          <p:nvPr/>
        </p:nvSpPr>
        <p:spPr>
          <a:xfrm>
            <a:off x="1449450" y="722350"/>
            <a:ext cx="3055800" cy="2925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Reporting System Phase 1 (Shawn, Terence, Rodney)</a:t>
            </a:r>
            <a:endParaRPr b="1" sz="700">
              <a:latin typeface="Roboto"/>
              <a:ea typeface="Roboto"/>
              <a:cs typeface="Roboto"/>
              <a:sym typeface="Roboto"/>
            </a:endParaRPr>
          </a:p>
        </p:txBody>
      </p:sp>
      <p:sp>
        <p:nvSpPr>
          <p:cNvPr id="273" name="Google Shape;273;p31"/>
          <p:cNvSpPr txBox="1"/>
          <p:nvPr/>
        </p:nvSpPr>
        <p:spPr>
          <a:xfrm>
            <a:off x="4572600" y="1434700"/>
            <a:ext cx="4042200" cy="292500"/>
          </a:xfrm>
          <a:prstGeom prst="rect">
            <a:avLst/>
          </a:prstGeom>
          <a:solidFill>
            <a:schemeClr val="lt1"/>
          </a:solidFill>
          <a:ln cap="flat" cmpd="sng" w="9525">
            <a:solidFill>
              <a:srgbClr val="00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Slack to Production inc. chat integration (Rodney, Shawn, Wes, Sunil, Sasanga)</a:t>
            </a:r>
            <a:endParaRPr b="1" sz="700">
              <a:latin typeface="Roboto"/>
              <a:ea typeface="Roboto"/>
              <a:cs typeface="Roboto"/>
              <a:sym typeface="Roboto"/>
            </a:endParaRPr>
          </a:p>
        </p:txBody>
      </p:sp>
      <p:sp>
        <p:nvSpPr>
          <p:cNvPr id="274" name="Google Shape;274;p31"/>
          <p:cNvSpPr txBox="1"/>
          <p:nvPr/>
        </p:nvSpPr>
        <p:spPr>
          <a:xfrm>
            <a:off x="4572600" y="2135050"/>
            <a:ext cx="4042200" cy="292500"/>
          </a:xfrm>
          <a:prstGeom prst="rect">
            <a:avLst/>
          </a:prstGeom>
          <a:solidFill>
            <a:schemeClr val="lt1"/>
          </a:solidFill>
          <a:ln cap="flat" cmpd="sng" w="9525">
            <a:solidFill>
              <a:srgbClr val="00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Full GDPR support - automated deletion (Shawn, Terence, Wes, Sunil)</a:t>
            </a:r>
            <a:endParaRPr b="1" sz="700">
              <a:latin typeface="Roboto"/>
              <a:ea typeface="Roboto"/>
              <a:cs typeface="Roboto"/>
              <a:sym typeface="Roboto"/>
            </a:endParaRPr>
          </a:p>
        </p:txBody>
      </p:sp>
      <p:sp>
        <p:nvSpPr>
          <p:cNvPr id="275" name="Google Shape;275;p31"/>
          <p:cNvSpPr txBox="1"/>
          <p:nvPr/>
        </p:nvSpPr>
        <p:spPr>
          <a:xfrm>
            <a:off x="3032325" y="4708492"/>
            <a:ext cx="29148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solidFill>
                  <a:srgbClr val="FF0000"/>
                </a:solidFill>
                <a:latin typeface="Roboto Medium"/>
                <a:ea typeface="Roboto Medium"/>
                <a:cs typeface="Roboto Medium"/>
                <a:sym typeface="Roboto Medium"/>
              </a:rPr>
              <a:t>Roadmap subject to Adjustment. Strictly commercial in confidence</a:t>
            </a:r>
            <a:endParaRPr sz="1100">
              <a:solidFill>
                <a:srgbClr val="FF0000"/>
              </a:solidFill>
              <a:latin typeface="Roboto Medium"/>
              <a:ea typeface="Roboto Medium"/>
              <a:cs typeface="Roboto Medium"/>
              <a:sym typeface="Roboto Medium"/>
            </a:endParaRPr>
          </a:p>
        </p:txBody>
      </p:sp>
      <p:sp>
        <p:nvSpPr>
          <p:cNvPr id="276" name="Google Shape;276;p31"/>
          <p:cNvSpPr txBox="1"/>
          <p:nvPr/>
        </p:nvSpPr>
        <p:spPr>
          <a:xfrm>
            <a:off x="1882050" y="4455225"/>
            <a:ext cx="5379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solidFill>
                  <a:schemeClr val="dk1"/>
                </a:solidFill>
              </a:rPr>
              <a:t>Color Key:</a:t>
            </a:r>
            <a:r>
              <a:rPr b="1" lang="en" sz="800">
                <a:solidFill>
                  <a:schemeClr val="accent4"/>
                </a:solidFill>
              </a:rPr>
              <a:t>    </a:t>
            </a:r>
            <a:r>
              <a:rPr b="1" lang="en" sz="800">
                <a:solidFill>
                  <a:srgbClr val="6AA84F"/>
                </a:solidFill>
              </a:rPr>
              <a:t>Complete</a:t>
            </a:r>
            <a:r>
              <a:rPr b="1" lang="en" sz="800">
                <a:solidFill>
                  <a:schemeClr val="accent4"/>
                </a:solidFill>
              </a:rPr>
              <a:t>     </a:t>
            </a:r>
            <a:r>
              <a:rPr b="1" lang="en" sz="800">
                <a:solidFill>
                  <a:srgbClr val="45818E"/>
                </a:solidFill>
              </a:rPr>
              <a:t>In Development</a:t>
            </a:r>
            <a:r>
              <a:rPr b="1" lang="en" sz="800">
                <a:solidFill>
                  <a:schemeClr val="accent4"/>
                </a:solidFill>
              </a:rPr>
              <a:t>    Planning     </a:t>
            </a:r>
            <a:r>
              <a:rPr b="1" lang="en" sz="800">
                <a:solidFill>
                  <a:srgbClr val="999999"/>
                </a:solidFill>
              </a:rPr>
              <a:t>Maintenance</a:t>
            </a:r>
            <a:endParaRPr b="1" sz="800">
              <a:solidFill>
                <a:srgbClr val="999999"/>
              </a:solidFill>
            </a:endParaRPr>
          </a:p>
        </p:txBody>
      </p:sp>
      <p:sp>
        <p:nvSpPr>
          <p:cNvPr id="277" name="Google Shape;277;p31"/>
          <p:cNvSpPr txBox="1"/>
          <p:nvPr/>
        </p:nvSpPr>
        <p:spPr>
          <a:xfrm>
            <a:off x="4572600" y="1784875"/>
            <a:ext cx="4042200" cy="292500"/>
          </a:xfrm>
          <a:prstGeom prst="rect">
            <a:avLst/>
          </a:prstGeom>
          <a:solidFill>
            <a:schemeClr val="lt1"/>
          </a:solidFill>
          <a:ln cap="flat" cmpd="sng" w="9525">
            <a:solidFill>
              <a:srgbClr val="00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On-device Notifications (Chaw, Shawn)</a:t>
            </a:r>
            <a:endParaRPr b="1" sz="700">
              <a:latin typeface="Roboto"/>
              <a:ea typeface="Roboto"/>
              <a:cs typeface="Roboto"/>
              <a:sym typeface="Roboto"/>
            </a:endParaRPr>
          </a:p>
        </p:txBody>
      </p:sp>
      <p:sp>
        <p:nvSpPr>
          <p:cNvPr id="278" name="Google Shape;278;p31"/>
          <p:cNvSpPr txBox="1"/>
          <p:nvPr/>
        </p:nvSpPr>
        <p:spPr>
          <a:xfrm>
            <a:off x="4572600" y="2485225"/>
            <a:ext cx="4042200" cy="292500"/>
          </a:xfrm>
          <a:prstGeom prst="rect">
            <a:avLst/>
          </a:prstGeom>
          <a:solidFill>
            <a:schemeClr val="lt1"/>
          </a:solidFill>
          <a:ln cap="flat" cmpd="sng" w="9525">
            <a:solidFill>
              <a:srgbClr val="00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H5P Support (Chaw, Sasanga, Shawn)</a:t>
            </a:r>
            <a:endParaRPr b="1" sz="700">
              <a:latin typeface="Roboto"/>
              <a:ea typeface="Roboto"/>
              <a:cs typeface="Roboto"/>
              <a:sym typeface="Roboto"/>
            </a:endParaRPr>
          </a:p>
        </p:txBody>
      </p:sp>
      <p:sp>
        <p:nvSpPr>
          <p:cNvPr id="279" name="Google Shape;279;p31"/>
          <p:cNvSpPr txBox="1"/>
          <p:nvPr/>
        </p:nvSpPr>
        <p:spPr>
          <a:xfrm>
            <a:off x="4572600" y="2842672"/>
            <a:ext cx="1976100" cy="292500"/>
          </a:xfrm>
          <a:prstGeom prst="rect">
            <a:avLst/>
          </a:prstGeom>
          <a:solidFill>
            <a:schemeClr val="lt1"/>
          </a:solidFill>
          <a:ln cap="flat" cmpd="sng" w="9525">
            <a:solidFill>
              <a:srgbClr val="00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Admin Activity Digest Notifications </a:t>
            </a:r>
            <a:endParaRPr b="1" sz="700">
              <a:latin typeface="Roboto"/>
              <a:ea typeface="Roboto"/>
              <a:cs typeface="Roboto"/>
              <a:sym typeface="Roboto"/>
            </a:endParaRPr>
          </a:p>
        </p:txBody>
      </p:sp>
      <p:sp>
        <p:nvSpPr>
          <p:cNvPr id="280" name="Google Shape;280;p31"/>
          <p:cNvSpPr txBox="1"/>
          <p:nvPr/>
        </p:nvSpPr>
        <p:spPr>
          <a:xfrm>
            <a:off x="6655425" y="2835403"/>
            <a:ext cx="1976100" cy="292500"/>
          </a:xfrm>
          <a:prstGeom prst="rect">
            <a:avLst/>
          </a:prstGeom>
          <a:solidFill>
            <a:schemeClr val="lt1"/>
          </a:solidFill>
          <a:ln cap="flat" cmpd="sng" w="9525">
            <a:solidFill>
              <a:srgbClr val="00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App UX improvements - assessments </a:t>
            </a:r>
            <a:endParaRPr b="1" sz="700">
              <a:latin typeface="Roboto"/>
              <a:ea typeface="Roboto"/>
              <a:cs typeface="Roboto"/>
              <a:sym typeface="Roboto"/>
            </a:endParaRPr>
          </a:p>
        </p:txBody>
      </p:sp>
      <p:sp>
        <p:nvSpPr>
          <p:cNvPr id="281" name="Google Shape;281;p31"/>
          <p:cNvSpPr txBox="1"/>
          <p:nvPr/>
        </p:nvSpPr>
        <p:spPr>
          <a:xfrm>
            <a:off x="1449450" y="1451050"/>
            <a:ext cx="3055800" cy="292500"/>
          </a:xfrm>
          <a:prstGeom prst="rect">
            <a:avLst/>
          </a:prstGeom>
          <a:solidFill>
            <a:schemeClr val="lt1"/>
          </a:solidFill>
          <a:ln cap="flat" cmpd="sng" w="9525">
            <a:solidFill>
              <a:srgbClr val="00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Compliance Assessments (Terence, Chaw, Sasanga)</a:t>
            </a:r>
            <a:endParaRPr b="1" sz="700">
              <a:latin typeface="Roboto"/>
              <a:ea typeface="Roboto"/>
              <a:cs typeface="Roboto"/>
              <a:sym typeface="Roboto"/>
            </a:endParaRPr>
          </a:p>
        </p:txBody>
      </p:sp>
      <p:sp>
        <p:nvSpPr>
          <p:cNvPr id="282" name="Google Shape;282;p31"/>
          <p:cNvSpPr txBox="1"/>
          <p:nvPr/>
        </p:nvSpPr>
        <p:spPr>
          <a:xfrm>
            <a:off x="480250" y="3188736"/>
            <a:ext cx="1985100" cy="292500"/>
          </a:xfrm>
          <a:prstGeom prst="rect">
            <a:avLst/>
          </a:prstGeom>
          <a:solidFill>
            <a:srgbClr val="CCCC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SOC 2</a:t>
            </a:r>
            <a:endParaRPr b="1" sz="700">
              <a:latin typeface="Roboto"/>
              <a:ea typeface="Roboto"/>
              <a:cs typeface="Roboto"/>
              <a:sym typeface="Roboto"/>
            </a:endParaRPr>
          </a:p>
        </p:txBody>
      </p:sp>
      <p:sp>
        <p:nvSpPr>
          <p:cNvPr id="283" name="Google Shape;283;p31"/>
          <p:cNvSpPr txBox="1"/>
          <p:nvPr/>
        </p:nvSpPr>
        <p:spPr>
          <a:xfrm>
            <a:off x="459950" y="4226587"/>
            <a:ext cx="8181900" cy="292500"/>
          </a:xfrm>
          <a:prstGeom prst="rect">
            <a:avLst/>
          </a:prstGeom>
          <a:solidFill>
            <a:srgbClr val="CCCC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Test Automation - UI automation focus</a:t>
            </a:r>
            <a:endParaRPr b="1" sz="700">
              <a:latin typeface="Roboto"/>
              <a:ea typeface="Roboto"/>
              <a:cs typeface="Roboto"/>
              <a:sym typeface="Roboto"/>
            </a:endParaRPr>
          </a:p>
        </p:txBody>
      </p:sp>
      <p:sp>
        <p:nvSpPr>
          <p:cNvPr id="284" name="Google Shape;284;p31"/>
          <p:cNvSpPr txBox="1"/>
          <p:nvPr/>
        </p:nvSpPr>
        <p:spPr>
          <a:xfrm>
            <a:off x="480250" y="3550300"/>
            <a:ext cx="4011600" cy="292500"/>
          </a:xfrm>
          <a:prstGeom prst="rect">
            <a:avLst/>
          </a:prstGeom>
          <a:solidFill>
            <a:srgbClr val="CCCC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Global Login - MFA, Security, UI</a:t>
            </a:r>
            <a:endParaRPr b="1" sz="700">
              <a:latin typeface="Roboto"/>
              <a:ea typeface="Roboto"/>
              <a:cs typeface="Roboto"/>
              <a:sym typeface="Roboto"/>
            </a:endParaRPr>
          </a:p>
        </p:txBody>
      </p:sp>
      <p:sp>
        <p:nvSpPr>
          <p:cNvPr id="285" name="Google Shape;285;p31"/>
          <p:cNvSpPr txBox="1"/>
          <p:nvPr/>
        </p:nvSpPr>
        <p:spPr>
          <a:xfrm>
            <a:off x="457300" y="3905837"/>
            <a:ext cx="8184600" cy="292500"/>
          </a:xfrm>
          <a:prstGeom prst="rect">
            <a:avLst/>
          </a:prstGeom>
          <a:solidFill>
            <a:srgbClr val="CCCC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Bug Fixes &amp; Cost Controls</a:t>
            </a:r>
            <a:endParaRPr b="1" sz="700">
              <a:latin typeface="Roboto"/>
              <a:ea typeface="Roboto"/>
              <a:cs typeface="Roboto"/>
              <a:sym typeface="Roboto"/>
            </a:endParaRPr>
          </a:p>
        </p:txBody>
      </p:sp>
      <p:sp>
        <p:nvSpPr>
          <p:cNvPr id="286" name="Google Shape;286;p31"/>
          <p:cNvSpPr txBox="1"/>
          <p:nvPr/>
        </p:nvSpPr>
        <p:spPr>
          <a:xfrm>
            <a:off x="2528025" y="3188736"/>
            <a:ext cx="1968600" cy="292500"/>
          </a:xfrm>
          <a:prstGeom prst="rect">
            <a:avLst/>
          </a:prstGeom>
          <a:solidFill>
            <a:srgbClr val="CCCC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Update AI to latest GPT</a:t>
            </a:r>
            <a:endParaRPr b="1" sz="700">
              <a:latin typeface="Roboto"/>
              <a:ea typeface="Roboto"/>
              <a:cs typeface="Roboto"/>
              <a:sym typeface="Roboto"/>
            </a:endParaRPr>
          </a:p>
        </p:txBody>
      </p:sp>
      <p:sp>
        <p:nvSpPr>
          <p:cNvPr id="287" name="Google Shape;287;p31"/>
          <p:cNvSpPr txBox="1"/>
          <p:nvPr/>
        </p:nvSpPr>
        <p:spPr>
          <a:xfrm>
            <a:off x="474177" y="2157288"/>
            <a:ext cx="1983900" cy="292500"/>
          </a:xfrm>
          <a:prstGeom prst="rect">
            <a:avLst/>
          </a:prstGeom>
          <a:solidFill>
            <a:srgbClr val="D0E0E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Badge &amp; Certificate Self-Service</a:t>
            </a:r>
            <a:endParaRPr b="1" sz="700">
              <a:latin typeface="Roboto"/>
              <a:ea typeface="Roboto"/>
              <a:cs typeface="Roboto"/>
              <a:sym typeface="Roboto"/>
            </a:endParaRPr>
          </a:p>
        </p:txBody>
      </p:sp>
      <p:sp>
        <p:nvSpPr>
          <p:cNvPr id="288" name="Google Shape;288;p31"/>
          <p:cNvSpPr txBox="1"/>
          <p:nvPr/>
        </p:nvSpPr>
        <p:spPr>
          <a:xfrm>
            <a:off x="474175" y="2843566"/>
            <a:ext cx="1983900" cy="292500"/>
          </a:xfrm>
          <a:prstGeom prst="rect">
            <a:avLst/>
          </a:prstGeom>
          <a:solidFill>
            <a:srgbClr val="D0E0E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Unlock/Reveal Notifications in App</a:t>
            </a:r>
            <a:endParaRPr b="1" sz="700">
              <a:latin typeface="Roboto"/>
              <a:ea typeface="Roboto"/>
              <a:cs typeface="Roboto"/>
              <a:sym typeface="Roboto"/>
            </a:endParaRPr>
          </a:p>
        </p:txBody>
      </p:sp>
      <p:sp>
        <p:nvSpPr>
          <p:cNvPr id="289" name="Google Shape;289;p31"/>
          <p:cNvSpPr txBox="1"/>
          <p:nvPr/>
        </p:nvSpPr>
        <p:spPr>
          <a:xfrm>
            <a:off x="474200" y="2497463"/>
            <a:ext cx="1983900" cy="292500"/>
          </a:xfrm>
          <a:prstGeom prst="rect">
            <a:avLst/>
          </a:prstGeom>
          <a:solidFill>
            <a:srgbClr val="D0E0E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Export to Word</a:t>
            </a:r>
            <a:endParaRPr b="1" sz="700">
              <a:latin typeface="Roboto"/>
              <a:ea typeface="Roboto"/>
              <a:cs typeface="Roboto"/>
              <a:sym typeface="Roboto"/>
            </a:endParaRPr>
          </a:p>
        </p:txBody>
      </p:sp>
      <p:sp>
        <p:nvSpPr>
          <p:cNvPr id="290" name="Google Shape;290;p31"/>
          <p:cNvSpPr txBox="1"/>
          <p:nvPr/>
        </p:nvSpPr>
        <p:spPr>
          <a:xfrm>
            <a:off x="474189" y="1807075"/>
            <a:ext cx="1983900" cy="292500"/>
          </a:xfrm>
          <a:prstGeom prst="rect">
            <a:avLst/>
          </a:prstGeom>
          <a:solidFill>
            <a:srgbClr val="D0E0E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Template Library Management</a:t>
            </a:r>
            <a:endParaRPr b="1" sz="700">
              <a:latin typeface="Roboto"/>
              <a:ea typeface="Roboto"/>
              <a:cs typeface="Roboto"/>
              <a:sym typeface="Roboto"/>
            </a:endParaRPr>
          </a:p>
        </p:txBody>
      </p:sp>
      <p:sp>
        <p:nvSpPr>
          <p:cNvPr id="291" name="Google Shape;291;p31"/>
          <p:cNvSpPr txBox="1"/>
          <p:nvPr/>
        </p:nvSpPr>
        <p:spPr>
          <a:xfrm>
            <a:off x="3043350" y="-40725"/>
            <a:ext cx="3209700" cy="21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Open Sans"/>
                <a:ea typeface="Open Sans"/>
                <a:cs typeface="Open Sans"/>
                <a:sym typeface="Open Sans"/>
              </a:rPr>
              <a:t>Planned Roadmap</a:t>
            </a:r>
            <a:endParaRPr sz="1800">
              <a:solidFill>
                <a:schemeClr val="dk2"/>
              </a:solidFill>
              <a:latin typeface="Open Sans"/>
              <a:ea typeface="Open Sans"/>
              <a:cs typeface="Open Sans"/>
              <a:sym typeface="Open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2"/>
          <p:cNvSpPr txBox="1"/>
          <p:nvPr/>
        </p:nvSpPr>
        <p:spPr>
          <a:xfrm>
            <a:off x="482625" y="3189788"/>
            <a:ext cx="4011600" cy="292500"/>
          </a:xfrm>
          <a:prstGeom prst="rect">
            <a:avLst/>
          </a:prstGeom>
          <a:solidFill>
            <a:srgbClr val="CCCC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solidFill>
                  <a:srgbClr val="F50000"/>
                </a:solidFill>
                <a:latin typeface="Roboto"/>
                <a:ea typeface="Roboto"/>
                <a:cs typeface="Roboto"/>
                <a:sym typeface="Roboto"/>
              </a:rPr>
              <a:t>Global Login - MFA, Security, UI</a:t>
            </a:r>
            <a:endParaRPr b="1" sz="700">
              <a:solidFill>
                <a:srgbClr val="F50000"/>
              </a:solidFill>
              <a:latin typeface="Roboto"/>
              <a:ea typeface="Roboto"/>
              <a:cs typeface="Roboto"/>
              <a:sym typeface="Roboto"/>
            </a:endParaRPr>
          </a:p>
        </p:txBody>
      </p:sp>
      <p:sp>
        <p:nvSpPr>
          <p:cNvPr id="297" name="Google Shape;297;p32"/>
          <p:cNvSpPr txBox="1"/>
          <p:nvPr/>
        </p:nvSpPr>
        <p:spPr>
          <a:xfrm>
            <a:off x="2521175" y="367650"/>
            <a:ext cx="1968600" cy="3078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Roboto Black"/>
                <a:ea typeface="Roboto Black"/>
                <a:cs typeface="Roboto Black"/>
                <a:sym typeface="Roboto Black"/>
              </a:rPr>
              <a:t>2024 Apr - Jun</a:t>
            </a:r>
            <a:endParaRPr sz="800">
              <a:latin typeface="Roboto Black"/>
              <a:ea typeface="Roboto Black"/>
              <a:cs typeface="Roboto Black"/>
              <a:sym typeface="Roboto Black"/>
            </a:endParaRPr>
          </a:p>
        </p:txBody>
      </p:sp>
      <p:sp>
        <p:nvSpPr>
          <p:cNvPr id="298" name="Google Shape;298;p32"/>
          <p:cNvSpPr txBox="1"/>
          <p:nvPr/>
        </p:nvSpPr>
        <p:spPr>
          <a:xfrm>
            <a:off x="4571993" y="367660"/>
            <a:ext cx="1996800" cy="3078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Roboto Black"/>
                <a:ea typeface="Roboto Black"/>
                <a:cs typeface="Roboto Black"/>
                <a:sym typeface="Roboto Black"/>
              </a:rPr>
              <a:t>2024 Jul - Sept</a:t>
            </a:r>
            <a:endParaRPr sz="800">
              <a:latin typeface="Roboto Black"/>
              <a:ea typeface="Roboto Black"/>
              <a:cs typeface="Roboto Black"/>
              <a:sym typeface="Roboto Black"/>
            </a:endParaRPr>
          </a:p>
        </p:txBody>
      </p:sp>
      <p:sp>
        <p:nvSpPr>
          <p:cNvPr id="299" name="Google Shape;299;p32"/>
          <p:cNvSpPr txBox="1"/>
          <p:nvPr/>
        </p:nvSpPr>
        <p:spPr>
          <a:xfrm>
            <a:off x="6645075" y="367650"/>
            <a:ext cx="1996800" cy="3078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Roboto Black"/>
                <a:ea typeface="Roboto Black"/>
                <a:cs typeface="Roboto Black"/>
                <a:sym typeface="Roboto Black"/>
              </a:rPr>
              <a:t>2024 Oct - Dec</a:t>
            </a:r>
            <a:endParaRPr sz="800">
              <a:latin typeface="Roboto Black"/>
              <a:ea typeface="Roboto Black"/>
              <a:cs typeface="Roboto Black"/>
              <a:sym typeface="Roboto Black"/>
            </a:endParaRPr>
          </a:p>
        </p:txBody>
      </p:sp>
      <p:sp>
        <p:nvSpPr>
          <p:cNvPr id="300" name="Google Shape;300;p32"/>
          <p:cNvSpPr txBox="1"/>
          <p:nvPr/>
        </p:nvSpPr>
        <p:spPr>
          <a:xfrm>
            <a:off x="4971425" y="734350"/>
            <a:ext cx="3643500" cy="292500"/>
          </a:xfrm>
          <a:prstGeom prst="rect">
            <a:avLst/>
          </a:prstGeom>
          <a:solidFill>
            <a:schemeClr val="lt1"/>
          </a:solidFill>
          <a:ln cap="flat" cmpd="sng" w="9525">
            <a:solidFill>
              <a:srgbClr val="00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Practera Automation (Shawn, Terence, Sunil/Rodney, Wes)</a:t>
            </a:r>
            <a:endParaRPr b="1" sz="700">
              <a:latin typeface="Roboto"/>
              <a:ea typeface="Roboto"/>
              <a:cs typeface="Roboto"/>
              <a:sym typeface="Roboto"/>
            </a:endParaRPr>
          </a:p>
        </p:txBody>
      </p:sp>
      <p:sp>
        <p:nvSpPr>
          <p:cNvPr id="301" name="Google Shape;301;p32"/>
          <p:cNvSpPr txBox="1"/>
          <p:nvPr/>
        </p:nvSpPr>
        <p:spPr>
          <a:xfrm>
            <a:off x="4572600" y="1084513"/>
            <a:ext cx="4042200" cy="292500"/>
          </a:xfrm>
          <a:prstGeom prst="rect">
            <a:avLst/>
          </a:prstGeom>
          <a:solidFill>
            <a:schemeClr val="lt1"/>
          </a:solidFill>
          <a:ln cap="flat" cmpd="sng" w="9525">
            <a:solidFill>
              <a:srgbClr val="00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Project Brief Management (Shawn, Chaw, Terence, Sasanga)</a:t>
            </a:r>
            <a:endParaRPr b="1" sz="700">
              <a:latin typeface="Roboto"/>
              <a:ea typeface="Roboto"/>
              <a:cs typeface="Roboto"/>
              <a:sym typeface="Roboto"/>
            </a:endParaRPr>
          </a:p>
        </p:txBody>
      </p:sp>
      <p:sp>
        <p:nvSpPr>
          <p:cNvPr id="302" name="Google Shape;302;p32"/>
          <p:cNvSpPr txBox="1"/>
          <p:nvPr/>
        </p:nvSpPr>
        <p:spPr>
          <a:xfrm>
            <a:off x="4572600" y="3198958"/>
            <a:ext cx="1996800" cy="292500"/>
          </a:xfrm>
          <a:prstGeom prst="rect">
            <a:avLst/>
          </a:prstGeom>
          <a:solidFill>
            <a:schemeClr val="lt1"/>
          </a:solidFill>
          <a:ln cap="flat" cmpd="sng" w="9525">
            <a:solidFill>
              <a:srgbClr val="00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Improved Team 360 Authoring &amp; App UI </a:t>
            </a:r>
            <a:endParaRPr b="1" sz="700">
              <a:latin typeface="Roboto"/>
              <a:ea typeface="Roboto"/>
              <a:cs typeface="Roboto"/>
              <a:sym typeface="Roboto"/>
            </a:endParaRPr>
          </a:p>
        </p:txBody>
      </p:sp>
      <p:sp>
        <p:nvSpPr>
          <p:cNvPr id="303" name="Google Shape;303;p32"/>
          <p:cNvSpPr txBox="1"/>
          <p:nvPr/>
        </p:nvSpPr>
        <p:spPr>
          <a:xfrm rot="-5400000">
            <a:off x="-1559975" y="2445450"/>
            <a:ext cx="3651600" cy="276900"/>
          </a:xfrm>
          <a:prstGeom prst="rect">
            <a:avLst/>
          </a:prstGeom>
          <a:solidFill>
            <a:srgbClr val="FFF2CC"/>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600">
                <a:latin typeface="Roboto"/>
                <a:ea typeface="Roboto"/>
                <a:cs typeface="Roboto"/>
                <a:sym typeface="Roboto"/>
              </a:rPr>
              <a:t>PLATFORM</a:t>
            </a:r>
            <a:endParaRPr b="1" sz="600">
              <a:latin typeface="Roboto"/>
              <a:ea typeface="Roboto"/>
              <a:cs typeface="Roboto"/>
              <a:sym typeface="Roboto"/>
            </a:endParaRPr>
          </a:p>
        </p:txBody>
      </p:sp>
      <p:sp>
        <p:nvSpPr>
          <p:cNvPr id="304" name="Google Shape;304;p32"/>
          <p:cNvSpPr txBox="1"/>
          <p:nvPr/>
        </p:nvSpPr>
        <p:spPr>
          <a:xfrm>
            <a:off x="458375" y="367650"/>
            <a:ext cx="1985100" cy="3078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Roboto Black"/>
                <a:ea typeface="Roboto Black"/>
                <a:cs typeface="Roboto Black"/>
                <a:sym typeface="Roboto Black"/>
              </a:rPr>
              <a:t>2024 Jan - Mar</a:t>
            </a:r>
            <a:endParaRPr sz="800">
              <a:latin typeface="Roboto Black"/>
              <a:ea typeface="Roboto Black"/>
              <a:cs typeface="Roboto Black"/>
              <a:sym typeface="Roboto Black"/>
            </a:endParaRPr>
          </a:p>
        </p:txBody>
      </p:sp>
      <p:sp>
        <p:nvSpPr>
          <p:cNvPr id="305" name="Google Shape;305;p32"/>
          <p:cNvSpPr txBox="1"/>
          <p:nvPr/>
        </p:nvSpPr>
        <p:spPr>
          <a:xfrm>
            <a:off x="1449450" y="1087213"/>
            <a:ext cx="3055800" cy="2925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solidFill>
                  <a:srgbClr val="F50000"/>
                </a:solidFill>
                <a:latin typeface="Roboto"/>
                <a:ea typeface="Roboto"/>
                <a:cs typeface="Roboto"/>
                <a:sym typeface="Roboto"/>
              </a:rPr>
              <a:t>AI - Process PDFs and PPT files (Wes, Paul)</a:t>
            </a:r>
            <a:endParaRPr b="1" sz="700">
              <a:solidFill>
                <a:srgbClr val="F50000"/>
              </a:solidFill>
              <a:latin typeface="Roboto"/>
              <a:ea typeface="Roboto"/>
              <a:cs typeface="Roboto"/>
              <a:sym typeface="Roboto"/>
            </a:endParaRPr>
          </a:p>
        </p:txBody>
      </p:sp>
      <p:sp>
        <p:nvSpPr>
          <p:cNvPr id="306" name="Google Shape;306;p32"/>
          <p:cNvSpPr txBox="1"/>
          <p:nvPr/>
        </p:nvSpPr>
        <p:spPr>
          <a:xfrm>
            <a:off x="1449450" y="1433363"/>
            <a:ext cx="3055800" cy="292500"/>
          </a:xfrm>
          <a:prstGeom prst="rect">
            <a:avLst/>
          </a:prstGeom>
          <a:solidFill>
            <a:srgbClr val="D9EAD3"/>
          </a:solidFill>
          <a:ln cap="flat" cmpd="sng" w="9525">
            <a:solidFill>
              <a:srgbClr val="00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LTI 1.3 + Gradebook</a:t>
            </a:r>
            <a:endParaRPr b="1" sz="700">
              <a:latin typeface="Roboto"/>
              <a:ea typeface="Roboto"/>
              <a:cs typeface="Roboto"/>
              <a:sym typeface="Roboto"/>
            </a:endParaRPr>
          </a:p>
        </p:txBody>
      </p:sp>
      <p:sp>
        <p:nvSpPr>
          <p:cNvPr id="307" name="Google Shape;307;p32"/>
          <p:cNvSpPr txBox="1"/>
          <p:nvPr/>
        </p:nvSpPr>
        <p:spPr>
          <a:xfrm>
            <a:off x="1449450" y="722350"/>
            <a:ext cx="3444900" cy="2925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Reporting System Phase 1 (Shawn, Terence, Rodney)</a:t>
            </a:r>
            <a:endParaRPr b="1" sz="700">
              <a:latin typeface="Roboto"/>
              <a:ea typeface="Roboto"/>
              <a:cs typeface="Roboto"/>
              <a:sym typeface="Roboto"/>
            </a:endParaRPr>
          </a:p>
        </p:txBody>
      </p:sp>
      <p:sp>
        <p:nvSpPr>
          <p:cNvPr id="308" name="Google Shape;308;p32"/>
          <p:cNvSpPr txBox="1"/>
          <p:nvPr/>
        </p:nvSpPr>
        <p:spPr>
          <a:xfrm>
            <a:off x="4572600" y="1434700"/>
            <a:ext cx="4042200" cy="292500"/>
          </a:xfrm>
          <a:prstGeom prst="rect">
            <a:avLst/>
          </a:prstGeom>
          <a:solidFill>
            <a:schemeClr val="lt1"/>
          </a:solidFill>
          <a:ln cap="flat" cmpd="sng" w="9525">
            <a:solidFill>
              <a:srgbClr val="00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Slack to Production inc. chat integration (Rodney, Shawn, Wes, Sunil, Sasanga)</a:t>
            </a:r>
            <a:endParaRPr b="1" sz="700">
              <a:latin typeface="Roboto"/>
              <a:ea typeface="Roboto"/>
              <a:cs typeface="Roboto"/>
              <a:sym typeface="Roboto"/>
            </a:endParaRPr>
          </a:p>
        </p:txBody>
      </p:sp>
      <p:sp>
        <p:nvSpPr>
          <p:cNvPr id="309" name="Google Shape;309;p32"/>
          <p:cNvSpPr txBox="1"/>
          <p:nvPr/>
        </p:nvSpPr>
        <p:spPr>
          <a:xfrm>
            <a:off x="4572600" y="2135050"/>
            <a:ext cx="4042200" cy="292500"/>
          </a:xfrm>
          <a:prstGeom prst="rect">
            <a:avLst/>
          </a:prstGeom>
          <a:solidFill>
            <a:schemeClr val="lt1"/>
          </a:solidFill>
          <a:ln cap="flat" cmpd="sng" w="9525">
            <a:solidFill>
              <a:srgbClr val="00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Full GDPR support - automated deletion (Shawn, Terence, Wes, Sunil)</a:t>
            </a:r>
            <a:endParaRPr b="1" sz="700">
              <a:latin typeface="Roboto"/>
              <a:ea typeface="Roboto"/>
              <a:cs typeface="Roboto"/>
              <a:sym typeface="Roboto"/>
            </a:endParaRPr>
          </a:p>
        </p:txBody>
      </p:sp>
      <p:sp>
        <p:nvSpPr>
          <p:cNvPr id="310" name="Google Shape;310;p32"/>
          <p:cNvSpPr txBox="1"/>
          <p:nvPr/>
        </p:nvSpPr>
        <p:spPr>
          <a:xfrm>
            <a:off x="3032325" y="4708492"/>
            <a:ext cx="29148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solidFill>
                  <a:srgbClr val="FF0000"/>
                </a:solidFill>
                <a:latin typeface="Roboto Medium"/>
                <a:ea typeface="Roboto Medium"/>
                <a:cs typeface="Roboto Medium"/>
                <a:sym typeface="Roboto Medium"/>
              </a:rPr>
              <a:t>Roadmap subject to Adjustment. Strictly commercial in confidence</a:t>
            </a:r>
            <a:endParaRPr sz="1100">
              <a:solidFill>
                <a:srgbClr val="FF0000"/>
              </a:solidFill>
              <a:latin typeface="Roboto Medium"/>
              <a:ea typeface="Roboto Medium"/>
              <a:cs typeface="Roboto Medium"/>
              <a:sym typeface="Roboto Medium"/>
            </a:endParaRPr>
          </a:p>
        </p:txBody>
      </p:sp>
      <p:sp>
        <p:nvSpPr>
          <p:cNvPr id="311" name="Google Shape;311;p32"/>
          <p:cNvSpPr txBox="1"/>
          <p:nvPr/>
        </p:nvSpPr>
        <p:spPr>
          <a:xfrm>
            <a:off x="1882050" y="4455225"/>
            <a:ext cx="5379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solidFill>
                  <a:schemeClr val="dk1"/>
                </a:solidFill>
              </a:rPr>
              <a:t>Color Key:</a:t>
            </a:r>
            <a:r>
              <a:rPr b="1" lang="en" sz="800">
                <a:solidFill>
                  <a:schemeClr val="accent4"/>
                </a:solidFill>
              </a:rPr>
              <a:t>    </a:t>
            </a:r>
            <a:r>
              <a:rPr b="1" lang="en" sz="800">
                <a:solidFill>
                  <a:srgbClr val="6AA84F"/>
                </a:solidFill>
              </a:rPr>
              <a:t>Complete</a:t>
            </a:r>
            <a:r>
              <a:rPr b="1" lang="en" sz="800">
                <a:solidFill>
                  <a:schemeClr val="accent4"/>
                </a:solidFill>
              </a:rPr>
              <a:t>     </a:t>
            </a:r>
            <a:r>
              <a:rPr b="1" lang="en" sz="800">
                <a:solidFill>
                  <a:srgbClr val="45818E"/>
                </a:solidFill>
              </a:rPr>
              <a:t>In Development</a:t>
            </a:r>
            <a:r>
              <a:rPr b="1" lang="en" sz="800">
                <a:solidFill>
                  <a:schemeClr val="accent4"/>
                </a:solidFill>
              </a:rPr>
              <a:t>    Planning     </a:t>
            </a:r>
            <a:r>
              <a:rPr b="1" lang="en" sz="800">
                <a:solidFill>
                  <a:srgbClr val="999999"/>
                </a:solidFill>
              </a:rPr>
              <a:t>Maintenance</a:t>
            </a:r>
            <a:endParaRPr b="1" sz="800">
              <a:solidFill>
                <a:srgbClr val="999999"/>
              </a:solidFill>
            </a:endParaRPr>
          </a:p>
        </p:txBody>
      </p:sp>
      <p:sp>
        <p:nvSpPr>
          <p:cNvPr id="312" name="Google Shape;312;p32"/>
          <p:cNvSpPr txBox="1"/>
          <p:nvPr/>
        </p:nvSpPr>
        <p:spPr>
          <a:xfrm>
            <a:off x="4572600" y="1784875"/>
            <a:ext cx="4042200" cy="292500"/>
          </a:xfrm>
          <a:prstGeom prst="rect">
            <a:avLst/>
          </a:prstGeom>
          <a:solidFill>
            <a:schemeClr val="lt1"/>
          </a:solidFill>
          <a:ln cap="flat" cmpd="sng" w="9525">
            <a:solidFill>
              <a:srgbClr val="00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On-device Notifications (Chaw, Shawn)</a:t>
            </a:r>
            <a:endParaRPr b="1" sz="700">
              <a:latin typeface="Roboto"/>
              <a:ea typeface="Roboto"/>
              <a:cs typeface="Roboto"/>
              <a:sym typeface="Roboto"/>
            </a:endParaRPr>
          </a:p>
        </p:txBody>
      </p:sp>
      <p:sp>
        <p:nvSpPr>
          <p:cNvPr id="313" name="Google Shape;313;p32"/>
          <p:cNvSpPr txBox="1"/>
          <p:nvPr/>
        </p:nvSpPr>
        <p:spPr>
          <a:xfrm>
            <a:off x="4572600" y="2485225"/>
            <a:ext cx="4042200" cy="292500"/>
          </a:xfrm>
          <a:prstGeom prst="rect">
            <a:avLst/>
          </a:prstGeom>
          <a:solidFill>
            <a:schemeClr val="lt1"/>
          </a:solidFill>
          <a:ln cap="flat" cmpd="sng" w="9525">
            <a:solidFill>
              <a:srgbClr val="00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H5P Support (Chaw, Sasanga, Shawn)</a:t>
            </a:r>
            <a:endParaRPr b="1" sz="700">
              <a:latin typeface="Roboto"/>
              <a:ea typeface="Roboto"/>
              <a:cs typeface="Roboto"/>
              <a:sym typeface="Roboto"/>
            </a:endParaRPr>
          </a:p>
        </p:txBody>
      </p:sp>
      <p:sp>
        <p:nvSpPr>
          <p:cNvPr id="314" name="Google Shape;314;p32"/>
          <p:cNvSpPr txBox="1"/>
          <p:nvPr/>
        </p:nvSpPr>
        <p:spPr>
          <a:xfrm>
            <a:off x="4572600" y="2842672"/>
            <a:ext cx="1976100" cy="292500"/>
          </a:xfrm>
          <a:prstGeom prst="rect">
            <a:avLst/>
          </a:prstGeom>
          <a:solidFill>
            <a:schemeClr val="lt1"/>
          </a:solidFill>
          <a:ln cap="flat" cmpd="sng" w="9525">
            <a:solidFill>
              <a:srgbClr val="00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Admin Activity Digest Notifications </a:t>
            </a:r>
            <a:endParaRPr b="1" sz="700">
              <a:latin typeface="Roboto"/>
              <a:ea typeface="Roboto"/>
              <a:cs typeface="Roboto"/>
              <a:sym typeface="Roboto"/>
            </a:endParaRPr>
          </a:p>
        </p:txBody>
      </p:sp>
      <p:sp>
        <p:nvSpPr>
          <p:cNvPr id="315" name="Google Shape;315;p32"/>
          <p:cNvSpPr txBox="1"/>
          <p:nvPr/>
        </p:nvSpPr>
        <p:spPr>
          <a:xfrm>
            <a:off x="6655425" y="2835403"/>
            <a:ext cx="1976100" cy="292500"/>
          </a:xfrm>
          <a:prstGeom prst="rect">
            <a:avLst/>
          </a:prstGeom>
          <a:solidFill>
            <a:schemeClr val="lt1"/>
          </a:solidFill>
          <a:ln cap="flat" cmpd="sng" w="9525">
            <a:solidFill>
              <a:srgbClr val="00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App UX improvements - assessments </a:t>
            </a:r>
            <a:endParaRPr b="1" sz="700">
              <a:latin typeface="Roboto"/>
              <a:ea typeface="Roboto"/>
              <a:cs typeface="Roboto"/>
              <a:sym typeface="Roboto"/>
            </a:endParaRPr>
          </a:p>
        </p:txBody>
      </p:sp>
      <p:sp>
        <p:nvSpPr>
          <p:cNvPr id="316" name="Google Shape;316;p32"/>
          <p:cNvSpPr txBox="1"/>
          <p:nvPr/>
        </p:nvSpPr>
        <p:spPr>
          <a:xfrm>
            <a:off x="4572025" y="3552388"/>
            <a:ext cx="3055800" cy="292500"/>
          </a:xfrm>
          <a:prstGeom prst="rect">
            <a:avLst/>
          </a:prstGeom>
          <a:solidFill>
            <a:schemeClr val="lt1"/>
          </a:solidFill>
          <a:ln cap="flat" cmpd="sng" w="9525">
            <a:solidFill>
              <a:srgbClr val="00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Compliance Assessments (Terence, Chaw, Sasanga)</a:t>
            </a:r>
            <a:endParaRPr b="1" sz="700">
              <a:latin typeface="Roboto"/>
              <a:ea typeface="Roboto"/>
              <a:cs typeface="Roboto"/>
              <a:sym typeface="Roboto"/>
            </a:endParaRPr>
          </a:p>
        </p:txBody>
      </p:sp>
      <p:sp>
        <p:nvSpPr>
          <p:cNvPr id="317" name="Google Shape;317;p32"/>
          <p:cNvSpPr txBox="1"/>
          <p:nvPr/>
        </p:nvSpPr>
        <p:spPr>
          <a:xfrm>
            <a:off x="480250" y="2852298"/>
            <a:ext cx="1985100" cy="292500"/>
          </a:xfrm>
          <a:prstGeom prst="rect">
            <a:avLst/>
          </a:prstGeom>
          <a:solidFill>
            <a:srgbClr val="CCCC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SOC 2 - including security fixes</a:t>
            </a:r>
            <a:endParaRPr b="1" sz="700">
              <a:latin typeface="Roboto"/>
              <a:ea typeface="Roboto"/>
              <a:cs typeface="Roboto"/>
              <a:sym typeface="Roboto"/>
            </a:endParaRPr>
          </a:p>
        </p:txBody>
      </p:sp>
      <p:sp>
        <p:nvSpPr>
          <p:cNvPr id="318" name="Google Shape;318;p32"/>
          <p:cNvSpPr txBox="1"/>
          <p:nvPr/>
        </p:nvSpPr>
        <p:spPr>
          <a:xfrm>
            <a:off x="4572000" y="4226575"/>
            <a:ext cx="4069800" cy="292500"/>
          </a:xfrm>
          <a:prstGeom prst="rect">
            <a:avLst/>
          </a:prstGeom>
          <a:solidFill>
            <a:srgbClr val="CCCC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Test Automation - UI automation focus</a:t>
            </a:r>
            <a:endParaRPr b="1" sz="700">
              <a:latin typeface="Roboto"/>
              <a:ea typeface="Roboto"/>
              <a:cs typeface="Roboto"/>
              <a:sym typeface="Roboto"/>
            </a:endParaRPr>
          </a:p>
        </p:txBody>
      </p:sp>
      <p:sp>
        <p:nvSpPr>
          <p:cNvPr id="319" name="Google Shape;319;p32"/>
          <p:cNvSpPr txBox="1"/>
          <p:nvPr/>
        </p:nvSpPr>
        <p:spPr>
          <a:xfrm>
            <a:off x="457300" y="3905837"/>
            <a:ext cx="8184600" cy="292500"/>
          </a:xfrm>
          <a:prstGeom prst="rect">
            <a:avLst/>
          </a:prstGeom>
          <a:solidFill>
            <a:srgbClr val="CCCC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Bug Fixes &amp; Cost Controls</a:t>
            </a:r>
            <a:endParaRPr b="1" sz="700">
              <a:latin typeface="Roboto"/>
              <a:ea typeface="Roboto"/>
              <a:cs typeface="Roboto"/>
              <a:sym typeface="Roboto"/>
            </a:endParaRPr>
          </a:p>
        </p:txBody>
      </p:sp>
      <p:sp>
        <p:nvSpPr>
          <p:cNvPr id="320" name="Google Shape;320;p32"/>
          <p:cNvSpPr txBox="1"/>
          <p:nvPr/>
        </p:nvSpPr>
        <p:spPr>
          <a:xfrm>
            <a:off x="2528025" y="2852298"/>
            <a:ext cx="1968600" cy="292500"/>
          </a:xfrm>
          <a:prstGeom prst="rect">
            <a:avLst/>
          </a:prstGeom>
          <a:solidFill>
            <a:srgbClr val="CCCC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Update AI to latest GPT</a:t>
            </a:r>
            <a:endParaRPr b="1" sz="700">
              <a:latin typeface="Roboto"/>
              <a:ea typeface="Roboto"/>
              <a:cs typeface="Roboto"/>
              <a:sym typeface="Roboto"/>
            </a:endParaRPr>
          </a:p>
        </p:txBody>
      </p:sp>
      <p:sp>
        <p:nvSpPr>
          <p:cNvPr id="321" name="Google Shape;321;p32"/>
          <p:cNvSpPr txBox="1"/>
          <p:nvPr/>
        </p:nvSpPr>
        <p:spPr>
          <a:xfrm>
            <a:off x="474177" y="2157288"/>
            <a:ext cx="1983900" cy="292500"/>
          </a:xfrm>
          <a:prstGeom prst="rect">
            <a:avLst/>
          </a:prstGeom>
          <a:solidFill>
            <a:srgbClr val="D0E0E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Badge &amp; Certificate Self-Service</a:t>
            </a:r>
            <a:endParaRPr b="1" sz="700">
              <a:latin typeface="Roboto"/>
              <a:ea typeface="Roboto"/>
              <a:cs typeface="Roboto"/>
              <a:sym typeface="Roboto"/>
            </a:endParaRPr>
          </a:p>
        </p:txBody>
      </p:sp>
      <p:sp>
        <p:nvSpPr>
          <p:cNvPr id="322" name="Google Shape;322;p32"/>
          <p:cNvSpPr txBox="1"/>
          <p:nvPr/>
        </p:nvSpPr>
        <p:spPr>
          <a:xfrm>
            <a:off x="2523400" y="1798641"/>
            <a:ext cx="1983900" cy="292500"/>
          </a:xfrm>
          <a:prstGeom prst="rect">
            <a:avLst/>
          </a:prstGeom>
          <a:solidFill>
            <a:srgbClr val="D0E0E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Unlock/Reveal Notifications in App</a:t>
            </a:r>
            <a:endParaRPr b="1" sz="700">
              <a:latin typeface="Roboto"/>
              <a:ea typeface="Roboto"/>
              <a:cs typeface="Roboto"/>
              <a:sym typeface="Roboto"/>
            </a:endParaRPr>
          </a:p>
        </p:txBody>
      </p:sp>
      <p:sp>
        <p:nvSpPr>
          <p:cNvPr id="323" name="Google Shape;323;p32"/>
          <p:cNvSpPr txBox="1"/>
          <p:nvPr/>
        </p:nvSpPr>
        <p:spPr>
          <a:xfrm>
            <a:off x="474200" y="2497463"/>
            <a:ext cx="1983900" cy="292500"/>
          </a:xfrm>
          <a:prstGeom prst="rect">
            <a:avLst/>
          </a:prstGeom>
          <a:solidFill>
            <a:srgbClr val="D0E0E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Export to Word</a:t>
            </a:r>
            <a:endParaRPr b="1" sz="700">
              <a:latin typeface="Roboto"/>
              <a:ea typeface="Roboto"/>
              <a:cs typeface="Roboto"/>
              <a:sym typeface="Roboto"/>
            </a:endParaRPr>
          </a:p>
        </p:txBody>
      </p:sp>
      <p:sp>
        <p:nvSpPr>
          <p:cNvPr id="324" name="Google Shape;324;p32"/>
          <p:cNvSpPr txBox="1"/>
          <p:nvPr/>
        </p:nvSpPr>
        <p:spPr>
          <a:xfrm>
            <a:off x="474189" y="1807075"/>
            <a:ext cx="1983900" cy="292500"/>
          </a:xfrm>
          <a:prstGeom prst="rect">
            <a:avLst/>
          </a:prstGeom>
          <a:solidFill>
            <a:srgbClr val="D0E0E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Template Library Management</a:t>
            </a:r>
            <a:endParaRPr b="1" sz="700">
              <a:latin typeface="Roboto"/>
              <a:ea typeface="Roboto"/>
              <a:cs typeface="Roboto"/>
              <a:sym typeface="Roboto"/>
            </a:endParaRPr>
          </a:p>
        </p:txBody>
      </p:sp>
      <p:sp>
        <p:nvSpPr>
          <p:cNvPr id="325" name="Google Shape;325;p32"/>
          <p:cNvSpPr txBox="1"/>
          <p:nvPr/>
        </p:nvSpPr>
        <p:spPr>
          <a:xfrm>
            <a:off x="3445725" y="-33025"/>
            <a:ext cx="1856700" cy="21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Open Sans"/>
                <a:ea typeface="Open Sans"/>
                <a:cs typeface="Open Sans"/>
                <a:sym typeface="Open Sans"/>
              </a:rPr>
              <a:t>Actual</a:t>
            </a:r>
            <a:r>
              <a:rPr lang="en" sz="1800">
                <a:solidFill>
                  <a:schemeClr val="dk2"/>
                </a:solidFill>
                <a:latin typeface="Open Sans"/>
                <a:ea typeface="Open Sans"/>
                <a:cs typeface="Open Sans"/>
                <a:sym typeface="Open Sans"/>
              </a:rPr>
              <a:t> Delivery</a:t>
            </a:r>
            <a:endParaRPr sz="1800">
              <a:solidFill>
                <a:schemeClr val="dk2"/>
              </a:solidFill>
              <a:latin typeface="Open Sans"/>
              <a:ea typeface="Open Sans"/>
              <a:cs typeface="Open Sans"/>
              <a:sym typeface="Open Sans"/>
            </a:endParaRPr>
          </a:p>
        </p:txBody>
      </p:sp>
      <p:sp>
        <p:nvSpPr>
          <p:cNvPr id="326" name="Google Shape;326;p32"/>
          <p:cNvSpPr txBox="1"/>
          <p:nvPr/>
        </p:nvSpPr>
        <p:spPr>
          <a:xfrm>
            <a:off x="453238" y="4220150"/>
            <a:ext cx="4069800" cy="292500"/>
          </a:xfrm>
          <a:prstGeom prst="rect">
            <a:avLst/>
          </a:prstGeom>
          <a:solidFill>
            <a:srgbClr val="CCCC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Test Automation - Load Testing + API Automation + Improved Regression + Release Testing</a:t>
            </a:r>
            <a:endParaRPr b="1" sz="700">
              <a:latin typeface="Roboto"/>
              <a:ea typeface="Roboto"/>
              <a:cs typeface="Roboto"/>
              <a:sym typeface="Roboto"/>
            </a:endParaRPr>
          </a:p>
        </p:txBody>
      </p:sp>
      <p:sp>
        <p:nvSpPr>
          <p:cNvPr id="327" name="Google Shape;327;p32"/>
          <p:cNvSpPr txBox="1"/>
          <p:nvPr/>
        </p:nvSpPr>
        <p:spPr>
          <a:xfrm>
            <a:off x="482338" y="3547813"/>
            <a:ext cx="4011600" cy="292500"/>
          </a:xfrm>
          <a:prstGeom prst="rect">
            <a:avLst/>
          </a:prstGeom>
          <a:solidFill>
            <a:srgbClr val="D9EAD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Major Infrastructure upgrades &amp; performance improvements</a:t>
            </a:r>
            <a:endParaRPr b="1" sz="700">
              <a:latin typeface="Roboto"/>
              <a:ea typeface="Roboto"/>
              <a:cs typeface="Roboto"/>
              <a:sym typeface="Roboto"/>
            </a:endParaRPr>
          </a:p>
        </p:txBody>
      </p:sp>
      <p:sp>
        <p:nvSpPr>
          <p:cNvPr id="328" name="Google Shape;328;p32"/>
          <p:cNvSpPr txBox="1"/>
          <p:nvPr/>
        </p:nvSpPr>
        <p:spPr>
          <a:xfrm>
            <a:off x="2523400" y="2494225"/>
            <a:ext cx="1983900" cy="292500"/>
          </a:xfrm>
          <a:prstGeom prst="rect">
            <a:avLst/>
          </a:prstGeom>
          <a:solidFill>
            <a:srgbClr val="D9EAD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QOL Updates - Text editor, Import/Export</a:t>
            </a:r>
            <a:endParaRPr b="1" sz="700">
              <a:latin typeface="Roboto"/>
              <a:ea typeface="Roboto"/>
              <a:cs typeface="Roboto"/>
              <a:sym typeface="Roboto"/>
            </a:endParaRPr>
          </a:p>
        </p:txBody>
      </p:sp>
      <p:sp>
        <p:nvSpPr>
          <p:cNvPr id="329" name="Google Shape;329;p32"/>
          <p:cNvSpPr txBox="1"/>
          <p:nvPr/>
        </p:nvSpPr>
        <p:spPr>
          <a:xfrm>
            <a:off x="2523388" y="2142838"/>
            <a:ext cx="1983900" cy="292500"/>
          </a:xfrm>
          <a:prstGeom prst="rect">
            <a:avLst/>
          </a:prstGeom>
          <a:solidFill>
            <a:srgbClr val="D9EAD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Student-initiated</a:t>
            </a:r>
            <a:r>
              <a:rPr b="1" lang="en" sz="700">
                <a:latin typeface="Roboto"/>
                <a:ea typeface="Roboto"/>
                <a:cs typeface="Roboto"/>
                <a:sym typeface="Roboto"/>
              </a:rPr>
              <a:t> Resubmissions</a:t>
            </a:r>
            <a:endParaRPr b="1" sz="700">
              <a:latin typeface="Roboto"/>
              <a:ea typeface="Roboto"/>
              <a:cs typeface="Roboto"/>
              <a:sym typeface="Roboto"/>
            </a:endParaRPr>
          </a:p>
        </p:txBody>
      </p:sp>
      <p:pic>
        <p:nvPicPr>
          <p:cNvPr id="330" name="Google Shape;330;p32"/>
          <p:cNvPicPr preferRelativeResize="0"/>
          <p:nvPr/>
        </p:nvPicPr>
        <p:blipFill>
          <a:blip r:embed="rId3">
            <a:alphaModFix/>
          </a:blip>
          <a:stretch>
            <a:fillRect/>
          </a:stretch>
        </p:blipFill>
        <p:spPr>
          <a:xfrm>
            <a:off x="4306272" y="1907162"/>
            <a:ext cx="138102" cy="138102"/>
          </a:xfrm>
          <a:prstGeom prst="rect">
            <a:avLst/>
          </a:prstGeom>
          <a:noFill/>
          <a:ln>
            <a:noFill/>
          </a:ln>
        </p:spPr>
      </p:pic>
      <p:pic>
        <p:nvPicPr>
          <p:cNvPr id="331" name="Google Shape;331;p32"/>
          <p:cNvPicPr preferRelativeResize="0"/>
          <p:nvPr/>
        </p:nvPicPr>
        <p:blipFill>
          <a:blip r:embed="rId3">
            <a:alphaModFix/>
          </a:blip>
          <a:stretch>
            <a:fillRect/>
          </a:stretch>
        </p:blipFill>
        <p:spPr>
          <a:xfrm>
            <a:off x="4305022" y="2223637"/>
            <a:ext cx="138102" cy="138102"/>
          </a:xfrm>
          <a:prstGeom prst="rect">
            <a:avLst/>
          </a:prstGeom>
          <a:noFill/>
          <a:ln>
            <a:noFill/>
          </a:ln>
        </p:spPr>
      </p:pic>
      <p:pic>
        <p:nvPicPr>
          <p:cNvPr id="332" name="Google Shape;332;p32"/>
          <p:cNvPicPr preferRelativeResize="0"/>
          <p:nvPr/>
        </p:nvPicPr>
        <p:blipFill>
          <a:blip r:embed="rId3">
            <a:alphaModFix/>
          </a:blip>
          <a:stretch>
            <a:fillRect/>
          </a:stretch>
        </p:blipFill>
        <p:spPr>
          <a:xfrm>
            <a:off x="4305022" y="2574774"/>
            <a:ext cx="138102" cy="138102"/>
          </a:xfrm>
          <a:prstGeom prst="rect">
            <a:avLst/>
          </a:prstGeom>
          <a:noFill/>
          <a:ln>
            <a:noFill/>
          </a:ln>
        </p:spPr>
      </p:pic>
      <p:pic>
        <p:nvPicPr>
          <p:cNvPr id="333" name="Google Shape;333;p32"/>
          <p:cNvPicPr preferRelativeResize="0"/>
          <p:nvPr/>
        </p:nvPicPr>
        <p:blipFill>
          <a:blip r:embed="rId3">
            <a:alphaModFix/>
          </a:blip>
          <a:stretch>
            <a:fillRect/>
          </a:stretch>
        </p:blipFill>
        <p:spPr>
          <a:xfrm>
            <a:off x="2286222" y="1872537"/>
            <a:ext cx="138102" cy="138102"/>
          </a:xfrm>
          <a:prstGeom prst="rect">
            <a:avLst/>
          </a:prstGeom>
          <a:noFill/>
          <a:ln>
            <a:noFill/>
          </a:ln>
        </p:spPr>
      </p:pic>
      <p:pic>
        <p:nvPicPr>
          <p:cNvPr id="334" name="Google Shape;334;p32"/>
          <p:cNvPicPr preferRelativeResize="0"/>
          <p:nvPr/>
        </p:nvPicPr>
        <p:blipFill>
          <a:blip r:embed="rId3">
            <a:alphaModFix/>
          </a:blip>
          <a:stretch>
            <a:fillRect/>
          </a:stretch>
        </p:blipFill>
        <p:spPr>
          <a:xfrm>
            <a:off x="2285597" y="2229474"/>
            <a:ext cx="138102" cy="138102"/>
          </a:xfrm>
          <a:prstGeom prst="rect">
            <a:avLst/>
          </a:prstGeom>
          <a:noFill/>
          <a:ln>
            <a:noFill/>
          </a:ln>
        </p:spPr>
      </p:pic>
      <p:pic>
        <p:nvPicPr>
          <p:cNvPr id="335" name="Google Shape;335;p32"/>
          <p:cNvPicPr preferRelativeResize="0"/>
          <p:nvPr/>
        </p:nvPicPr>
        <p:blipFill>
          <a:blip r:embed="rId3">
            <a:alphaModFix/>
          </a:blip>
          <a:stretch>
            <a:fillRect/>
          </a:stretch>
        </p:blipFill>
        <p:spPr>
          <a:xfrm>
            <a:off x="2285597" y="2581999"/>
            <a:ext cx="138102" cy="138102"/>
          </a:xfrm>
          <a:prstGeom prst="rect">
            <a:avLst/>
          </a:prstGeom>
          <a:noFill/>
          <a:ln>
            <a:noFill/>
          </a:ln>
        </p:spPr>
      </p:pic>
      <p:pic>
        <p:nvPicPr>
          <p:cNvPr id="336" name="Google Shape;336;p32"/>
          <p:cNvPicPr preferRelativeResize="0"/>
          <p:nvPr/>
        </p:nvPicPr>
        <p:blipFill>
          <a:blip r:embed="rId3">
            <a:alphaModFix/>
          </a:blip>
          <a:stretch>
            <a:fillRect/>
          </a:stretch>
        </p:blipFill>
        <p:spPr>
          <a:xfrm>
            <a:off x="2285597" y="2920837"/>
            <a:ext cx="138102" cy="138102"/>
          </a:xfrm>
          <a:prstGeom prst="rect">
            <a:avLst/>
          </a:prstGeom>
          <a:noFill/>
          <a:ln>
            <a:noFill/>
          </a:ln>
        </p:spPr>
      </p:pic>
      <p:pic>
        <p:nvPicPr>
          <p:cNvPr id="337" name="Google Shape;337;p32"/>
          <p:cNvPicPr preferRelativeResize="0"/>
          <p:nvPr/>
        </p:nvPicPr>
        <p:blipFill>
          <a:blip r:embed="rId3">
            <a:alphaModFix/>
          </a:blip>
          <a:stretch>
            <a:fillRect/>
          </a:stretch>
        </p:blipFill>
        <p:spPr>
          <a:xfrm>
            <a:off x="4305022" y="2919212"/>
            <a:ext cx="138102" cy="138102"/>
          </a:xfrm>
          <a:prstGeom prst="rect">
            <a:avLst/>
          </a:prstGeom>
          <a:noFill/>
          <a:ln>
            <a:noFill/>
          </a:ln>
        </p:spPr>
      </p:pic>
      <p:pic>
        <p:nvPicPr>
          <p:cNvPr id="338" name="Google Shape;338;p32"/>
          <p:cNvPicPr preferRelativeResize="0"/>
          <p:nvPr/>
        </p:nvPicPr>
        <p:blipFill>
          <a:blip r:embed="rId3">
            <a:alphaModFix/>
          </a:blip>
          <a:stretch>
            <a:fillRect/>
          </a:stretch>
        </p:blipFill>
        <p:spPr>
          <a:xfrm>
            <a:off x="4305022" y="3625012"/>
            <a:ext cx="138102" cy="138102"/>
          </a:xfrm>
          <a:prstGeom prst="rect">
            <a:avLst/>
          </a:prstGeom>
          <a:noFill/>
          <a:ln>
            <a:noFill/>
          </a:ln>
        </p:spPr>
      </p:pic>
      <p:pic>
        <p:nvPicPr>
          <p:cNvPr id="339" name="Google Shape;339;p32"/>
          <p:cNvPicPr preferRelativeResize="0"/>
          <p:nvPr/>
        </p:nvPicPr>
        <p:blipFill>
          <a:blip r:embed="rId3">
            <a:alphaModFix/>
          </a:blip>
          <a:stretch>
            <a:fillRect/>
          </a:stretch>
        </p:blipFill>
        <p:spPr>
          <a:xfrm>
            <a:off x="4306272" y="3961187"/>
            <a:ext cx="138102" cy="138102"/>
          </a:xfrm>
          <a:prstGeom prst="rect">
            <a:avLst/>
          </a:prstGeom>
          <a:noFill/>
          <a:ln>
            <a:noFill/>
          </a:ln>
        </p:spPr>
      </p:pic>
      <p:pic>
        <p:nvPicPr>
          <p:cNvPr id="340" name="Google Shape;340;p32"/>
          <p:cNvPicPr preferRelativeResize="0"/>
          <p:nvPr/>
        </p:nvPicPr>
        <p:blipFill>
          <a:blip r:embed="rId3">
            <a:alphaModFix/>
          </a:blip>
          <a:stretch>
            <a:fillRect/>
          </a:stretch>
        </p:blipFill>
        <p:spPr>
          <a:xfrm>
            <a:off x="4305022" y="4297349"/>
            <a:ext cx="138102" cy="138102"/>
          </a:xfrm>
          <a:prstGeom prst="rect">
            <a:avLst/>
          </a:prstGeom>
          <a:noFill/>
          <a:ln>
            <a:noFill/>
          </a:ln>
        </p:spPr>
      </p:pic>
      <p:pic>
        <p:nvPicPr>
          <p:cNvPr id="341" name="Google Shape;341;p32"/>
          <p:cNvPicPr preferRelativeResize="0"/>
          <p:nvPr/>
        </p:nvPicPr>
        <p:blipFill>
          <a:blip r:embed="rId3">
            <a:alphaModFix/>
          </a:blip>
          <a:stretch>
            <a:fillRect/>
          </a:stretch>
        </p:blipFill>
        <p:spPr>
          <a:xfrm>
            <a:off x="4305022" y="1520137"/>
            <a:ext cx="138102" cy="138102"/>
          </a:xfrm>
          <a:prstGeom prst="rect">
            <a:avLst/>
          </a:prstGeom>
          <a:noFill/>
          <a:ln>
            <a:noFill/>
          </a:ln>
        </p:spPr>
      </p:pic>
      <p:pic>
        <p:nvPicPr>
          <p:cNvPr id="342" name="Google Shape;342;p32"/>
          <p:cNvPicPr preferRelativeResize="0"/>
          <p:nvPr/>
        </p:nvPicPr>
        <p:blipFill>
          <a:blip r:embed="rId3">
            <a:alphaModFix/>
          </a:blip>
          <a:stretch>
            <a:fillRect/>
          </a:stretch>
        </p:blipFill>
        <p:spPr>
          <a:xfrm>
            <a:off x="4683972" y="810937"/>
            <a:ext cx="138102" cy="13810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33"/>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Priority Feature 1</a:t>
            </a:r>
            <a:endParaRPr/>
          </a:p>
        </p:txBody>
      </p:sp>
      <p:sp>
        <p:nvSpPr>
          <p:cNvPr id="348" name="Google Shape;348;p33"/>
          <p:cNvSpPr txBox="1"/>
          <p:nvPr>
            <p:ph idx="2" type="body"/>
          </p:nvPr>
        </p:nvSpPr>
        <p:spPr>
          <a:xfrm>
            <a:off x="424200" y="1266175"/>
            <a:ext cx="8408100" cy="33027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a:t>Reporting System - Phase 1 - CSV export</a:t>
            </a:r>
            <a:endParaRPr b="1"/>
          </a:p>
          <a:p>
            <a:pPr indent="0" lvl="0" marL="0" rtl="0" algn="l">
              <a:spcBef>
                <a:spcPts val="1200"/>
              </a:spcBef>
              <a:spcAft>
                <a:spcPts val="0"/>
              </a:spcAft>
              <a:buNone/>
            </a:pPr>
            <a:r>
              <a:rPr b="1" lang="en" sz="1150"/>
              <a:t>Problem: end-of-program reports are time consuming</a:t>
            </a:r>
            <a:endParaRPr b="1" sz="1150"/>
          </a:p>
          <a:p>
            <a:pPr indent="-317500" lvl="0" marL="457200" rtl="0" algn="l">
              <a:spcBef>
                <a:spcPts val="1200"/>
              </a:spcBef>
              <a:spcAft>
                <a:spcPts val="0"/>
              </a:spcAft>
              <a:buSzPts val="1400"/>
              <a:buChar char="-"/>
            </a:pPr>
            <a:r>
              <a:rPr lang="en"/>
              <a:t>Automate End-of-Program Report Data Gathering</a:t>
            </a:r>
            <a:endParaRPr/>
          </a:p>
          <a:p>
            <a:pPr indent="-317500" lvl="0" marL="457200" rtl="0" algn="l">
              <a:spcBef>
                <a:spcPts val="0"/>
              </a:spcBef>
              <a:spcAft>
                <a:spcPts val="0"/>
              </a:spcAft>
              <a:buSzPts val="1400"/>
              <a:buChar char="-"/>
            </a:pPr>
            <a:r>
              <a:rPr lang="en"/>
              <a:t>Analysis will be per experience, can roll-up to </a:t>
            </a:r>
            <a:r>
              <a:rPr lang="en"/>
              <a:t>whole </a:t>
            </a:r>
            <a:r>
              <a:rPr lang="en"/>
              <a:t>institution</a:t>
            </a:r>
            <a:endParaRPr/>
          </a:p>
          <a:p>
            <a:pPr indent="-317500" lvl="0" marL="457200" rtl="0" algn="l">
              <a:spcBef>
                <a:spcPts val="0"/>
              </a:spcBef>
              <a:spcAft>
                <a:spcPts val="0"/>
              </a:spcAft>
              <a:buSzPts val="1400"/>
              <a:buChar char="-"/>
            </a:pPr>
            <a:r>
              <a:rPr lang="en"/>
              <a:t>Initial scope is to provide a CSV export similar to existing exports that covers all the essential stats necessary for end of program reporting</a:t>
            </a:r>
            <a:endParaRPr/>
          </a:p>
          <a:p>
            <a:pPr indent="-304800" lvl="1" marL="914400" rtl="0" algn="l">
              <a:spcBef>
                <a:spcPts val="0"/>
              </a:spcBef>
              <a:spcAft>
                <a:spcPts val="0"/>
              </a:spcAft>
              <a:buSzPts val="1200"/>
              <a:buChar char="-"/>
            </a:pPr>
            <a:r>
              <a:rPr lang="en"/>
              <a:t>Need to get list of desired analytics from Programs team</a:t>
            </a:r>
            <a:endParaRPr/>
          </a:p>
          <a:p>
            <a:pPr indent="-304800" lvl="1" marL="914400" rtl="0" algn="l">
              <a:spcBef>
                <a:spcPts val="0"/>
              </a:spcBef>
              <a:spcAft>
                <a:spcPts val="0"/>
              </a:spcAft>
              <a:buSzPts val="1200"/>
              <a:buChar char="-"/>
            </a:pPr>
            <a:r>
              <a:rPr lang="en"/>
              <a:t>Need UI for selecting assessments/questions to do statistical analysis for export</a:t>
            </a:r>
            <a:endParaRPr/>
          </a:p>
          <a:p>
            <a:pPr indent="-317500" lvl="0" marL="457200" rtl="0" algn="l">
              <a:spcBef>
                <a:spcPts val="0"/>
              </a:spcBef>
              <a:spcAft>
                <a:spcPts val="0"/>
              </a:spcAft>
              <a:buSzPts val="1400"/>
              <a:buChar char="-"/>
            </a:pPr>
            <a:r>
              <a:rPr lang="en"/>
              <a:t>Out of scope for Phase 1:</a:t>
            </a:r>
            <a:endParaRPr/>
          </a:p>
          <a:p>
            <a:pPr indent="-304800" lvl="1" marL="914400" rtl="0" algn="l">
              <a:spcBef>
                <a:spcPts val="0"/>
              </a:spcBef>
              <a:spcAft>
                <a:spcPts val="0"/>
              </a:spcAft>
              <a:buSzPts val="1200"/>
              <a:buChar char="-"/>
            </a:pPr>
            <a:r>
              <a:rPr lang="en"/>
              <a:t>Multi-institution reporting (whitepapers) - requires complex handling of privacy / GDPR</a:t>
            </a:r>
            <a:endParaRPr/>
          </a:p>
          <a:p>
            <a:pPr indent="-304800" lvl="1" marL="914400" rtl="0" algn="l">
              <a:spcBef>
                <a:spcPts val="0"/>
              </a:spcBef>
              <a:spcAft>
                <a:spcPts val="0"/>
              </a:spcAft>
              <a:buSzPts val="1200"/>
              <a:buChar char="-"/>
            </a:pPr>
            <a:r>
              <a:rPr lang="en"/>
              <a:t>Report generation - the programs team will experiment with different 3rd party packages</a:t>
            </a:r>
            <a:endParaRPr/>
          </a:p>
          <a:p>
            <a:pPr indent="0" lvl="0" marL="0" rtl="0" algn="l">
              <a:spcBef>
                <a:spcPts val="1200"/>
              </a:spcBef>
              <a:spcAft>
                <a:spcPts val="1200"/>
              </a:spcAft>
              <a:buNone/>
            </a:pPr>
            <a:r>
              <a:rPr b="1" lang="en"/>
              <a:t>Key Developers: Shawn, Terence</a:t>
            </a:r>
            <a:endParaRPr b="1"/>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3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Maintenance</a:t>
            </a:r>
            <a:endParaRPr/>
          </a:p>
        </p:txBody>
      </p:sp>
      <p:sp>
        <p:nvSpPr>
          <p:cNvPr id="354" name="Google Shape;354;p34"/>
          <p:cNvSpPr txBox="1"/>
          <p:nvPr>
            <p:ph idx="1" type="body"/>
          </p:nvPr>
        </p:nvSpPr>
        <p:spPr>
          <a:xfrm>
            <a:off x="311700" y="1266175"/>
            <a:ext cx="3999900" cy="33027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b="1" lang="en"/>
              <a:t>Compliance</a:t>
            </a:r>
            <a:endParaRPr b="1"/>
          </a:p>
          <a:p>
            <a:pPr indent="-297498" lvl="0" marL="457200" rtl="0" algn="l">
              <a:spcBef>
                <a:spcPts val="1200"/>
              </a:spcBef>
              <a:spcAft>
                <a:spcPts val="0"/>
              </a:spcAft>
              <a:buSzPct val="100000"/>
              <a:buChar char="-"/>
            </a:pPr>
            <a:r>
              <a:rPr lang="en"/>
              <a:t>SOC Type 1 complete by early Feb, Type 2 by April</a:t>
            </a:r>
            <a:endParaRPr/>
          </a:p>
          <a:p>
            <a:pPr indent="-297498" lvl="0" marL="457200" rtl="0" algn="l">
              <a:spcBef>
                <a:spcPts val="0"/>
              </a:spcBef>
              <a:spcAft>
                <a:spcPts val="0"/>
              </a:spcAft>
              <a:buSzPct val="100000"/>
              <a:buChar char="-"/>
            </a:pPr>
            <a:r>
              <a:rPr lang="en"/>
              <a:t>WCAG and GDPR certification</a:t>
            </a:r>
            <a:endParaRPr/>
          </a:p>
          <a:p>
            <a:pPr indent="-297498" lvl="0" marL="457200" rtl="0" algn="l">
              <a:spcBef>
                <a:spcPts val="0"/>
              </a:spcBef>
              <a:spcAft>
                <a:spcPts val="0"/>
              </a:spcAft>
              <a:buSzPct val="100000"/>
              <a:buChar char="-"/>
            </a:pPr>
            <a:r>
              <a:rPr lang="en"/>
              <a:t>Run regular firedrills and improve compliance</a:t>
            </a:r>
            <a:endParaRPr/>
          </a:p>
          <a:p>
            <a:pPr indent="0" lvl="0" marL="0" rtl="0" algn="l">
              <a:spcBef>
                <a:spcPts val="1200"/>
              </a:spcBef>
              <a:spcAft>
                <a:spcPts val="0"/>
              </a:spcAft>
              <a:buNone/>
            </a:pPr>
            <a:r>
              <a:rPr b="1" lang="en"/>
              <a:t>Global Login</a:t>
            </a:r>
            <a:endParaRPr/>
          </a:p>
          <a:p>
            <a:pPr indent="-297498" lvl="0" marL="457200" rtl="0" algn="l">
              <a:spcBef>
                <a:spcPts val="1200"/>
              </a:spcBef>
              <a:spcAft>
                <a:spcPts val="0"/>
              </a:spcAft>
              <a:buSzPct val="100000"/>
              <a:buChar char="-"/>
            </a:pPr>
            <a:r>
              <a:rPr lang="en"/>
              <a:t>Change MFA to email-based from SMS</a:t>
            </a:r>
            <a:endParaRPr/>
          </a:p>
          <a:p>
            <a:pPr indent="-297498" lvl="0" marL="457200" rtl="0" algn="l">
              <a:spcBef>
                <a:spcPts val="0"/>
              </a:spcBef>
              <a:spcAft>
                <a:spcPts val="0"/>
              </a:spcAft>
              <a:buSzPct val="100000"/>
              <a:buChar char="-"/>
            </a:pPr>
            <a:r>
              <a:rPr lang="en"/>
              <a:t>Improve login UI</a:t>
            </a:r>
            <a:endParaRPr/>
          </a:p>
          <a:p>
            <a:pPr indent="0" lvl="0" marL="0" rtl="0" algn="l">
              <a:spcBef>
                <a:spcPts val="1200"/>
              </a:spcBef>
              <a:spcAft>
                <a:spcPts val="0"/>
              </a:spcAft>
              <a:buNone/>
            </a:pPr>
            <a:r>
              <a:rPr b="1" lang="en"/>
              <a:t>GPT</a:t>
            </a:r>
            <a:endParaRPr b="1"/>
          </a:p>
          <a:p>
            <a:pPr indent="-297498" lvl="0" marL="457200" rtl="0" algn="l">
              <a:spcBef>
                <a:spcPts val="1200"/>
              </a:spcBef>
              <a:spcAft>
                <a:spcPts val="0"/>
              </a:spcAft>
              <a:buSzPct val="100000"/>
              <a:buChar char="-"/>
            </a:pPr>
            <a:r>
              <a:rPr lang="en"/>
              <a:t>Use latest GPT format for AI to save cost &amp; improve accuracy</a:t>
            </a:r>
            <a:endParaRPr/>
          </a:p>
          <a:p>
            <a:pPr indent="0" lvl="0" marL="0" rtl="0" algn="l">
              <a:spcBef>
                <a:spcPts val="1200"/>
              </a:spcBef>
              <a:spcAft>
                <a:spcPts val="0"/>
              </a:spcAft>
              <a:buNone/>
            </a:pPr>
            <a:r>
              <a:rPr b="1" lang="en"/>
              <a:t>Security</a:t>
            </a:r>
            <a:endParaRPr b="1"/>
          </a:p>
          <a:p>
            <a:pPr indent="-297498" lvl="0" marL="457200" rtl="0" algn="l">
              <a:spcBef>
                <a:spcPts val="1200"/>
              </a:spcBef>
              <a:spcAft>
                <a:spcPts val="0"/>
              </a:spcAft>
              <a:buSzPct val="100000"/>
              <a:buChar char="-"/>
            </a:pPr>
            <a:r>
              <a:rPr lang="en"/>
              <a:t>Automate penetration test scans</a:t>
            </a:r>
            <a:endParaRPr/>
          </a:p>
          <a:p>
            <a:pPr indent="-297498" lvl="0" marL="457200" rtl="0" algn="l">
              <a:spcBef>
                <a:spcPts val="0"/>
              </a:spcBef>
              <a:spcAft>
                <a:spcPts val="0"/>
              </a:spcAft>
              <a:buSzPct val="100000"/>
              <a:buChar char="-"/>
            </a:pPr>
            <a:r>
              <a:rPr lang="en"/>
              <a:t>Solve all medium security issues identified</a:t>
            </a:r>
            <a:endParaRPr/>
          </a:p>
        </p:txBody>
      </p:sp>
      <p:sp>
        <p:nvSpPr>
          <p:cNvPr id="355" name="Google Shape;355;p34"/>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fontScale="70000" lnSpcReduction="10000"/>
          </a:bodyPr>
          <a:lstStyle/>
          <a:p>
            <a:pPr indent="0" lvl="0" marL="0" rtl="0" algn="l">
              <a:spcBef>
                <a:spcPts val="0"/>
              </a:spcBef>
              <a:spcAft>
                <a:spcPts val="0"/>
              </a:spcAft>
              <a:buNone/>
            </a:pPr>
            <a:r>
              <a:rPr b="1" lang="en"/>
              <a:t>Testing</a:t>
            </a:r>
            <a:endParaRPr b="1"/>
          </a:p>
          <a:p>
            <a:pPr indent="-290830" lvl="0" marL="457200" rtl="0" algn="l">
              <a:spcBef>
                <a:spcPts val="1200"/>
              </a:spcBef>
              <a:spcAft>
                <a:spcPts val="0"/>
              </a:spcAft>
              <a:buSzPct val="100000"/>
              <a:buChar char="-"/>
            </a:pPr>
            <a:r>
              <a:rPr lang="en"/>
              <a:t>Faster release cycle by sharing regression testing across dev team &amp; with UI Testing Automation</a:t>
            </a:r>
            <a:endParaRPr/>
          </a:p>
          <a:p>
            <a:pPr indent="-290830" lvl="0" marL="457200" rtl="0" algn="l">
              <a:spcBef>
                <a:spcPts val="0"/>
              </a:spcBef>
              <a:spcAft>
                <a:spcPts val="0"/>
              </a:spcAft>
              <a:buSzPct val="100000"/>
              <a:buChar char="-"/>
            </a:pPr>
            <a:r>
              <a:rPr lang="en"/>
              <a:t>Use load testing to validate optimal resourcing levels</a:t>
            </a:r>
            <a:endParaRPr/>
          </a:p>
          <a:p>
            <a:pPr indent="0" lvl="0" marL="0" rtl="0" algn="l">
              <a:spcBef>
                <a:spcPts val="1200"/>
              </a:spcBef>
              <a:spcAft>
                <a:spcPts val="0"/>
              </a:spcAft>
              <a:buNone/>
            </a:pPr>
            <a:r>
              <a:rPr b="1" lang="en"/>
              <a:t>Devops</a:t>
            </a:r>
            <a:endParaRPr b="1"/>
          </a:p>
          <a:p>
            <a:pPr indent="-290830" lvl="0" marL="457200" rtl="0" algn="l">
              <a:spcBef>
                <a:spcPts val="1200"/>
              </a:spcBef>
              <a:spcAft>
                <a:spcPts val="0"/>
              </a:spcAft>
              <a:buSzPct val="100000"/>
              <a:buChar char="-"/>
            </a:pPr>
            <a:r>
              <a:rPr lang="en"/>
              <a:t>Replace 3rd party services (Mandrill, Filestack, Twilio) with AWS services to reduce cost &amp; improve compliance</a:t>
            </a:r>
            <a:endParaRPr/>
          </a:p>
          <a:p>
            <a:pPr indent="-290830" lvl="0" marL="457200" rtl="0" algn="l">
              <a:spcBef>
                <a:spcPts val="0"/>
              </a:spcBef>
              <a:spcAft>
                <a:spcPts val="0"/>
              </a:spcAft>
              <a:buSzPct val="100000"/>
              <a:buChar char="-"/>
            </a:pPr>
            <a:r>
              <a:rPr lang="en"/>
              <a:t>Proactively scale up/down based on go live usage information</a:t>
            </a:r>
            <a:endParaRPr/>
          </a:p>
          <a:p>
            <a:pPr indent="-290830" lvl="0" marL="457200" rtl="0" algn="l">
              <a:spcBef>
                <a:spcPts val="0"/>
              </a:spcBef>
              <a:spcAft>
                <a:spcPts val="0"/>
              </a:spcAft>
              <a:buSzPct val="100000"/>
              <a:buChar char="-"/>
            </a:pPr>
            <a:r>
              <a:rPr lang="en"/>
              <a:t>Standardize &amp; secure developer environment</a:t>
            </a:r>
            <a:endParaRPr/>
          </a:p>
          <a:p>
            <a:pPr indent="-290830" lvl="0" marL="457200" rtl="0" algn="l">
              <a:spcBef>
                <a:spcPts val="0"/>
              </a:spcBef>
              <a:spcAft>
                <a:spcPts val="0"/>
              </a:spcAft>
              <a:buSzPct val="100000"/>
              <a:buChar char="-"/>
            </a:pPr>
            <a:r>
              <a:rPr lang="en"/>
              <a:t>Ongoing cost optimization</a:t>
            </a:r>
            <a:endParaRPr/>
          </a:p>
          <a:p>
            <a:pPr indent="0" lvl="0" marL="0" rtl="0" algn="l">
              <a:spcBef>
                <a:spcPts val="1200"/>
              </a:spcBef>
              <a:spcAft>
                <a:spcPts val="0"/>
              </a:spcAft>
              <a:buNone/>
            </a:pPr>
            <a:r>
              <a:rPr b="1" lang="en"/>
              <a:t>Bugfixes</a:t>
            </a:r>
            <a:endParaRPr b="1"/>
          </a:p>
          <a:p>
            <a:pPr indent="-290830" lvl="0" marL="457200" rtl="0" algn="l">
              <a:spcBef>
                <a:spcPts val="1200"/>
              </a:spcBef>
              <a:spcAft>
                <a:spcPts val="0"/>
              </a:spcAft>
              <a:buSzPct val="100000"/>
              <a:buChar char="-"/>
            </a:pPr>
            <a:r>
              <a:rPr lang="en"/>
              <a:t>Continue to reduce backlog to &lt; 10 active bugs</a:t>
            </a:r>
            <a:endParaRPr/>
          </a:p>
          <a:p>
            <a:pPr indent="0" lvl="0" marL="0" rtl="0" algn="l">
              <a:spcBef>
                <a:spcPts val="1200"/>
              </a:spcBef>
              <a:spcAft>
                <a:spcPts val="12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35"/>
          <p:cNvSpPr txBox="1"/>
          <p:nvPr/>
        </p:nvSpPr>
        <p:spPr>
          <a:xfrm>
            <a:off x="605125" y="1955125"/>
            <a:ext cx="3720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February</a:t>
            </a:r>
            <a:r>
              <a:rPr b="1" lang="en"/>
              <a:t> 2024</a:t>
            </a:r>
            <a:endParaRPr b="1"/>
          </a:p>
        </p:txBody>
      </p:sp>
      <p:sp>
        <p:nvSpPr>
          <p:cNvPr id="361" name="Google Shape;361;p35"/>
          <p:cNvSpPr txBox="1"/>
          <p:nvPr/>
        </p:nvSpPr>
        <p:spPr>
          <a:xfrm>
            <a:off x="605125" y="2355325"/>
            <a:ext cx="76401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300"/>
              <a:t>Platform Roadmap 2024 Discussion</a:t>
            </a:r>
            <a:endParaRPr b="1" sz="23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36"/>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State of the Platform</a:t>
            </a:r>
            <a:endParaRPr/>
          </a:p>
        </p:txBody>
      </p:sp>
      <p:sp>
        <p:nvSpPr>
          <p:cNvPr id="367" name="Google Shape;367;p36"/>
          <p:cNvSpPr txBox="1"/>
          <p:nvPr>
            <p:ph idx="1" type="body"/>
          </p:nvPr>
        </p:nvSpPr>
        <p:spPr>
          <a:xfrm>
            <a:off x="311700" y="1152475"/>
            <a:ext cx="4891200" cy="34164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b="1" lang="en"/>
              <a:t>Productivity, Performance &amp; Stability</a:t>
            </a:r>
            <a:endParaRPr b="1"/>
          </a:p>
          <a:p>
            <a:pPr indent="-297498" lvl="0" marL="457200" rtl="0" algn="l">
              <a:spcBef>
                <a:spcPts val="1200"/>
              </a:spcBef>
              <a:spcAft>
                <a:spcPts val="0"/>
              </a:spcAft>
              <a:buSzPct val="100000"/>
              <a:buChar char="-"/>
            </a:pPr>
            <a:r>
              <a:rPr lang="en"/>
              <a:t>Since June 2023 the team delivered 22 releases totaling 315 stories in JIRA. 4x more than prev 12 mo.</a:t>
            </a:r>
            <a:endParaRPr/>
          </a:p>
          <a:p>
            <a:pPr indent="-297498" lvl="0" marL="457200" rtl="0" algn="l">
              <a:spcBef>
                <a:spcPts val="0"/>
              </a:spcBef>
              <a:spcAft>
                <a:spcPts val="0"/>
              </a:spcAft>
              <a:buSzPct val="100000"/>
              <a:buChar char="-"/>
            </a:pPr>
            <a:r>
              <a:rPr lang="en"/>
              <a:t>The app experience is now faster across the board</a:t>
            </a:r>
            <a:endParaRPr/>
          </a:p>
          <a:p>
            <a:pPr indent="-297498" lvl="0" marL="457200" rtl="0" algn="l">
              <a:spcBef>
                <a:spcPts val="0"/>
              </a:spcBef>
              <a:spcAft>
                <a:spcPts val="0"/>
              </a:spcAft>
              <a:buSzPct val="100000"/>
              <a:buChar char="-"/>
            </a:pPr>
            <a:r>
              <a:rPr lang="en"/>
              <a:t>The platform can handle higher loads with lower-cost (~50%) infrastructure</a:t>
            </a:r>
            <a:endParaRPr/>
          </a:p>
          <a:p>
            <a:pPr indent="-297498" lvl="0" marL="457200" rtl="0" algn="l">
              <a:spcBef>
                <a:spcPts val="0"/>
              </a:spcBef>
              <a:spcAft>
                <a:spcPts val="0"/>
              </a:spcAft>
              <a:buSzPct val="100000"/>
              <a:buChar char="-"/>
            </a:pPr>
            <a:r>
              <a:rPr lang="en"/>
              <a:t>We are actively working on about 40 bugs &amp; issues, which includes things like accessibility improvement</a:t>
            </a:r>
            <a:endParaRPr/>
          </a:p>
          <a:p>
            <a:pPr indent="-297498" lvl="0" marL="457200" rtl="0" algn="l">
              <a:spcBef>
                <a:spcPts val="0"/>
              </a:spcBef>
              <a:spcAft>
                <a:spcPts val="0"/>
              </a:spcAft>
              <a:buSzPct val="100000"/>
              <a:buChar char="-"/>
            </a:pPr>
            <a:r>
              <a:rPr lang="en"/>
              <a:t>New issues are resolved in days and within a month at most</a:t>
            </a:r>
            <a:endParaRPr/>
          </a:p>
          <a:p>
            <a:pPr indent="-297498" lvl="0" marL="457200" rtl="0" algn="l">
              <a:spcBef>
                <a:spcPts val="0"/>
              </a:spcBef>
              <a:spcAft>
                <a:spcPts val="0"/>
              </a:spcAft>
              <a:buSzPct val="100000"/>
              <a:buChar char="-"/>
            </a:pPr>
            <a:r>
              <a:rPr lang="en"/>
              <a:t>The “maintenance” burden is lower, creating more time for platform improvement</a:t>
            </a:r>
            <a:endParaRPr/>
          </a:p>
          <a:p>
            <a:pPr indent="0" lvl="0" marL="0" rtl="0" algn="l">
              <a:spcBef>
                <a:spcPts val="1200"/>
              </a:spcBef>
              <a:spcAft>
                <a:spcPts val="0"/>
              </a:spcAft>
              <a:buNone/>
            </a:pPr>
            <a:r>
              <a:rPr b="1" lang="en"/>
              <a:t>Areas for Improvement</a:t>
            </a:r>
            <a:endParaRPr b="1"/>
          </a:p>
          <a:p>
            <a:pPr indent="-297498" lvl="0" marL="457200" rtl="0" algn="l">
              <a:spcBef>
                <a:spcPts val="1200"/>
              </a:spcBef>
              <a:spcAft>
                <a:spcPts val="0"/>
              </a:spcAft>
              <a:buSzPct val="100000"/>
              <a:buChar char="-"/>
            </a:pPr>
            <a:r>
              <a:rPr lang="en"/>
              <a:t>Testing needs more automation so that we can test more real-world configurations</a:t>
            </a:r>
            <a:endParaRPr/>
          </a:p>
          <a:p>
            <a:pPr indent="-297498" lvl="0" marL="457200" rtl="0" algn="l">
              <a:spcBef>
                <a:spcPts val="0"/>
              </a:spcBef>
              <a:spcAft>
                <a:spcPts val="0"/>
              </a:spcAft>
              <a:buSzPct val="100000"/>
              <a:buChar char="-"/>
            </a:pPr>
            <a:r>
              <a:rPr lang="en"/>
              <a:t>We have to improve compliance with our policies across the board; this includes data handling, laptop &amp; home network security, development processes &amp; more</a:t>
            </a:r>
            <a:endParaRPr/>
          </a:p>
        </p:txBody>
      </p:sp>
      <p:pic>
        <p:nvPicPr>
          <p:cNvPr id="368" name="Google Shape;368;p36"/>
          <p:cNvPicPr preferRelativeResize="0"/>
          <p:nvPr/>
        </p:nvPicPr>
        <p:blipFill rotWithShape="1">
          <a:blip r:embed="rId3">
            <a:alphaModFix/>
          </a:blip>
          <a:srcRect b="0" l="0" r="0" t="-7066"/>
          <a:stretch/>
        </p:blipFill>
        <p:spPr>
          <a:xfrm>
            <a:off x="5381150" y="1279784"/>
            <a:ext cx="3527100" cy="2360150"/>
          </a:xfrm>
          <a:prstGeom prst="rect">
            <a:avLst/>
          </a:prstGeom>
          <a:noFill/>
          <a:ln>
            <a:noFill/>
          </a:ln>
        </p:spPr>
      </p:pic>
      <p:sp>
        <p:nvSpPr>
          <p:cNvPr id="369" name="Google Shape;369;p36"/>
          <p:cNvSpPr txBox="1"/>
          <p:nvPr/>
        </p:nvSpPr>
        <p:spPr>
          <a:xfrm>
            <a:off x="5423575" y="3767275"/>
            <a:ext cx="3484800" cy="125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Open Sans"/>
                <a:ea typeface="Open Sans"/>
                <a:cs typeface="Open Sans"/>
                <a:sym typeface="Open Sans"/>
              </a:rPr>
              <a:t>Prior</a:t>
            </a:r>
            <a:r>
              <a:rPr lang="en" sz="1000">
                <a:solidFill>
                  <a:schemeClr val="dk2"/>
                </a:solidFill>
                <a:latin typeface="Open Sans"/>
                <a:ea typeface="Open Sans"/>
                <a:cs typeface="Open Sans"/>
                <a:sym typeface="Open Sans"/>
              </a:rPr>
              <a:t> to Sept 23, new issues (red) were increasing monthly and outpacing resolution. We resolved (and closed) hundreds of </a:t>
            </a:r>
            <a:r>
              <a:rPr lang="en" sz="1000">
                <a:solidFill>
                  <a:schemeClr val="dk2"/>
                </a:solidFill>
                <a:latin typeface="Open Sans"/>
                <a:ea typeface="Open Sans"/>
                <a:cs typeface="Open Sans"/>
                <a:sym typeface="Open Sans"/>
              </a:rPr>
              <a:t>outstanding issues between Sept and Nov.</a:t>
            </a:r>
            <a:br>
              <a:rPr lang="en" sz="1000">
                <a:solidFill>
                  <a:schemeClr val="dk2"/>
                </a:solidFill>
                <a:latin typeface="Open Sans"/>
                <a:ea typeface="Open Sans"/>
                <a:cs typeface="Open Sans"/>
                <a:sym typeface="Open Sans"/>
              </a:rPr>
            </a:br>
            <a:r>
              <a:rPr lang="en" sz="1000">
                <a:solidFill>
                  <a:schemeClr val="dk2"/>
                </a:solidFill>
                <a:latin typeface="Open Sans"/>
                <a:ea typeface="Open Sans"/>
                <a:cs typeface="Open Sans"/>
                <a:sym typeface="Open Sans"/>
              </a:rPr>
              <a:t>This year the # of new issues each month is decreasing and they are getting resolved quickly. The red in Jan is due to an intention pause on fixes through Jan to give the team time to focus on development. </a:t>
            </a:r>
            <a:endParaRPr sz="1000">
              <a:solidFill>
                <a:schemeClr val="dk2"/>
              </a:solidFill>
              <a:latin typeface="Open Sans"/>
              <a:ea typeface="Open Sans"/>
              <a:cs typeface="Open Sans"/>
              <a:sym typeface="Open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37"/>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Team &amp; Skills</a:t>
            </a:r>
            <a:endParaRPr/>
          </a:p>
        </p:txBody>
      </p:sp>
      <p:sp>
        <p:nvSpPr>
          <p:cNvPr id="375" name="Google Shape;375;p37"/>
          <p:cNvSpPr txBox="1"/>
          <p:nvPr>
            <p:ph idx="1" type="body"/>
          </p:nvPr>
        </p:nvSpPr>
        <p:spPr>
          <a:xfrm>
            <a:off x="311700" y="1152475"/>
            <a:ext cx="8235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Platform Team</a:t>
            </a:r>
            <a:endParaRPr b="1"/>
          </a:p>
          <a:p>
            <a:pPr indent="-317500" lvl="0" marL="457200" rtl="0" algn="l">
              <a:spcBef>
                <a:spcPts val="1200"/>
              </a:spcBef>
              <a:spcAft>
                <a:spcPts val="0"/>
              </a:spcAft>
              <a:buSzPts val="1400"/>
              <a:buChar char="-"/>
            </a:pPr>
            <a:r>
              <a:rPr lang="en"/>
              <a:t>4 full-time developers - Shawn (architect, api), Terence (admin), Chaw (app), Sasanga (app)</a:t>
            </a:r>
            <a:endParaRPr/>
          </a:p>
          <a:p>
            <a:pPr indent="-317500" lvl="0" marL="457200" rtl="0" algn="l">
              <a:spcBef>
                <a:spcPts val="0"/>
              </a:spcBef>
              <a:spcAft>
                <a:spcPts val="0"/>
              </a:spcAft>
              <a:buSzPts val="1400"/>
              <a:buChar char="-"/>
            </a:pPr>
            <a:r>
              <a:rPr lang="en"/>
              <a:t>2 full-time QA - Paul, Megan</a:t>
            </a:r>
            <a:endParaRPr/>
          </a:p>
          <a:p>
            <a:pPr indent="-317500" lvl="0" marL="457200" rtl="0" algn="l">
              <a:spcBef>
                <a:spcPts val="0"/>
              </a:spcBef>
              <a:spcAft>
                <a:spcPts val="0"/>
              </a:spcAft>
              <a:buSzPts val="1400"/>
              <a:buChar char="-"/>
            </a:pPr>
            <a:r>
              <a:rPr lang="en"/>
              <a:t>2 full time infrastructure - Sunil, Rodney*</a:t>
            </a:r>
            <a:endParaRPr/>
          </a:p>
          <a:p>
            <a:pPr indent="-317500" lvl="0" marL="457200" rtl="0" algn="l">
              <a:spcBef>
                <a:spcPts val="0"/>
              </a:spcBef>
              <a:spcAft>
                <a:spcPts val="0"/>
              </a:spcAft>
              <a:buSzPts val="1400"/>
              <a:buChar char="-"/>
            </a:pPr>
            <a:r>
              <a:rPr lang="en"/>
              <a:t>1 part-time CS - Ali</a:t>
            </a:r>
            <a:endParaRPr/>
          </a:p>
          <a:p>
            <a:pPr indent="-317500" lvl="0" marL="457200" rtl="0" algn="l">
              <a:spcBef>
                <a:spcPts val="0"/>
              </a:spcBef>
              <a:spcAft>
                <a:spcPts val="0"/>
              </a:spcAft>
              <a:buSzPts val="1400"/>
              <a:buChar char="-"/>
            </a:pPr>
            <a:r>
              <a:rPr lang="en"/>
              <a:t>1 lead + architect + part time dev - Wes</a:t>
            </a:r>
            <a:endParaRPr/>
          </a:p>
          <a:p>
            <a:pPr indent="0" lvl="0" marL="0" rtl="0" algn="l">
              <a:spcBef>
                <a:spcPts val="1200"/>
              </a:spcBef>
              <a:spcAft>
                <a:spcPts val="0"/>
              </a:spcAft>
              <a:buNone/>
            </a:pPr>
            <a:r>
              <a:rPr b="1" lang="en"/>
              <a:t>Capability Extension</a:t>
            </a:r>
            <a:endParaRPr b="1"/>
          </a:p>
          <a:p>
            <a:pPr indent="-317500" lvl="0" marL="457200" rtl="0" algn="l">
              <a:spcBef>
                <a:spcPts val="1200"/>
              </a:spcBef>
              <a:spcAft>
                <a:spcPts val="0"/>
              </a:spcAft>
              <a:buSzPts val="1400"/>
              <a:buChar char="-"/>
            </a:pPr>
            <a:r>
              <a:rPr lang="en"/>
              <a:t>All non-QA are learning how to do QA to speed up release testing, improve pre-release quality</a:t>
            </a:r>
            <a:endParaRPr/>
          </a:p>
          <a:p>
            <a:pPr indent="-317500" lvl="0" marL="457200" rtl="0" algn="l">
              <a:spcBef>
                <a:spcPts val="0"/>
              </a:spcBef>
              <a:spcAft>
                <a:spcPts val="0"/>
              </a:spcAft>
              <a:buSzPts val="1400"/>
              <a:buChar char="-"/>
            </a:pPr>
            <a:r>
              <a:rPr lang="en"/>
              <a:t>All non-infrastructure will learn basics of infra to improve performance design decisions</a:t>
            </a:r>
            <a:endParaRPr/>
          </a:p>
          <a:p>
            <a:pPr indent="-317500" lvl="0" marL="457200" rtl="0" algn="l">
              <a:spcBef>
                <a:spcPts val="0"/>
              </a:spcBef>
              <a:spcAft>
                <a:spcPts val="0"/>
              </a:spcAft>
              <a:buSzPts val="1400"/>
              <a:buChar char="-"/>
            </a:pPr>
            <a:r>
              <a:rPr lang="en"/>
              <a:t>Rodney has strong app development skills, building new app extensions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38"/>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This Exercise </a:t>
            </a:r>
            <a:endParaRPr/>
          </a:p>
        </p:txBody>
      </p:sp>
      <p:sp>
        <p:nvSpPr>
          <p:cNvPr id="381" name="Google Shape;381;p38"/>
          <p:cNvSpPr txBox="1"/>
          <p:nvPr>
            <p:ph idx="1" type="body"/>
          </p:nvPr>
        </p:nvSpPr>
        <p:spPr>
          <a:xfrm>
            <a:off x="311700" y="1152475"/>
            <a:ext cx="8235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Key Inputs, Decisions</a:t>
            </a:r>
            <a:endParaRPr b="1"/>
          </a:p>
          <a:p>
            <a:pPr indent="-317500" lvl="0" marL="457200" rtl="0" algn="l">
              <a:spcBef>
                <a:spcPts val="1200"/>
              </a:spcBef>
              <a:spcAft>
                <a:spcPts val="0"/>
              </a:spcAft>
              <a:buSzPts val="1400"/>
              <a:buChar char="-"/>
            </a:pPr>
            <a:r>
              <a:rPr lang="en"/>
              <a:t>Is anything missing?</a:t>
            </a:r>
            <a:endParaRPr/>
          </a:p>
          <a:p>
            <a:pPr indent="-317500" lvl="0" marL="457200" rtl="0" algn="l">
              <a:spcBef>
                <a:spcPts val="0"/>
              </a:spcBef>
              <a:spcAft>
                <a:spcPts val="0"/>
              </a:spcAft>
              <a:buSzPts val="1400"/>
              <a:buChar char="-"/>
            </a:pPr>
            <a:r>
              <a:rPr lang="en"/>
              <a:t>What are the top priorities?</a:t>
            </a:r>
            <a:endParaRPr/>
          </a:p>
          <a:p>
            <a:pPr indent="-317500" lvl="0" marL="457200" rtl="0" algn="l">
              <a:spcBef>
                <a:spcPts val="0"/>
              </a:spcBef>
              <a:spcAft>
                <a:spcPts val="0"/>
              </a:spcAft>
              <a:buSzPts val="1400"/>
              <a:buChar char="-"/>
            </a:pPr>
            <a:r>
              <a:rPr lang="en"/>
              <a:t>Are there deadlines that need to be considered?</a:t>
            </a:r>
            <a:endParaRPr/>
          </a:p>
          <a:p>
            <a:pPr indent="-317500" lvl="0" marL="457200" rtl="0" algn="l">
              <a:spcBef>
                <a:spcPts val="0"/>
              </a:spcBef>
              <a:spcAft>
                <a:spcPts val="0"/>
              </a:spcAft>
              <a:buSzPts val="1400"/>
              <a:buChar char="-"/>
            </a:pPr>
            <a:r>
              <a:rPr lang="en"/>
              <a:t>What essential functionalities are needed for the top priorities?</a:t>
            </a:r>
            <a:endParaRPr/>
          </a:p>
          <a:p>
            <a:pPr indent="0" lvl="0" marL="0" rtl="0" algn="l">
              <a:spcBef>
                <a:spcPts val="1200"/>
              </a:spcBef>
              <a:spcAft>
                <a:spcPts val="0"/>
              </a:spcAft>
              <a:buNone/>
            </a:pPr>
            <a:r>
              <a:rPr b="1" lang="en"/>
              <a:t>Next Steps</a:t>
            </a:r>
            <a:endParaRPr b="1"/>
          </a:p>
          <a:p>
            <a:pPr indent="-317500" lvl="0" marL="457200" rtl="0" algn="l">
              <a:spcBef>
                <a:spcPts val="1200"/>
              </a:spcBef>
              <a:spcAft>
                <a:spcPts val="0"/>
              </a:spcAft>
              <a:buSzPts val="1400"/>
              <a:buChar char="-"/>
            </a:pPr>
            <a:r>
              <a:rPr lang="en"/>
              <a:t>The platform team will scope the top priorities given the above input</a:t>
            </a:r>
            <a:endParaRPr/>
          </a:p>
          <a:p>
            <a:pPr indent="-317500" lvl="0" marL="457200" rtl="0" algn="l">
              <a:spcBef>
                <a:spcPts val="0"/>
              </a:spcBef>
              <a:spcAft>
                <a:spcPts val="0"/>
              </a:spcAft>
              <a:buSzPts val="1400"/>
              <a:buChar char="-"/>
            </a:pPr>
            <a:r>
              <a:rPr lang="en"/>
              <a:t>The final roadmap and delivery dates will be presented for review and approval to the executive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39"/>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Features (&lt; 3 mo) - Already Underway</a:t>
            </a:r>
            <a:endParaRPr/>
          </a:p>
        </p:txBody>
      </p:sp>
      <p:sp>
        <p:nvSpPr>
          <p:cNvPr id="387" name="Google Shape;387;p39"/>
          <p:cNvSpPr txBox="1"/>
          <p:nvPr>
            <p:ph idx="1" type="body"/>
          </p:nvPr>
        </p:nvSpPr>
        <p:spPr>
          <a:xfrm>
            <a:off x="396575" y="1152475"/>
            <a:ext cx="7760100" cy="355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100"/>
              <a:t>Template Library Management (90% complete)</a:t>
            </a:r>
            <a:endParaRPr b="1" sz="1100"/>
          </a:p>
          <a:p>
            <a:pPr indent="-298450" lvl="0" marL="457200" rtl="0" algn="l">
              <a:spcBef>
                <a:spcPts val="1200"/>
              </a:spcBef>
              <a:spcAft>
                <a:spcPts val="0"/>
              </a:spcAft>
              <a:buSzPts val="1100"/>
              <a:buChar char="-"/>
            </a:pPr>
            <a:r>
              <a:rPr lang="en" sz="1100"/>
              <a:t>CS Admin can easily add/remove templates from global library</a:t>
            </a:r>
            <a:endParaRPr sz="1100"/>
          </a:p>
          <a:p>
            <a:pPr indent="0" lvl="0" marL="0" rtl="0" algn="l">
              <a:spcBef>
                <a:spcPts val="1200"/>
              </a:spcBef>
              <a:spcAft>
                <a:spcPts val="0"/>
              </a:spcAft>
              <a:buNone/>
            </a:pPr>
            <a:r>
              <a:rPr b="1" lang="en" sz="1100"/>
              <a:t>Badge &amp; Certificate Self Service (80% complete)</a:t>
            </a:r>
            <a:endParaRPr b="1" sz="1100"/>
          </a:p>
          <a:p>
            <a:pPr indent="-298450" lvl="0" marL="457200" rtl="0" algn="l">
              <a:spcBef>
                <a:spcPts val="1200"/>
              </a:spcBef>
              <a:spcAft>
                <a:spcPts val="0"/>
              </a:spcAft>
              <a:buSzPts val="1100"/>
              <a:buChar char="-"/>
            </a:pPr>
            <a:r>
              <a:rPr lang="en" sz="1100"/>
              <a:t>Students can access re-issue badges &amp; certificates with name/email changes</a:t>
            </a:r>
            <a:endParaRPr sz="1100"/>
          </a:p>
          <a:p>
            <a:pPr indent="0" lvl="0" marL="0" rtl="0" algn="l">
              <a:spcBef>
                <a:spcPts val="1200"/>
              </a:spcBef>
              <a:spcAft>
                <a:spcPts val="0"/>
              </a:spcAft>
              <a:buNone/>
            </a:pPr>
            <a:r>
              <a:rPr b="1" lang="en" sz="1100"/>
              <a:t>Export To Word (80% complete)</a:t>
            </a:r>
            <a:endParaRPr sz="1100"/>
          </a:p>
          <a:p>
            <a:pPr indent="-298450" lvl="0" marL="457200" rtl="0" algn="l">
              <a:spcBef>
                <a:spcPts val="1200"/>
              </a:spcBef>
              <a:spcAft>
                <a:spcPts val="0"/>
              </a:spcAft>
              <a:buSzPts val="1100"/>
              <a:buChar char="-"/>
            </a:pPr>
            <a:r>
              <a:rPr lang="en" sz="1100"/>
              <a:t>Authors can export a design to a word document to more easily share externally</a:t>
            </a:r>
            <a:endParaRPr sz="1100"/>
          </a:p>
          <a:p>
            <a:pPr indent="0" lvl="0" marL="0" rtl="0" algn="l">
              <a:spcBef>
                <a:spcPts val="1200"/>
              </a:spcBef>
              <a:spcAft>
                <a:spcPts val="0"/>
              </a:spcAft>
              <a:buNone/>
            </a:pPr>
            <a:r>
              <a:rPr b="1" lang="en" sz="1100"/>
              <a:t>Unlock/Reveal Notifications in App (80% complete)</a:t>
            </a:r>
            <a:endParaRPr b="1" sz="1100"/>
          </a:p>
          <a:p>
            <a:pPr indent="-298450" lvl="0" marL="457200" rtl="0" algn="l">
              <a:spcBef>
                <a:spcPts val="1200"/>
              </a:spcBef>
              <a:spcAft>
                <a:spcPts val="0"/>
              </a:spcAft>
              <a:buSzPts val="1100"/>
              <a:buChar char="-"/>
            </a:pPr>
            <a:r>
              <a:rPr lang="en" sz="1100"/>
              <a:t>Show “badge dots” next to items that have recently been unlocked or revealed due to earned badges</a:t>
            </a:r>
            <a:endParaRPr sz="1100"/>
          </a:p>
          <a:p>
            <a:pPr indent="0" lvl="0" marL="0" rtl="0" algn="l">
              <a:spcBef>
                <a:spcPts val="1200"/>
              </a:spcBef>
              <a:spcAft>
                <a:spcPts val="0"/>
              </a:spcAft>
              <a:buNone/>
            </a:pPr>
            <a:r>
              <a:rPr b="1" lang="en" sz="1100"/>
              <a:t>H5P Support (50% complete)</a:t>
            </a:r>
            <a:endParaRPr b="1" sz="1100"/>
          </a:p>
          <a:p>
            <a:pPr indent="-298450" lvl="0" marL="457200" rtl="0" algn="l">
              <a:spcBef>
                <a:spcPts val="1200"/>
              </a:spcBef>
              <a:spcAft>
                <a:spcPts val="0"/>
              </a:spcAft>
              <a:buSzPts val="1100"/>
              <a:buChar char="-"/>
            </a:pPr>
            <a:r>
              <a:rPr lang="en" sz="1100"/>
              <a:t>Allow authors to easily embed H5P content and support saving/resuming and completion stored in Progress table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40"/>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Big Features (&gt; 6 mo)</a:t>
            </a:r>
            <a:endParaRPr/>
          </a:p>
        </p:txBody>
      </p:sp>
      <p:sp>
        <p:nvSpPr>
          <p:cNvPr id="393" name="Google Shape;393;p40"/>
          <p:cNvSpPr txBox="1"/>
          <p:nvPr>
            <p:ph idx="1" type="body"/>
          </p:nvPr>
        </p:nvSpPr>
        <p:spPr>
          <a:xfrm>
            <a:off x="311700" y="1266175"/>
            <a:ext cx="3999900" cy="33027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b="1" lang="en"/>
              <a:t>Practera Automation</a:t>
            </a:r>
            <a:endParaRPr b="1"/>
          </a:p>
          <a:p>
            <a:pPr indent="0" lvl="0" marL="0" rtl="0" algn="l">
              <a:spcBef>
                <a:spcPts val="1200"/>
              </a:spcBef>
              <a:spcAft>
                <a:spcPts val="0"/>
              </a:spcAft>
              <a:buNone/>
            </a:pPr>
            <a:r>
              <a:rPr b="1" lang="en" sz="1150"/>
              <a:t>Problem: too many repetitive tasks to use practera </a:t>
            </a:r>
            <a:endParaRPr b="1" sz="1150"/>
          </a:p>
          <a:p>
            <a:pPr indent="-304165" lvl="0" marL="457200" rtl="0" algn="l">
              <a:spcBef>
                <a:spcPts val="1200"/>
              </a:spcBef>
              <a:spcAft>
                <a:spcPts val="0"/>
              </a:spcAft>
              <a:buSzPct val="100000"/>
              <a:buChar char="-"/>
            </a:pPr>
            <a:r>
              <a:rPr lang="en"/>
              <a:t>Unified system for making things happen “automatically” when conditions are met</a:t>
            </a:r>
            <a:endParaRPr/>
          </a:p>
          <a:p>
            <a:pPr indent="-304165" lvl="0" marL="457200" rtl="0" algn="l">
              <a:spcBef>
                <a:spcPts val="0"/>
              </a:spcBef>
              <a:spcAft>
                <a:spcPts val="0"/>
              </a:spcAft>
              <a:buSzPct val="100000"/>
              <a:buChar char="-"/>
            </a:pPr>
            <a:r>
              <a:rPr lang="en"/>
              <a:t>Examples: automate submission reminder notifications, registration reminders, feedback reminders, ELSA interventions</a:t>
            </a:r>
            <a:endParaRPr/>
          </a:p>
          <a:p>
            <a:pPr indent="-304165" lvl="0" marL="457200" rtl="0" algn="l">
              <a:spcBef>
                <a:spcPts val="0"/>
              </a:spcBef>
              <a:spcAft>
                <a:spcPts val="0"/>
              </a:spcAft>
              <a:buSzPct val="100000"/>
              <a:buChar char="-"/>
            </a:pPr>
            <a:r>
              <a:rPr lang="en"/>
              <a:t>Automations build on “triggers” - will be able to send notifications in addition to badges &amp; unlocks, when conditions met</a:t>
            </a:r>
            <a:endParaRPr/>
          </a:p>
          <a:p>
            <a:pPr indent="-304165" lvl="0" marL="457200" rtl="0" algn="l">
              <a:spcBef>
                <a:spcPts val="0"/>
              </a:spcBef>
              <a:spcAft>
                <a:spcPts val="0"/>
              </a:spcAft>
              <a:buSzPct val="100000"/>
              <a:buChar char="-"/>
            </a:pPr>
            <a:r>
              <a:rPr lang="en"/>
              <a:t>New trigger conditions - trigger on/after date - e.g. if not submitted and the submission date has passed, send reminder.</a:t>
            </a:r>
            <a:endParaRPr/>
          </a:p>
          <a:p>
            <a:pPr indent="-304165" lvl="0" marL="457200" rtl="0" algn="l">
              <a:spcBef>
                <a:spcPts val="0"/>
              </a:spcBef>
              <a:spcAft>
                <a:spcPts val="0"/>
              </a:spcAft>
              <a:buSzPct val="100000"/>
              <a:buChar char="-"/>
            </a:pPr>
            <a:r>
              <a:rPr lang="en"/>
              <a:t>Consistent branding, customizable templates for ALL current notifications</a:t>
            </a:r>
            <a:endParaRPr/>
          </a:p>
        </p:txBody>
      </p:sp>
      <p:sp>
        <p:nvSpPr>
          <p:cNvPr id="394" name="Google Shape;394;p40"/>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en"/>
              <a:t>Reporting System</a:t>
            </a:r>
            <a:endParaRPr b="1"/>
          </a:p>
          <a:p>
            <a:pPr indent="0" lvl="0" marL="0" rtl="0" algn="l">
              <a:spcBef>
                <a:spcPts val="1200"/>
              </a:spcBef>
              <a:spcAft>
                <a:spcPts val="0"/>
              </a:spcAft>
              <a:buNone/>
            </a:pPr>
            <a:r>
              <a:rPr b="1" lang="en" sz="1150"/>
              <a:t>Problem: end-of-program reports are time consuming</a:t>
            </a:r>
            <a:endParaRPr b="1" sz="1150"/>
          </a:p>
          <a:p>
            <a:pPr indent="-310833" lvl="0" marL="457200" rtl="0" algn="l">
              <a:spcBef>
                <a:spcPts val="1200"/>
              </a:spcBef>
              <a:spcAft>
                <a:spcPts val="0"/>
              </a:spcAft>
              <a:buSzPct val="100000"/>
              <a:buChar char="-"/>
            </a:pPr>
            <a:r>
              <a:rPr lang="en"/>
              <a:t>Automate End-of-Program Reports</a:t>
            </a:r>
            <a:endParaRPr/>
          </a:p>
          <a:p>
            <a:pPr indent="-310833" lvl="0" marL="457200" rtl="0" algn="l">
              <a:spcBef>
                <a:spcPts val="0"/>
              </a:spcBef>
              <a:spcAft>
                <a:spcPts val="0"/>
              </a:spcAft>
              <a:buSzPct val="100000"/>
              <a:buChar char="-"/>
            </a:pPr>
            <a:r>
              <a:rPr lang="en"/>
              <a:t>Build a new API to handle key analytics (migrated from Quicksight)</a:t>
            </a:r>
            <a:endParaRPr/>
          </a:p>
          <a:p>
            <a:pPr indent="-299085" lvl="1" marL="914400" rtl="0" algn="l">
              <a:spcBef>
                <a:spcPts val="0"/>
              </a:spcBef>
              <a:spcAft>
                <a:spcPts val="0"/>
              </a:spcAft>
              <a:buSzPct val="100000"/>
              <a:buChar char="-"/>
            </a:pPr>
            <a:r>
              <a:rPr b="1" lang="en"/>
              <a:t>Option 1:</a:t>
            </a:r>
            <a:r>
              <a:rPr lang="en"/>
              <a:t> Integrate the API into a commercial reporting tool (PowerBI, Tableau, etc).</a:t>
            </a:r>
            <a:endParaRPr/>
          </a:p>
          <a:p>
            <a:pPr indent="-299085" lvl="1" marL="914400" rtl="0" algn="l">
              <a:spcBef>
                <a:spcPts val="0"/>
              </a:spcBef>
              <a:spcAft>
                <a:spcPts val="0"/>
              </a:spcAft>
              <a:buSzPct val="100000"/>
              <a:buChar char="-"/>
            </a:pPr>
            <a:r>
              <a:rPr b="1" lang="en"/>
              <a:t>Option 2: </a:t>
            </a:r>
            <a:r>
              <a:rPr lang="en"/>
              <a:t>Build our own drag/drop report builder to create custom PDF reports</a:t>
            </a:r>
            <a:endParaRPr/>
          </a:p>
          <a:p>
            <a:pPr indent="-310833" lvl="0" marL="457200" rtl="0" algn="l">
              <a:spcBef>
                <a:spcPts val="0"/>
              </a:spcBef>
              <a:spcAft>
                <a:spcPts val="0"/>
              </a:spcAft>
              <a:buSzPct val="100000"/>
              <a:buChar char="-"/>
            </a:pPr>
            <a:r>
              <a:rPr lang="en"/>
              <a:t>Reports will be per experience, roll-up to institution or for whitepapers cross-institution analyses</a:t>
            </a:r>
            <a:endParaRPr/>
          </a:p>
          <a:p>
            <a:pPr indent="-310833" lvl="0" marL="457200" rtl="0" algn="l">
              <a:spcBef>
                <a:spcPts val="0"/>
              </a:spcBef>
              <a:spcAft>
                <a:spcPts val="0"/>
              </a:spcAft>
              <a:buSzPct val="100000"/>
              <a:buChar char="-"/>
            </a:pPr>
            <a:r>
              <a:rPr lang="en"/>
              <a:t>Will need to handle IP, privacy issues (GDPR) via anonymization as well as opt-in</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41"/>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Big Features, </a:t>
            </a:r>
            <a:r>
              <a:rPr lang="en"/>
              <a:t>continued</a:t>
            </a:r>
            <a:endParaRPr/>
          </a:p>
        </p:txBody>
      </p:sp>
      <p:sp>
        <p:nvSpPr>
          <p:cNvPr id="400" name="Google Shape;400;p41"/>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Project Briefs </a:t>
            </a:r>
            <a:endParaRPr b="1"/>
          </a:p>
          <a:p>
            <a:pPr indent="0" lvl="0" marL="0" rtl="0" algn="l">
              <a:spcBef>
                <a:spcPts val="1200"/>
              </a:spcBef>
              <a:spcAft>
                <a:spcPts val="0"/>
              </a:spcAft>
              <a:buNone/>
            </a:pPr>
            <a:r>
              <a:rPr b="1" lang="en" sz="1100"/>
              <a:t>Problem: project briefs are NOT in practera</a:t>
            </a:r>
            <a:endParaRPr b="1" sz="1100"/>
          </a:p>
          <a:p>
            <a:pPr indent="-317500" lvl="0" marL="457200" rtl="0" algn="l">
              <a:spcBef>
                <a:spcPts val="1200"/>
              </a:spcBef>
              <a:spcAft>
                <a:spcPts val="0"/>
              </a:spcAft>
              <a:buSzPts val="1400"/>
              <a:buChar char="-"/>
            </a:pPr>
            <a:r>
              <a:rPr lang="en"/>
              <a:t>Collect briefs via hubspot</a:t>
            </a:r>
            <a:endParaRPr/>
          </a:p>
          <a:p>
            <a:pPr indent="-317500" lvl="0" marL="457200" rtl="0" algn="l">
              <a:spcBef>
                <a:spcPts val="0"/>
              </a:spcBef>
              <a:spcAft>
                <a:spcPts val="0"/>
              </a:spcAft>
              <a:buSzPts val="1400"/>
              <a:buChar char="-"/>
            </a:pPr>
            <a:r>
              <a:rPr lang="en"/>
              <a:t>Pull data from hubspot into Practera</a:t>
            </a:r>
            <a:endParaRPr/>
          </a:p>
          <a:p>
            <a:pPr indent="-317500" lvl="0" marL="457200" rtl="0" algn="l">
              <a:spcBef>
                <a:spcPts val="0"/>
              </a:spcBef>
              <a:spcAft>
                <a:spcPts val="0"/>
              </a:spcAft>
              <a:buSzPts val="1400"/>
              <a:buChar char="-"/>
            </a:pPr>
            <a:r>
              <a:rPr lang="en"/>
              <a:t>Admin can select &amp; assign briefs </a:t>
            </a:r>
            <a:endParaRPr/>
          </a:p>
          <a:p>
            <a:pPr indent="-317500" lvl="0" marL="457200" rtl="0" algn="l">
              <a:spcBef>
                <a:spcPts val="0"/>
              </a:spcBef>
              <a:spcAft>
                <a:spcPts val="0"/>
              </a:spcAft>
              <a:buSzPts val="1400"/>
              <a:buChar char="-"/>
            </a:pPr>
            <a:r>
              <a:rPr lang="en"/>
              <a:t>Briefs details appear in App on home page. Potentially interactive elements</a:t>
            </a:r>
            <a:endParaRPr/>
          </a:p>
          <a:p>
            <a:pPr indent="0" lvl="0" marL="0" rtl="0" algn="l">
              <a:spcBef>
                <a:spcPts val="1200"/>
              </a:spcBef>
              <a:spcAft>
                <a:spcPts val="1200"/>
              </a:spcAft>
              <a:buNone/>
            </a:pPr>
            <a:r>
              <a:t/>
            </a:r>
            <a:endParaRPr b="1"/>
          </a:p>
        </p:txBody>
      </p:sp>
      <p:sp>
        <p:nvSpPr>
          <p:cNvPr id="401" name="Google Shape;401;p41"/>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Slack</a:t>
            </a:r>
            <a:endParaRPr b="1"/>
          </a:p>
          <a:p>
            <a:pPr indent="0" lvl="0" marL="0" rtl="0" algn="l">
              <a:spcBef>
                <a:spcPts val="1200"/>
              </a:spcBef>
              <a:spcAft>
                <a:spcPts val="0"/>
              </a:spcAft>
              <a:buNone/>
            </a:pPr>
            <a:r>
              <a:rPr b="1" lang="en" sz="1100"/>
              <a:t>Problem: students don’t use email, we don’t have an app</a:t>
            </a:r>
            <a:endParaRPr b="1" sz="1100"/>
          </a:p>
          <a:p>
            <a:pPr indent="-317500" lvl="0" marL="457200" rtl="0" algn="l">
              <a:spcBef>
                <a:spcPts val="1200"/>
              </a:spcBef>
              <a:spcAft>
                <a:spcPts val="0"/>
              </a:spcAft>
              <a:buSzPts val="1400"/>
              <a:buChar char="-"/>
            </a:pPr>
            <a:r>
              <a:rPr lang="en"/>
              <a:t>Ensure existing slack integration is working &amp; full supported</a:t>
            </a:r>
            <a:endParaRPr/>
          </a:p>
          <a:p>
            <a:pPr indent="-317500" lvl="0" marL="457200" rtl="0" algn="l">
              <a:spcBef>
                <a:spcPts val="0"/>
              </a:spcBef>
              <a:spcAft>
                <a:spcPts val="0"/>
              </a:spcAft>
              <a:buSzPts val="1400"/>
              <a:buChar char="-"/>
            </a:pPr>
            <a:r>
              <a:rPr lang="en"/>
              <a:t>Integrate chat so slack &amp; practera chat is twinned</a:t>
            </a:r>
            <a:endParaRPr/>
          </a:p>
          <a:p>
            <a:pPr indent="-317500" lvl="0" marL="457200" rtl="0" algn="l">
              <a:spcBef>
                <a:spcPts val="0"/>
              </a:spcBef>
              <a:spcAft>
                <a:spcPts val="0"/>
              </a:spcAft>
              <a:buSzPts val="1400"/>
              <a:buChar char="-"/>
            </a:pPr>
            <a:r>
              <a:rPr lang="en"/>
              <a:t>Deliver reminders/notifications/pulse checks via slack</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42"/>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Features (3-6 mo)</a:t>
            </a:r>
            <a:endParaRPr/>
          </a:p>
        </p:txBody>
      </p:sp>
      <p:sp>
        <p:nvSpPr>
          <p:cNvPr id="407" name="Google Shape;407;p42"/>
          <p:cNvSpPr txBox="1"/>
          <p:nvPr>
            <p:ph idx="2"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605"/>
              <a:buNone/>
            </a:pPr>
            <a:r>
              <a:rPr b="1" lang="en" sz="1100"/>
              <a:t>Full GDPR Support</a:t>
            </a:r>
            <a:endParaRPr b="1" sz="1100"/>
          </a:p>
          <a:p>
            <a:pPr indent="-298450" lvl="0" marL="457200" rtl="0" algn="l">
              <a:spcBef>
                <a:spcPts val="1200"/>
              </a:spcBef>
              <a:spcAft>
                <a:spcPts val="0"/>
              </a:spcAft>
              <a:buSzPts val="1100"/>
              <a:buChar char="-"/>
            </a:pPr>
            <a:r>
              <a:rPr lang="en" sz="1100"/>
              <a:t>Automated data deletion, users can also request data deletion</a:t>
            </a:r>
            <a:endParaRPr sz="1100"/>
          </a:p>
          <a:p>
            <a:pPr indent="0" lvl="0" marL="0" rtl="0" algn="l">
              <a:spcBef>
                <a:spcPts val="1200"/>
              </a:spcBef>
              <a:spcAft>
                <a:spcPts val="0"/>
              </a:spcAft>
              <a:buSzPts val="605"/>
              <a:buNone/>
            </a:pPr>
            <a:r>
              <a:rPr b="1" lang="en" sz="1100"/>
              <a:t>Improve App Assessment UX</a:t>
            </a:r>
            <a:endParaRPr b="1" sz="1100"/>
          </a:p>
          <a:p>
            <a:pPr indent="-298450" lvl="0" marL="457200" rtl="0" algn="l">
              <a:spcBef>
                <a:spcPts val="1200"/>
              </a:spcBef>
              <a:spcAft>
                <a:spcPts val="0"/>
              </a:spcAft>
              <a:buSzPts val="1100"/>
              <a:buChar char="-"/>
            </a:pPr>
            <a:r>
              <a:rPr lang="en" sz="1100"/>
              <a:t>Split longer assessment into groups</a:t>
            </a:r>
            <a:endParaRPr sz="1100"/>
          </a:p>
          <a:p>
            <a:pPr indent="-298450" lvl="0" marL="457200" rtl="0" algn="l">
              <a:spcBef>
                <a:spcPts val="0"/>
              </a:spcBef>
              <a:spcAft>
                <a:spcPts val="0"/>
              </a:spcAft>
              <a:buSzPts val="1100"/>
              <a:buChar char="-"/>
            </a:pPr>
            <a:r>
              <a:rPr lang="en" sz="1100"/>
              <a:t>Highlight missing required questions</a:t>
            </a:r>
            <a:endParaRPr sz="1100"/>
          </a:p>
          <a:p>
            <a:pPr indent="0" lvl="0" marL="0" rtl="0" algn="l">
              <a:spcBef>
                <a:spcPts val="1200"/>
              </a:spcBef>
              <a:spcAft>
                <a:spcPts val="0"/>
              </a:spcAft>
              <a:buSzPts val="605"/>
              <a:buNone/>
            </a:pPr>
            <a:r>
              <a:rPr b="1" lang="en" sz="1100"/>
              <a:t>Improve App Review UX</a:t>
            </a:r>
            <a:endParaRPr b="1" sz="1100"/>
          </a:p>
          <a:p>
            <a:pPr indent="-298450" lvl="0" marL="457200" rtl="0" algn="l">
              <a:spcBef>
                <a:spcPts val="1200"/>
              </a:spcBef>
              <a:spcAft>
                <a:spcPts val="0"/>
              </a:spcAft>
              <a:buSzPts val="1100"/>
              <a:buChar char="-"/>
            </a:pPr>
            <a:r>
              <a:rPr lang="en" sz="1100"/>
              <a:t>Allow reviewers to see PDFs and other docs in split panel with review questions</a:t>
            </a:r>
            <a:endParaRPr sz="1100"/>
          </a:p>
          <a:p>
            <a:pPr indent="-298450" lvl="0" marL="457200" rtl="0" algn="l">
              <a:spcBef>
                <a:spcPts val="0"/>
              </a:spcBef>
              <a:spcAft>
                <a:spcPts val="0"/>
              </a:spcAft>
              <a:buSzPts val="1100"/>
              <a:buChar char="-"/>
            </a:pPr>
            <a:r>
              <a:rPr lang="en" sz="1100"/>
              <a:t>Allow PDF annotations?</a:t>
            </a:r>
            <a:endParaRPr sz="1100"/>
          </a:p>
          <a:p>
            <a:pPr indent="0" lvl="0" marL="0" rtl="0" algn="l">
              <a:spcBef>
                <a:spcPts val="1200"/>
              </a:spcBef>
              <a:spcAft>
                <a:spcPts val="0"/>
              </a:spcAft>
              <a:buSzPts val="605"/>
              <a:buNone/>
            </a:pPr>
            <a:r>
              <a:rPr b="1" lang="en" sz="1100"/>
              <a:t>Improve Team360 Authoring &amp; App UX</a:t>
            </a:r>
            <a:endParaRPr b="1" sz="1100"/>
          </a:p>
          <a:p>
            <a:pPr indent="-298450" lvl="0" marL="457200" rtl="0" algn="l">
              <a:spcBef>
                <a:spcPts val="1200"/>
              </a:spcBef>
              <a:spcAft>
                <a:spcPts val="0"/>
              </a:spcAft>
              <a:buSzPts val="1100"/>
              <a:buChar char="-"/>
            </a:pPr>
            <a:r>
              <a:rPr lang="en" sz="1100"/>
              <a:t>Only create a single group for the Team360 - Practera will automatically create the hidden per-student groups</a:t>
            </a:r>
            <a:endParaRPr sz="11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43"/>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Features (3 mo or less)</a:t>
            </a:r>
            <a:endParaRPr/>
          </a:p>
        </p:txBody>
      </p:sp>
      <p:sp>
        <p:nvSpPr>
          <p:cNvPr id="413" name="Google Shape;413;p43"/>
          <p:cNvSpPr txBox="1"/>
          <p:nvPr>
            <p:ph idx="2"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rPr b="1" lang="en" sz="1100"/>
              <a:t>Admin Unread Chat Notifications</a:t>
            </a:r>
            <a:endParaRPr b="1" sz="1100"/>
          </a:p>
          <a:p>
            <a:pPr indent="-298450" lvl="0" marL="457200" rtl="0" algn="l">
              <a:spcBef>
                <a:spcPts val="1200"/>
              </a:spcBef>
              <a:spcAft>
                <a:spcPts val="0"/>
              </a:spcAft>
              <a:buSzPts val="1100"/>
              <a:buChar char="-"/>
            </a:pPr>
            <a:r>
              <a:rPr lang="en" sz="1100"/>
              <a:t>Send admins a regular “digest” of unread messages across all the various team channels</a:t>
            </a:r>
            <a:endParaRPr sz="1100"/>
          </a:p>
          <a:p>
            <a:pPr indent="0" lvl="0" marL="0" rtl="0" algn="l">
              <a:spcBef>
                <a:spcPts val="1200"/>
              </a:spcBef>
              <a:spcAft>
                <a:spcPts val="0"/>
              </a:spcAft>
              <a:buSzPts val="605"/>
              <a:buNone/>
            </a:pPr>
            <a:r>
              <a:rPr b="1" lang="en" sz="1100"/>
              <a:t>Notification Inbox In App</a:t>
            </a:r>
            <a:endParaRPr b="1" sz="1100"/>
          </a:p>
          <a:p>
            <a:pPr indent="-298450" lvl="0" marL="457200" rtl="0" algn="l">
              <a:spcBef>
                <a:spcPts val="1200"/>
              </a:spcBef>
              <a:spcAft>
                <a:spcPts val="0"/>
              </a:spcAft>
              <a:buSzPts val="1100"/>
              <a:buChar char="-"/>
            </a:pPr>
            <a:r>
              <a:rPr lang="en" sz="1100"/>
              <a:t>All “automated” notifications are delivered to a special chat channel in the app</a:t>
            </a:r>
            <a:endParaRPr sz="1100"/>
          </a:p>
          <a:p>
            <a:pPr indent="0" lvl="0" marL="0" rtl="0" algn="l">
              <a:spcBef>
                <a:spcPts val="1200"/>
              </a:spcBef>
              <a:spcAft>
                <a:spcPts val="0"/>
              </a:spcAft>
              <a:buNone/>
            </a:pPr>
            <a:r>
              <a:rPr b="1" lang="en" sz="1100"/>
              <a:t>LTI 1.3 + Gradebook</a:t>
            </a:r>
            <a:endParaRPr b="1" sz="1100"/>
          </a:p>
          <a:p>
            <a:pPr indent="-298450" lvl="0" marL="457200" rtl="0" algn="l">
              <a:spcBef>
                <a:spcPts val="1200"/>
              </a:spcBef>
              <a:spcAft>
                <a:spcPts val="0"/>
              </a:spcAft>
              <a:buSzPts val="1100"/>
              <a:buChar char="-"/>
            </a:pPr>
            <a:r>
              <a:rPr lang="en" sz="1100"/>
              <a:t>Full Support for LTI  1.3 and Gradebook integration</a:t>
            </a:r>
            <a:endParaRPr sz="1100"/>
          </a:p>
          <a:p>
            <a:pPr indent="0" lvl="0" marL="0" rtl="0" algn="l">
              <a:spcBef>
                <a:spcPts val="1200"/>
              </a:spcBef>
              <a:spcAft>
                <a:spcPts val="0"/>
              </a:spcAft>
              <a:buNone/>
            </a:pPr>
            <a:r>
              <a:rPr b="1" lang="en" sz="1100"/>
              <a:t>AI Process PDFs and other text files</a:t>
            </a:r>
            <a:endParaRPr b="1" sz="1100"/>
          </a:p>
          <a:p>
            <a:pPr indent="-298450" lvl="0" marL="457200" rtl="0" algn="l">
              <a:spcBef>
                <a:spcPts val="1200"/>
              </a:spcBef>
              <a:spcAft>
                <a:spcPts val="0"/>
              </a:spcAft>
              <a:buSzPts val="1100"/>
              <a:buChar char="-"/>
            </a:pPr>
            <a:r>
              <a:rPr lang="en" sz="1100"/>
              <a:t>Use latest GPT to handle file uploads and extract text</a:t>
            </a:r>
            <a:endParaRPr sz="1100"/>
          </a:p>
          <a:p>
            <a:pPr indent="0" lvl="0" marL="0" rtl="0" algn="l">
              <a:spcBef>
                <a:spcPts val="1200"/>
              </a:spcBef>
              <a:spcAft>
                <a:spcPts val="1200"/>
              </a:spcAft>
              <a:buNone/>
            </a:pPr>
            <a:r>
              <a:t/>
            </a:r>
            <a:endParaRPr sz="11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4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Maintenance</a:t>
            </a:r>
            <a:endParaRPr/>
          </a:p>
        </p:txBody>
      </p:sp>
      <p:sp>
        <p:nvSpPr>
          <p:cNvPr id="419" name="Google Shape;419;p44"/>
          <p:cNvSpPr txBox="1"/>
          <p:nvPr>
            <p:ph idx="1" type="body"/>
          </p:nvPr>
        </p:nvSpPr>
        <p:spPr>
          <a:xfrm>
            <a:off x="311700" y="1266175"/>
            <a:ext cx="3999900" cy="33027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b="1" lang="en"/>
              <a:t>Compliance</a:t>
            </a:r>
            <a:endParaRPr b="1"/>
          </a:p>
          <a:p>
            <a:pPr indent="-297498" lvl="0" marL="457200" rtl="0" algn="l">
              <a:spcBef>
                <a:spcPts val="1200"/>
              </a:spcBef>
              <a:spcAft>
                <a:spcPts val="0"/>
              </a:spcAft>
              <a:buSzPct val="100000"/>
              <a:buChar char="-"/>
            </a:pPr>
            <a:r>
              <a:rPr lang="en"/>
              <a:t>SOC </a:t>
            </a:r>
            <a:r>
              <a:rPr lang="en"/>
              <a:t>Type 1 complete by early Feb, Type 2 by April</a:t>
            </a:r>
            <a:endParaRPr/>
          </a:p>
          <a:p>
            <a:pPr indent="-297498" lvl="0" marL="457200" rtl="0" algn="l">
              <a:spcBef>
                <a:spcPts val="0"/>
              </a:spcBef>
              <a:spcAft>
                <a:spcPts val="0"/>
              </a:spcAft>
              <a:buSzPct val="100000"/>
              <a:buChar char="-"/>
            </a:pPr>
            <a:r>
              <a:rPr lang="en"/>
              <a:t>WCAG and GDPR certification</a:t>
            </a:r>
            <a:endParaRPr/>
          </a:p>
          <a:p>
            <a:pPr indent="-297498" lvl="0" marL="457200" rtl="0" algn="l">
              <a:spcBef>
                <a:spcPts val="0"/>
              </a:spcBef>
              <a:spcAft>
                <a:spcPts val="0"/>
              </a:spcAft>
              <a:buSzPct val="100000"/>
              <a:buChar char="-"/>
            </a:pPr>
            <a:r>
              <a:rPr lang="en"/>
              <a:t>Run regular firedrills and improve compliance</a:t>
            </a:r>
            <a:endParaRPr/>
          </a:p>
          <a:p>
            <a:pPr indent="0" lvl="0" marL="0" rtl="0" algn="l">
              <a:spcBef>
                <a:spcPts val="1200"/>
              </a:spcBef>
              <a:spcAft>
                <a:spcPts val="0"/>
              </a:spcAft>
              <a:buNone/>
            </a:pPr>
            <a:r>
              <a:rPr b="1" lang="en"/>
              <a:t>Global Login</a:t>
            </a:r>
            <a:endParaRPr/>
          </a:p>
          <a:p>
            <a:pPr indent="-297498" lvl="0" marL="457200" rtl="0" algn="l">
              <a:spcBef>
                <a:spcPts val="1200"/>
              </a:spcBef>
              <a:spcAft>
                <a:spcPts val="0"/>
              </a:spcAft>
              <a:buSzPct val="100000"/>
              <a:buChar char="-"/>
            </a:pPr>
            <a:r>
              <a:rPr lang="en"/>
              <a:t>Change MFA to email-based from SMS</a:t>
            </a:r>
            <a:endParaRPr/>
          </a:p>
          <a:p>
            <a:pPr indent="-297498" lvl="0" marL="457200" rtl="0" algn="l">
              <a:spcBef>
                <a:spcPts val="0"/>
              </a:spcBef>
              <a:spcAft>
                <a:spcPts val="0"/>
              </a:spcAft>
              <a:buSzPct val="100000"/>
              <a:buChar char="-"/>
            </a:pPr>
            <a:r>
              <a:rPr lang="en"/>
              <a:t>Improve login UI</a:t>
            </a:r>
            <a:endParaRPr/>
          </a:p>
          <a:p>
            <a:pPr indent="0" lvl="0" marL="0" rtl="0" algn="l">
              <a:spcBef>
                <a:spcPts val="1200"/>
              </a:spcBef>
              <a:spcAft>
                <a:spcPts val="0"/>
              </a:spcAft>
              <a:buNone/>
            </a:pPr>
            <a:r>
              <a:rPr b="1" lang="en"/>
              <a:t>GPT</a:t>
            </a:r>
            <a:endParaRPr b="1"/>
          </a:p>
          <a:p>
            <a:pPr indent="-297498" lvl="0" marL="457200" rtl="0" algn="l">
              <a:spcBef>
                <a:spcPts val="1200"/>
              </a:spcBef>
              <a:spcAft>
                <a:spcPts val="0"/>
              </a:spcAft>
              <a:buSzPct val="100000"/>
              <a:buChar char="-"/>
            </a:pPr>
            <a:r>
              <a:rPr lang="en"/>
              <a:t>Use latest GPT format for AI to save cost &amp; improve accuracy</a:t>
            </a:r>
            <a:endParaRPr/>
          </a:p>
          <a:p>
            <a:pPr indent="0" lvl="0" marL="0" rtl="0" algn="l">
              <a:spcBef>
                <a:spcPts val="1200"/>
              </a:spcBef>
              <a:spcAft>
                <a:spcPts val="0"/>
              </a:spcAft>
              <a:buNone/>
            </a:pPr>
            <a:r>
              <a:rPr b="1" lang="en"/>
              <a:t>Security</a:t>
            </a:r>
            <a:endParaRPr b="1"/>
          </a:p>
          <a:p>
            <a:pPr indent="-297498" lvl="0" marL="457200" rtl="0" algn="l">
              <a:spcBef>
                <a:spcPts val="1200"/>
              </a:spcBef>
              <a:spcAft>
                <a:spcPts val="0"/>
              </a:spcAft>
              <a:buSzPct val="100000"/>
              <a:buChar char="-"/>
            </a:pPr>
            <a:r>
              <a:rPr lang="en"/>
              <a:t>Automate penetration test scans</a:t>
            </a:r>
            <a:endParaRPr/>
          </a:p>
          <a:p>
            <a:pPr indent="-297498" lvl="0" marL="457200" rtl="0" algn="l">
              <a:spcBef>
                <a:spcPts val="0"/>
              </a:spcBef>
              <a:spcAft>
                <a:spcPts val="0"/>
              </a:spcAft>
              <a:buSzPct val="100000"/>
              <a:buChar char="-"/>
            </a:pPr>
            <a:r>
              <a:rPr lang="en"/>
              <a:t>Solve all medium security issues identified</a:t>
            </a:r>
            <a:endParaRPr/>
          </a:p>
        </p:txBody>
      </p:sp>
      <p:sp>
        <p:nvSpPr>
          <p:cNvPr id="420" name="Google Shape;420;p44"/>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fontScale="70000" lnSpcReduction="10000"/>
          </a:bodyPr>
          <a:lstStyle/>
          <a:p>
            <a:pPr indent="0" lvl="0" marL="0" rtl="0" algn="l">
              <a:spcBef>
                <a:spcPts val="0"/>
              </a:spcBef>
              <a:spcAft>
                <a:spcPts val="0"/>
              </a:spcAft>
              <a:buNone/>
            </a:pPr>
            <a:r>
              <a:rPr b="1" lang="en"/>
              <a:t>Testing</a:t>
            </a:r>
            <a:endParaRPr b="1"/>
          </a:p>
          <a:p>
            <a:pPr indent="-290830" lvl="0" marL="457200" rtl="0" algn="l">
              <a:spcBef>
                <a:spcPts val="1200"/>
              </a:spcBef>
              <a:spcAft>
                <a:spcPts val="0"/>
              </a:spcAft>
              <a:buSzPct val="100000"/>
              <a:buChar char="-"/>
            </a:pPr>
            <a:r>
              <a:rPr lang="en"/>
              <a:t>Faster release cycle by sharing regression testing across dev team &amp; with UI Testing Automation</a:t>
            </a:r>
            <a:endParaRPr/>
          </a:p>
          <a:p>
            <a:pPr indent="-290830" lvl="0" marL="457200" rtl="0" algn="l">
              <a:spcBef>
                <a:spcPts val="0"/>
              </a:spcBef>
              <a:spcAft>
                <a:spcPts val="0"/>
              </a:spcAft>
              <a:buSzPct val="100000"/>
              <a:buChar char="-"/>
            </a:pPr>
            <a:r>
              <a:rPr lang="en"/>
              <a:t>Use load testing to validate optimal resourcing levels</a:t>
            </a:r>
            <a:endParaRPr/>
          </a:p>
          <a:p>
            <a:pPr indent="0" lvl="0" marL="0" rtl="0" algn="l">
              <a:spcBef>
                <a:spcPts val="1200"/>
              </a:spcBef>
              <a:spcAft>
                <a:spcPts val="0"/>
              </a:spcAft>
              <a:buNone/>
            </a:pPr>
            <a:r>
              <a:rPr b="1" lang="en"/>
              <a:t>Devops</a:t>
            </a:r>
            <a:endParaRPr b="1"/>
          </a:p>
          <a:p>
            <a:pPr indent="-290830" lvl="0" marL="457200" rtl="0" algn="l">
              <a:spcBef>
                <a:spcPts val="1200"/>
              </a:spcBef>
              <a:spcAft>
                <a:spcPts val="0"/>
              </a:spcAft>
              <a:buSzPct val="100000"/>
              <a:buChar char="-"/>
            </a:pPr>
            <a:r>
              <a:rPr lang="en"/>
              <a:t>Replace 3rd party services (Mandrill, Filestack, Twilio) with AWS services to reduce cost &amp; improve compliance</a:t>
            </a:r>
            <a:endParaRPr/>
          </a:p>
          <a:p>
            <a:pPr indent="-290830" lvl="0" marL="457200" rtl="0" algn="l">
              <a:spcBef>
                <a:spcPts val="0"/>
              </a:spcBef>
              <a:spcAft>
                <a:spcPts val="0"/>
              </a:spcAft>
              <a:buSzPct val="100000"/>
              <a:buChar char="-"/>
            </a:pPr>
            <a:r>
              <a:rPr lang="en"/>
              <a:t>Proactively scale up/down based on go live usage information</a:t>
            </a:r>
            <a:endParaRPr/>
          </a:p>
          <a:p>
            <a:pPr indent="-290830" lvl="0" marL="457200" rtl="0" algn="l">
              <a:spcBef>
                <a:spcPts val="0"/>
              </a:spcBef>
              <a:spcAft>
                <a:spcPts val="0"/>
              </a:spcAft>
              <a:buSzPct val="100000"/>
              <a:buChar char="-"/>
            </a:pPr>
            <a:r>
              <a:rPr lang="en"/>
              <a:t>Standardize &amp; secure developer environment</a:t>
            </a:r>
            <a:endParaRPr/>
          </a:p>
          <a:p>
            <a:pPr indent="-290830" lvl="0" marL="457200" rtl="0" algn="l">
              <a:spcBef>
                <a:spcPts val="0"/>
              </a:spcBef>
              <a:spcAft>
                <a:spcPts val="0"/>
              </a:spcAft>
              <a:buSzPct val="100000"/>
              <a:buChar char="-"/>
            </a:pPr>
            <a:r>
              <a:rPr lang="en"/>
              <a:t>Ongoing cost optimization</a:t>
            </a:r>
            <a:endParaRPr/>
          </a:p>
          <a:p>
            <a:pPr indent="0" lvl="0" marL="0" rtl="0" algn="l">
              <a:spcBef>
                <a:spcPts val="1200"/>
              </a:spcBef>
              <a:spcAft>
                <a:spcPts val="0"/>
              </a:spcAft>
              <a:buNone/>
            </a:pPr>
            <a:r>
              <a:rPr b="1" lang="en"/>
              <a:t>Bugfixes</a:t>
            </a:r>
            <a:endParaRPr b="1"/>
          </a:p>
          <a:p>
            <a:pPr indent="-290830" lvl="0" marL="457200" rtl="0" algn="l">
              <a:spcBef>
                <a:spcPts val="1200"/>
              </a:spcBef>
              <a:spcAft>
                <a:spcPts val="0"/>
              </a:spcAft>
              <a:buSzPct val="100000"/>
              <a:buChar char="-"/>
            </a:pPr>
            <a:r>
              <a:rPr lang="en"/>
              <a:t>Continue to reduce backlog to &lt; 10 active bugs</a:t>
            </a:r>
            <a:endParaRPr/>
          </a:p>
          <a:p>
            <a:pPr indent="0" lvl="0" marL="0" rtl="0" algn="l">
              <a:spcBef>
                <a:spcPts val="1200"/>
              </a:spcBef>
              <a:spcAft>
                <a:spcPts val="120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45"/>
          <p:cNvSpPr txBox="1"/>
          <p:nvPr/>
        </p:nvSpPr>
        <p:spPr>
          <a:xfrm>
            <a:off x="2521175" y="367650"/>
            <a:ext cx="1968600" cy="3078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Roboto Black"/>
                <a:ea typeface="Roboto Black"/>
                <a:cs typeface="Roboto Black"/>
                <a:sym typeface="Roboto Black"/>
              </a:rPr>
              <a:t>2024 Apr - Jun</a:t>
            </a:r>
            <a:endParaRPr sz="800">
              <a:latin typeface="Roboto Black"/>
              <a:ea typeface="Roboto Black"/>
              <a:cs typeface="Roboto Black"/>
              <a:sym typeface="Roboto Black"/>
            </a:endParaRPr>
          </a:p>
        </p:txBody>
      </p:sp>
      <p:sp>
        <p:nvSpPr>
          <p:cNvPr id="426" name="Google Shape;426;p45"/>
          <p:cNvSpPr txBox="1"/>
          <p:nvPr/>
        </p:nvSpPr>
        <p:spPr>
          <a:xfrm>
            <a:off x="4571993" y="367660"/>
            <a:ext cx="1996800" cy="3078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Roboto Black"/>
                <a:ea typeface="Roboto Black"/>
                <a:cs typeface="Roboto Black"/>
                <a:sym typeface="Roboto Black"/>
              </a:rPr>
              <a:t>2024 Jul - Sept</a:t>
            </a:r>
            <a:endParaRPr sz="800">
              <a:latin typeface="Roboto Black"/>
              <a:ea typeface="Roboto Black"/>
              <a:cs typeface="Roboto Black"/>
              <a:sym typeface="Roboto Black"/>
            </a:endParaRPr>
          </a:p>
        </p:txBody>
      </p:sp>
      <p:sp>
        <p:nvSpPr>
          <p:cNvPr id="427" name="Google Shape;427;p45"/>
          <p:cNvSpPr txBox="1"/>
          <p:nvPr/>
        </p:nvSpPr>
        <p:spPr>
          <a:xfrm>
            <a:off x="6645075" y="367650"/>
            <a:ext cx="1996800" cy="3078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Roboto Black"/>
                <a:ea typeface="Roboto Black"/>
                <a:cs typeface="Roboto Black"/>
                <a:sym typeface="Roboto Black"/>
              </a:rPr>
              <a:t>2024 Oct - Dec</a:t>
            </a:r>
            <a:endParaRPr sz="800">
              <a:latin typeface="Roboto Black"/>
              <a:ea typeface="Roboto Black"/>
              <a:cs typeface="Roboto Black"/>
              <a:sym typeface="Roboto Black"/>
            </a:endParaRPr>
          </a:p>
        </p:txBody>
      </p:sp>
      <p:sp>
        <p:nvSpPr>
          <p:cNvPr id="428" name="Google Shape;428;p45"/>
          <p:cNvSpPr txBox="1"/>
          <p:nvPr/>
        </p:nvSpPr>
        <p:spPr>
          <a:xfrm>
            <a:off x="470775" y="736725"/>
            <a:ext cx="6098100" cy="2925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Practera Automation (Shawn, Terence, Sunil/Rodney, Wes)</a:t>
            </a:r>
            <a:endParaRPr b="1" sz="700">
              <a:latin typeface="Roboto"/>
              <a:ea typeface="Roboto"/>
              <a:cs typeface="Roboto"/>
              <a:sym typeface="Roboto"/>
            </a:endParaRPr>
          </a:p>
        </p:txBody>
      </p:sp>
      <p:sp>
        <p:nvSpPr>
          <p:cNvPr id="429" name="Google Shape;429;p45"/>
          <p:cNvSpPr txBox="1"/>
          <p:nvPr/>
        </p:nvSpPr>
        <p:spPr>
          <a:xfrm>
            <a:off x="458375" y="1452775"/>
            <a:ext cx="6098100" cy="2925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Project Brief Management (Shawn, Chaw, Terence, Sasanga)</a:t>
            </a:r>
            <a:endParaRPr b="1" sz="700">
              <a:latin typeface="Roboto"/>
              <a:ea typeface="Roboto"/>
              <a:cs typeface="Roboto"/>
              <a:sym typeface="Roboto"/>
            </a:endParaRPr>
          </a:p>
        </p:txBody>
      </p:sp>
      <p:sp>
        <p:nvSpPr>
          <p:cNvPr id="430" name="Google Shape;430;p45"/>
          <p:cNvSpPr txBox="1"/>
          <p:nvPr/>
        </p:nvSpPr>
        <p:spPr>
          <a:xfrm>
            <a:off x="2527975" y="3656403"/>
            <a:ext cx="1996800" cy="4002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Improved Team 360 Authoring (Shawn, Terence, Wes) &amp; App UI (Chaw)</a:t>
            </a:r>
            <a:endParaRPr b="1" sz="700">
              <a:latin typeface="Roboto"/>
              <a:ea typeface="Roboto"/>
              <a:cs typeface="Roboto"/>
              <a:sym typeface="Roboto"/>
            </a:endParaRPr>
          </a:p>
        </p:txBody>
      </p:sp>
      <p:sp>
        <p:nvSpPr>
          <p:cNvPr id="431" name="Google Shape;431;p45"/>
          <p:cNvSpPr txBox="1"/>
          <p:nvPr/>
        </p:nvSpPr>
        <p:spPr>
          <a:xfrm rot="-5400000">
            <a:off x="-1559975" y="2445450"/>
            <a:ext cx="3651600" cy="276900"/>
          </a:xfrm>
          <a:prstGeom prst="rect">
            <a:avLst/>
          </a:prstGeom>
          <a:solidFill>
            <a:srgbClr val="FFF2CC"/>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600">
                <a:latin typeface="Roboto"/>
                <a:ea typeface="Roboto"/>
                <a:cs typeface="Roboto"/>
                <a:sym typeface="Roboto"/>
              </a:rPr>
              <a:t>PLATFORM</a:t>
            </a:r>
            <a:endParaRPr b="1" sz="600">
              <a:latin typeface="Roboto"/>
              <a:ea typeface="Roboto"/>
              <a:cs typeface="Roboto"/>
              <a:sym typeface="Roboto"/>
            </a:endParaRPr>
          </a:p>
        </p:txBody>
      </p:sp>
      <p:sp>
        <p:nvSpPr>
          <p:cNvPr id="432" name="Google Shape;432;p45"/>
          <p:cNvSpPr txBox="1"/>
          <p:nvPr/>
        </p:nvSpPr>
        <p:spPr>
          <a:xfrm>
            <a:off x="458375" y="367650"/>
            <a:ext cx="1985100" cy="3078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Roboto Black"/>
                <a:ea typeface="Roboto Black"/>
                <a:cs typeface="Roboto Black"/>
                <a:sym typeface="Roboto Black"/>
              </a:rPr>
              <a:t>2024 Jan - Mar</a:t>
            </a:r>
            <a:endParaRPr sz="800">
              <a:latin typeface="Roboto Black"/>
              <a:ea typeface="Roboto Black"/>
              <a:cs typeface="Roboto Black"/>
              <a:sym typeface="Roboto Black"/>
            </a:endParaRPr>
          </a:p>
        </p:txBody>
      </p:sp>
      <p:sp>
        <p:nvSpPr>
          <p:cNvPr id="433" name="Google Shape;433;p45"/>
          <p:cNvSpPr txBox="1"/>
          <p:nvPr/>
        </p:nvSpPr>
        <p:spPr>
          <a:xfrm>
            <a:off x="478087" y="4097791"/>
            <a:ext cx="1976100" cy="4002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AI - Process PDFs and PPT files (Wes, Terence)</a:t>
            </a:r>
            <a:endParaRPr b="1" sz="700">
              <a:latin typeface="Roboto"/>
              <a:ea typeface="Roboto"/>
              <a:cs typeface="Roboto"/>
              <a:sym typeface="Roboto"/>
            </a:endParaRPr>
          </a:p>
        </p:txBody>
      </p:sp>
      <p:sp>
        <p:nvSpPr>
          <p:cNvPr id="434" name="Google Shape;434;p45"/>
          <p:cNvSpPr txBox="1"/>
          <p:nvPr/>
        </p:nvSpPr>
        <p:spPr>
          <a:xfrm>
            <a:off x="2527971" y="3214997"/>
            <a:ext cx="1983900" cy="2925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LTI 1.3 + Gradebook (Wes, Terence)</a:t>
            </a:r>
            <a:endParaRPr b="1" sz="700">
              <a:latin typeface="Roboto"/>
              <a:ea typeface="Roboto"/>
              <a:cs typeface="Roboto"/>
              <a:sym typeface="Roboto"/>
            </a:endParaRPr>
          </a:p>
        </p:txBody>
      </p:sp>
      <p:sp>
        <p:nvSpPr>
          <p:cNvPr id="435" name="Google Shape;435;p45"/>
          <p:cNvSpPr txBox="1"/>
          <p:nvPr/>
        </p:nvSpPr>
        <p:spPr>
          <a:xfrm>
            <a:off x="470775" y="1085738"/>
            <a:ext cx="6098100" cy="2925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Reporting System (Shawn, Rodney, Terence, Wes)</a:t>
            </a:r>
            <a:endParaRPr b="1" sz="700">
              <a:latin typeface="Roboto"/>
              <a:ea typeface="Roboto"/>
              <a:cs typeface="Roboto"/>
              <a:sym typeface="Roboto"/>
            </a:endParaRPr>
          </a:p>
        </p:txBody>
      </p:sp>
      <p:sp>
        <p:nvSpPr>
          <p:cNvPr id="436" name="Google Shape;436;p45"/>
          <p:cNvSpPr txBox="1"/>
          <p:nvPr/>
        </p:nvSpPr>
        <p:spPr>
          <a:xfrm>
            <a:off x="458375" y="1786075"/>
            <a:ext cx="6098100" cy="2925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Slack to Production inc. chat integration (Rodney, Shawn, Wes, Sunil, Sasanga)</a:t>
            </a:r>
            <a:endParaRPr b="1" sz="700">
              <a:latin typeface="Roboto"/>
              <a:ea typeface="Roboto"/>
              <a:cs typeface="Roboto"/>
              <a:sym typeface="Roboto"/>
            </a:endParaRPr>
          </a:p>
        </p:txBody>
      </p:sp>
      <p:sp>
        <p:nvSpPr>
          <p:cNvPr id="437" name="Google Shape;437;p45"/>
          <p:cNvSpPr txBox="1"/>
          <p:nvPr/>
        </p:nvSpPr>
        <p:spPr>
          <a:xfrm>
            <a:off x="478075" y="2484600"/>
            <a:ext cx="4011600" cy="2925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Full GDPR support - automated deletion (Shawn, Terence, Wes, Sunil)</a:t>
            </a:r>
            <a:endParaRPr b="1" sz="700">
              <a:latin typeface="Roboto"/>
              <a:ea typeface="Roboto"/>
              <a:cs typeface="Roboto"/>
              <a:sym typeface="Roboto"/>
            </a:endParaRPr>
          </a:p>
        </p:txBody>
      </p:sp>
      <p:sp>
        <p:nvSpPr>
          <p:cNvPr id="438" name="Google Shape;438;p45"/>
          <p:cNvSpPr txBox="1"/>
          <p:nvPr/>
        </p:nvSpPr>
        <p:spPr>
          <a:xfrm>
            <a:off x="3032325" y="4708492"/>
            <a:ext cx="29148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solidFill>
                  <a:srgbClr val="FF0000"/>
                </a:solidFill>
                <a:latin typeface="Roboto Medium"/>
                <a:ea typeface="Roboto Medium"/>
                <a:cs typeface="Roboto Medium"/>
                <a:sym typeface="Roboto Medium"/>
              </a:rPr>
              <a:t>Roadmap subject to Adjustment. Strictly commercial in confidence</a:t>
            </a:r>
            <a:endParaRPr sz="1100">
              <a:solidFill>
                <a:srgbClr val="FF0000"/>
              </a:solidFill>
              <a:latin typeface="Roboto Medium"/>
              <a:ea typeface="Roboto Medium"/>
              <a:cs typeface="Roboto Medium"/>
              <a:sym typeface="Roboto Medium"/>
            </a:endParaRPr>
          </a:p>
        </p:txBody>
      </p:sp>
      <p:sp>
        <p:nvSpPr>
          <p:cNvPr id="439" name="Google Shape;439;p45"/>
          <p:cNvSpPr txBox="1"/>
          <p:nvPr/>
        </p:nvSpPr>
        <p:spPr>
          <a:xfrm>
            <a:off x="1882050" y="4455225"/>
            <a:ext cx="5379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solidFill>
                  <a:schemeClr val="dk1"/>
                </a:solidFill>
              </a:rPr>
              <a:t>Color Key:</a:t>
            </a:r>
            <a:r>
              <a:rPr b="1" lang="en" sz="800">
                <a:solidFill>
                  <a:schemeClr val="accent4"/>
                </a:solidFill>
              </a:rPr>
              <a:t>    </a:t>
            </a:r>
            <a:r>
              <a:rPr b="1" lang="en" sz="800">
                <a:solidFill>
                  <a:srgbClr val="6AA84F"/>
                </a:solidFill>
              </a:rPr>
              <a:t>Complete</a:t>
            </a:r>
            <a:r>
              <a:rPr b="1" lang="en" sz="800">
                <a:solidFill>
                  <a:schemeClr val="accent4"/>
                </a:solidFill>
              </a:rPr>
              <a:t>     </a:t>
            </a:r>
            <a:r>
              <a:rPr b="1" lang="en" sz="800">
                <a:solidFill>
                  <a:srgbClr val="45818E"/>
                </a:solidFill>
              </a:rPr>
              <a:t>In Development</a:t>
            </a:r>
            <a:r>
              <a:rPr b="1" lang="en" sz="800">
                <a:solidFill>
                  <a:schemeClr val="accent4"/>
                </a:solidFill>
              </a:rPr>
              <a:t>    Planning     </a:t>
            </a:r>
            <a:r>
              <a:rPr b="1" lang="en" sz="800">
                <a:solidFill>
                  <a:srgbClr val="999999"/>
                </a:solidFill>
              </a:rPr>
              <a:t>Maintenance</a:t>
            </a:r>
            <a:endParaRPr b="1" sz="800">
              <a:solidFill>
                <a:srgbClr val="999999"/>
              </a:solidFill>
            </a:endParaRPr>
          </a:p>
        </p:txBody>
      </p:sp>
      <p:sp>
        <p:nvSpPr>
          <p:cNvPr id="440" name="Google Shape;440;p45"/>
          <p:cNvSpPr txBox="1"/>
          <p:nvPr/>
        </p:nvSpPr>
        <p:spPr>
          <a:xfrm>
            <a:off x="478075" y="2119400"/>
            <a:ext cx="4011600" cy="2925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On-device Notifications (Chaw, Shawn)</a:t>
            </a:r>
            <a:endParaRPr b="1" sz="700">
              <a:latin typeface="Roboto"/>
              <a:ea typeface="Roboto"/>
              <a:cs typeface="Roboto"/>
              <a:sym typeface="Roboto"/>
            </a:endParaRPr>
          </a:p>
        </p:txBody>
      </p:sp>
      <p:sp>
        <p:nvSpPr>
          <p:cNvPr id="441" name="Google Shape;441;p45"/>
          <p:cNvSpPr txBox="1"/>
          <p:nvPr/>
        </p:nvSpPr>
        <p:spPr>
          <a:xfrm>
            <a:off x="467728" y="2849800"/>
            <a:ext cx="2975100" cy="2925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H5P Support (Chaw, Sasanga, Shawn)</a:t>
            </a:r>
            <a:endParaRPr b="1" sz="700">
              <a:latin typeface="Roboto"/>
              <a:ea typeface="Roboto"/>
              <a:cs typeface="Roboto"/>
              <a:sym typeface="Roboto"/>
            </a:endParaRPr>
          </a:p>
        </p:txBody>
      </p:sp>
      <p:sp>
        <p:nvSpPr>
          <p:cNvPr id="442" name="Google Shape;442;p45"/>
          <p:cNvSpPr txBox="1"/>
          <p:nvPr/>
        </p:nvSpPr>
        <p:spPr>
          <a:xfrm>
            <a:off x="478075" y="3215010"/>
            <a:ext cx="1976100" cy="4002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Admin Activity Digest Notifications (Wes, Terence)</a:t>
            </a:r>
            <a:endParaRPr b="1" sz="700">
              <a:latin typeface="Roboto"/>
              <a:ea typeface="Roboto"/>
              <a:cs typeface="Roboto"/>
              <a:sym typeface="Roboto"/>
            </a:endParaRPr>
          </a:p>
        </p:txBody>
      </p:sp>
      <p:sp>
        <p:nvSpPr>
          <p:cNvPr id="443" name="Google Shape;443;p45"/>
          <p:cNvSpPr txBox="1"/>
          <p:nvPr/>
        </p:nvSpPr>
        <p:spPr>
          <a:xfrm>
            <a:off x="478087" y="3656403"/>
            <a:ext cx="1976100" cy="4002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App UX improvements - assessments (Chaw, Sasanga)</a:t>
            </a:r>
            <a:endParaRPr b="1" sz="700">
              <a:latin typeface="Roboto"/>
              <a:ea typeface="Roboto"/>
              <a:cs typeface="Roboto"/>
              <a:sym typeface="Robot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46"/>
          <p:cNvSpPr txBox="1"/>
          <p:nvPr/>
        </p:nvSpPr>
        <p:spPr>
          <a:xfrm>
            <a:off x="2521175" y="367650"/>
            <a:ext cx="1968600" cy="3078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Roboto Black"/>
                <a:ea typeface="Roboto Black"/>
                <a:cs typeface="Roboto Black"/>
                <a:sym typeface="Roboto Black"/>
              </a:rPr>
              <a:t>2024 Apr - Jun</a:t>
            </a:r>
            <a:endParaRPr sz="800">
              <a:latin typeface="Roboto Black"/>
              <a:ea typeface="Roboto Black"/>
              <a:cs typeface="Roboto Black"/>
              <a:sym typeface="Roboto Black"/>
            </a:endParaRPr>
          </a:p>
        </p:txBody>
      </p:sp>
      <p:sp>
        <p:nvSpPr>
          <p:cNvPr id="449" name="Google Shape;449;p46"/>
          <p:cNvSpPr txBox="1"/>
          <p:nvPr/>
        </p:nvSpPr>
        <p:spPr>
          <a:xfrm>
            <a:off x="4571993" y="367660"/>
            <a:ext cx="1996800" cy="3078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Roboto Black"/>
                <a:ea typeface="Roboto Black"/>
                <a:cs typeface="Roboto Black"/>
                <a:sym typeface="Roboto Black"/>
              </a:rPr>
              <a:t>2024 Jul - Sept</a:t>
            </a:r>
            <a:endParaRPr sz="800">
              <a:latin typeface="Roboto Black"/>
              <a:ea typeface="Roboto Black"/>
              <a:cs typeface="Roboto Black"/>
              <a:sym typeface="Roboto Black"/>
            </a:endParaRPr>
          </a:p>
        </p:txBody>
      </p:sp>
      <p:sp>
        <p:nvSpPr>
          <p:cNvPr id="450" name="Google Shape;450;p46"/>
          <p:cNvSpPr txBox="1"/>
          <p:nvPr/>
        </p:nvSpPr>
        <p:spPr>
          <a:xfrm>
            <a:off x="6645075" y="367650"/>
            <a:ext cx="1996800" cy="3078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Roboto Black"/>
                <a:ea typeface="Roboto Black"/>
                <a:cs typeface="Roboto Black"/>
                <a:sym typeface="Roboto Black"/>
              </a:rPr>
              <a:t>2024 Oct - Dec</a:t>
            </a:r>
            <a:endParaRPr sz="800">
              <a:latin typeface="Roboto Black"/>
              <a:ea typeface="Roboto Black"/>
              <a:cs typeface="Roboto Black"/>
              <a:sym typeface="Roboto Black"/>
            </a:endParaRPr>
          </a:p>
        </p:txBody>
      </p:sp>
      <p:sp>
        <p:nvSpPr>
          <p:cNvPr id="451" name="Google Shape;451;p46"/>
          <p:cNvSpPr txBox="1"/>
          <p:nvPr/>
        </p:nvSpPr>
        <p:spPr>
          <a:xfrm>
            <a:off x="470775" y="736725"/>
            <a:ext cx="6098100" cy="2925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Practera Automation</a:t>
            </a:r>
            <a:endParaRPr b="1" sz="700">
              <a:latin typeface="Roboto"/>
              <a:ea typeface="Roboto"/>
              <a:cs typeface="Roboto"/>
              <a:sym typeface="Roboto"/>
            </a:endParaRPr>
          </a:p>
        </p:txBody>
      </p:sp>
      <p:sp>
        <p:nvSpPr>
          <p:cNvPr id="452" name="Google Shape;452;p46"/>
          <p:cNvSpPr txBox="1"/>
          <p:nvPr/>
        </p:nvSpPr>
        <p:spPr>
          <a:xfrm>
            <a:off x="6645025" y="736725"/>
            <a:ext cx="2484300" cy="2925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Project Brief Management </a:t>
            </a:r>
            <a:endParaRPr b="1" sz="700">
              <a:latin typeface="Roboto"/>
              <a:ea typeface="Roboto"/>
              <a:cs typeface="Roboto"/>
              <a:sym typeface="Roboto"/>
            </a:endParaRPr>
          </a:p>
        </p:txBody>
      </p:sp>
      <p:sp>
        <p:nvSpPr>
          <p:cNvPr id="453" name="Google Shape;453;p46"/>
          <p:cNvSpPr txBox="1"/>
          <p:nvPr/>
        </p:nvSpPr>
        <p:spPr>
          <a:xfrm>
            <a:off x="6653800" y="2786928"/>
            <a:ext cx="1996800" cy="2925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Improved Team 360 Authoring &amp; App UI</a:t>
            </a:r>
            <a:endParaRPr b="1" sz="700">
              <a:latin typeface="Roboto"/>
              <a:ea typeface="Roboto"/>
              <a:cs typeface="Roboto"/>
              <a:sym typeface="Roboto"/>
            </a:endParaRPr>
          </a:p>
        </p:txBody>
      </p:sp>
      <p:sp>
        <p:nvSpPr>
          <p:cNvPr id="454" name="Google Shape;454;p46"/>
          <p:cNvSpPr txBox="1"/>
          <p:nvPr/>
        </p:nvSpPr>
        <p:spPr>
          <a:xfrm>
            <a:off x="2521200" y="3472486"/>
            <a:ext cx="1968600" cy="292500"/>
          </a:xfrm>
          <a:prstGeom prst="rect">
            <a:avLst/>
          </a:prstGeom>
          <a:solidFill>
            <a:srgbClr val="CCCC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Update AI to latest GPT</a:t>
            </a:r>
            <a:endParaRPr b="1" sz="700">
              <a:latin typeface="Roboto"/>
              <a:ea typeface="Roboto"/>
              <a:cs typeface="Roboto"/>
              <a:sym typeface="Roboto"/>
            </a:endParaRPr>
          </a:p>
        </p:txBody>
      </p:sp>
      <p:sp>
        <p:nvSpPr>
          <p:cNvPr id="455" name="Google Shape;455;p46"/>
          <p:cNvSpPr txBox="1"/>
          <p:nvPr/>
        </p:nvSpPr>
        <p:spPr>
          <a:xfrm rot="-5400000">
            <a:off x="-1559975" y="2445450"/>
            <a:ext cx="3651600" cy="276900"/>
          </a:xfrm>
          <a:prstGeom prst="rect">
            <a:avLst/>
          </a:prstGeom>
          <a:solidFill>
            <a:srgbClr val="FFF2CC"/>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600">
                <a:latin typeface="Roboto"/>
                <a:ea typeface="Roboto"/>
                <a:cs typeface="Roboto"/>
                <a:sym typeface="Roboto"/>
              </a:rPr>
              <a:t>PLATFORM</a:t>
            </a:r>
            <a:endParaRPr b="1" sz="600">
              <a:latin typeface="Roboto"/>
              <a:ea typeface="Roboto"/>
              <a:cs typeface="Roboto"/>
              <a:sym typeface="Roboto"/>
            </a:endParaRPr>
          </a:p>
        </p:txBody>
      </p:sp>
      <p:sp>
        <p:nvSpPr>
          <p:cNvPr id="456" name="Google Shape;456;p46"/>
          <p:cNvSpPr txBox="1"/>
          <p:nvPr/>
        </p:nvSpPr>
        <p:spPr>
          <a:xfrm>
            <a:off x="458375" y="367650"/>
            <a:ext cx="1985100" cy="3078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Roboto Black"/>
                <a:ea typeface="Roboto Black"/>
                <a:cs typeface="Roboto Black"/>
                <a:sym typeface="Roboto Black"/>
              </a:rPr>
              <a:t>2024 Jan - Mar</a:t>
            </a:r>
            <a:endParaRPr sz="800">
              <a:latin typeface="Roboto Black"/>
              <a:ea typeface="Roboto Black"/>
              <a:cs typeface="Roboto Black"/>
              <a:sym typeface="Roboto Black"/>
            </a:endParaRPr>
          </a:p>
        </p:txBody>
      </p:sp>
      <p:sp>
        <p:nvSpPr>
          <p:cNvPr id="457" name="Google Shape;457;p46"/>
          <p:cNvSpPr txBox="1"/>
          <p:nvPr/>
        </p:nvSpPr>
        <p:spPr>
          <a:xfrm>
            <a:off x="470777" y="1437138"/>
            <a:ext cx="1983900" cy="292500"/>
          </a:xfrm>
          <a:prstGeom prst="rect">
            <a:avLst/>
          </a:prstGeom>
          <a:solidFill>
            <a:srgbClr val="D0E0E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Badge &amp; Certificate Self-Service</a:t>
            </a:r>
            <a:endParaRPr b="1" sz="700">
              <a:latin typeface="Roboto"/>
              <a:ea typeface="Roboto"/>
              <a:cs typeface="Roboto"/>
              <a:sym typeface="Roboto"/>
            </a:endParaRPr>
          </a:p>
        </p:txBody>
      </p:sp>
      <p:sp>
        <p:nvSpPr>
          <p:cNvPr id="458" name="Google Shape;458;p46"/>
          <p:cNvSpPr txBox="1"/>
          <p:nvPr/>
        </p:nvSpPr>
        <p:spPr>
          <a:xfrm>
            <a:off x="459950" y="3472486"/>
            <a:ext cx="1985100" cy="292500"/>
          </a:xfrm>
          <a:prstGeom prst="rect">
            <a:avLst/>
          </a:prstGeom>
          <a:solidFill>
            <a:srgbClr val="CCCC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SOC 2</a:t>
            </a:r>
            <a:endParaRPr b="1" sz="700">
              <a:latin typeface="Roboto"/>
              <a:ea typeface="Roboto"/>
              <a:cs typeface="Roboto"/>
              <a:sym typeface="Roboto"/>
            </a:endParaRPr>
          </a:p>
        </p:txBody>
      </p:sp>
      <p:sp>
        <p:nvSpPr>
          <p:cNvPr id="459" name="Google Shape;459;p46"/>
          <p:cNvSpPr txBox="1"/>
          <p:nvPr/>
        </p:nvSpPr>
        <p:spPr>
          <a:xfrm>
            <a:off x="470775" y="2123416"/>
            <a:ext cx="1983900" cy="292500"/>
          </a:xfrm>
          <a:prstGeom prst="rect">
            <a:avLst/>
          </a:prstGeom>
          <a:solidFill>
            <a:srgbClr val="D0E0E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Unlock/Reveal Notifications in App</a:t>
            </a:r>
            <a:endParaRPr b="1" sz="700">
              <a:latin typeface="Roboto"/>
              <a:ea typeface="Roboto"/>
              <a:cs typeface="Roboto"/>
              <a:sym typeface="Roboto"/>
            </a:endParaRPr>
          </a:p>
        </p:txBody>
      </p:sp>
      <p:sp>
        <p:nvSpPr>
          <p:cNvPr id="460" name="Google Shape;460;p46"/>
          <p:cNvSpPr txBox="1"/>
          <p:nvPr/>
        </p:nvSpPr>
        <p:spPr>
          <a:xfrm>
            <a:off x="2514437" y="2453603"/>
            <a:ext cx="1976100" cy="2925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AI - Process PDFs and PPT files</a:t>
            </a:r>
            <a:endParaRPr b="1" sz="700">
              <a:latin typeface="Roboto"/>
              <a:ea typeface="Roboto"/>
              <a:cs typeface="Roboto"/>
              <a:sym typeface="Roboto"/>
            </a:endParaRPr>
          </a:p>
        </p:txBody>
      </p:sp>
      <p:sp>
        <p:nvSpPr>
          <p:cNvPr id="461" name="Google Shape;461;p46"/>
          <p:cNvSpPr txBox="1"/>
          <p:nvPr/>
        </p:nvSpPr>
        <p:spPr>
          <a:xfrm>
            <a:off x="459950" y="4115600"/>
            <a:ext cx="8181900" cy="292500"/>
          </a:xfrm>
          <a:prstGeom prst="rect">
            <a:avLst/>
          </a:prstGeom>
          <a:solidFill>
            <a:srgbClr val="CCCC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Test Automation - UI automation focus</a:t>
            </a:r>
            <a:endParaRPr b="1" sz="700">
              <a:latin typeface="Roboto"/>
              <a:ea typeface="Roboto"/>
              <a:cs typeface="Roboto"/>
              <a:sym typeface="Roboto"/>
            </a:endParaRPr>
          </a:p>
        </p:txBody>
      </p:sp>
      <p:sp>
        <p:nvSpPr>
          <p:cNvPr id="462" name="Google Shape;462;p46"/>
          <p:cNvSpPr txBox="1"/>
          <p:nvPr/>
        </p:nvSpPr>
        <p:spPr>
          <a:xfrm>
            <a:off x="4579796" y="2455572"/>
            <a:ext cx="1983900" cy="2925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LTI 1.3 + Gradebook</a:t>
            </a:r>
            <a:endParaRPr b="1" sz="700">
              <a:latin typeface="Roboto"/>
              <a:ea typeface="Roboto"/>
              <a:cs typeface="Roboto"/>
              <a:sym typeface="Roboto"/>
            </a:endParaRPr>
          </a:p>
        </p:txBody>
      </p:sp>
      <p:sp>
        <p:nvSpPr>
          <p:cNvPr id="463" name="Google Shape;463;p46"/>
          <p:cNvSpPr txBox="1"/>
          <p:nvPr/>
        </p:nvSpPr>
        <p:spPr>
          <a:xfrm>
            <a:off x="2521200" y="1090500"/>
            <a:ext cx="6098100" cy="2925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Reporting System</a:t>
            </a:r>
            <a:endParaRPr b="1" sz="700">
              <a:latin typeface="Roboto"/>
              <a:ea typeface="Roboto"/>
              <a:cs typeface="Roboto"/>
              <a:sym typeface="Roboto"/>
            </a:endParaRPr>
          </a:p>
        </p:txBody>
      </p:sp>
      <p:sp>
        <p:nvSpPr>
          <p:cNvPr id="464" name="Google Shape;464;p46"/>
          <p:cNvSpPr txBox="1"/>
          <p:nvPr/>
        </p:nvSpPr>
        <p:spPr>
          <a:xfrm>
            <a:off x="457300" y="3151625"/>
            <a:ext cx="1985100" cy="292500"/>
          </a:xfrm>
          <a:prstGeom prst="rect">
            <a:avLst/>
          </a:prstGeom>
          <a:solidFill>
            <a:srgbClr val="CCCC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Global Login - MFA, Security, UI</a:t>
            </a:r>
            <a:endParaRPr b="1" sz="700">
              <a:latin typeface="Roboto"/>
              <a:ea typeface="Roboto"/>
              <a:cs typeface="Roboto"/>
              <a:sym typeface="Roboto"/>
            </a:endParaRPr>
          </a:p>
        </p:txBody>
      </p:sp>
      <p:sp>
        <p:nvSpPr>
          <p:cNvPr id="465" name="Google Shape;465;p46"/>
          <p:cNvSpPr txBox="1"/>
          <p:nvPr/>
        </p:nvSpPr>
        <p:spPr>
          <a:xfrm>
            <a:off x="6636775" y="1434738"/>
            <a:ext cx="2484300" cy="2925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Slack to Production inc. chat integration</a:t>
            </a:r>
            <a:endParaRPr b="1" sz="700">
              <a:latin typeface="Roboto"/>
              <a:ea typeface="Roboto"/>
              <a:cs typeface="Roboto"/>
              <a:sym typeface="Roboto"/>
            </a:endParaRPr>
          </a:p>
        </p:txBody>
      </p:sp>
      <p:sp>
        <p:nvSpPr>
          <p:cNvPr id="466" name="Google Shape;466;p46"/>
          <p:cNvSpPr txBox="1"/>
          <p:nvPr/>
        </p:nvSpPr>
        <p:spPr>
          <a:xfrm>
            <a:off x="2521175" y="1434750"/>
            <a:ext cx="4049100" cy="2925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Full GDPR support - automated deletion</a:t>
            </a:r>
            <a:endParaRPr b="1" sz="700">
              <a:latin typeface="Roboto"/>
              <a:ea typeface="Roboto"/>
              <a:cs typeface="Roboto"/>
              <a:sym typeface="Roboto"/>
            </a:endParaRPr>
          </a:p>
        </p:txBody>
      </p:sp>
      <p:sp>
        <p:nvSpPr>
          <p:cNvPr id="467" name="Google Shape;467;p46"/>
          <p:cNvSpPr txBox="1"/>
          <p:nvPr/>
        </p:nvSpPr>
        <p:spPr>
          <a:xfrm>
            <a:off x="4573375" y="3472486"/>
            <a:ext cx="4069800" cy="292500"/>
          </a:xfrm>
          <a:prstGeom prst="rect">
            <a:avLst/>
          </a:prstGeom>
          <a:solidFill>
            <a:srgbClr val="CCCC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Automated Security Scans</a:t>
            </a:r>
            <a:endParaRPr b="1" sz="700">
              <a:latin typeface="Roboto"/>
              <a:ea typeface="Roboto"/>
              <a:cs typeface="Roboto"/>
              <a:sym typeface="Roboto"/>
            </a:endParaRPr>
          </a:p>
        </p:txBody>
      </p:sp>
      <p:sp>
        <p:nvSpPr>
          <p:cNvPr id="468" name="Google Shape;468;p46"/>
          <p:cNvSpPr txBox="1"/>
          <p:nvPr/>
        </p:nvSpPr>
        <p:spPr>
          <a:xfrm>
            <a:off x="3032325" y="4708492"/>
            <a:ext cx="29148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solidFill>
                  <a:srgbClr val="FF0000"/>
                </a:solidFill>
                <a:latin typeface="Roboto Medium"/>
                <a:ea typeface="Roboto Medium"/>
                <a:cs typeface="Roboto Medium"/>
                <a:sym typeface="Roboto Medium"/>
              </a:rPr>
              <a:t>Roadmap subject to Adjustment. Strictly commercial in confidence</a:t>
            </a:r>
            <a:endParaRPr sz="1100">
              <a:solidFill>
                <a:srgbClr val="FF0000"/>
              </a:solidFill>
              <a:latin typeface="Roboto Medium"/>
              <a:ea typeface="Roboto Medium"/>
              <a:cs typeface="Roboto Medium"/>
              <a:sym typeface="Roboto Medium"/>
            </a:endParaRPr>
          </a:p>
        </p:txBody>
      </p:sp>
      <p:sp>
        <p:nvSpPr>
          <p:cNvPr id="469" name="Google Shape;469;p46"/>
          <p:cNvSpPr txBox="1"/>
          <p:nvPr/>
        </p:nvSpPr>
        <p:spPr>
          <a:xfrm>
            <a:off x="1882050" y="4455225"/>
            <a:ext cx="5379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solidFill>
                  <a:schemeClr val="dk1"/>
                </a:solidFill>
              </a:rPr>
              <a:t>Color Key:</a:t>
            </a:r>
            <a:r>
              <a:rPr b="1" lang="en" sz="800">
                <a:solidFill>
                  <a:schemeClr val="accent4"/>
                </a:solidFill>
              </a:rPr>
              <a:t>    </a:t>
            </a:r>
            <a:r>
              <a:rPr b="1" lang="en" sz="800">
                <a:solidFill>
                  <a:srgbClr val="6AA84F"/>
                </a:solidFill>
              </a:rPr>
              <a:t>Complete</a:t>
            </a:r>
            <a:r>
              <a:rPr b="1" lang="en" sz="800">
                <a:solidFill>
                  <a:schemeClr val="accent4"/>
                </a:solidFill>
              </a:rPr>
              <a:t>     </a:t>
            </a:r>
            <a:r>
              <a:rPr b="1" lang="en" sz="800">
                <a:solidFill>
                  <a:srgbClr val="45818E"/>
                </a:solidFill>
              </a:rPr>
              <a:t>In Development</a:t>
            </a:r>
            <a:r>
              <a:rPr b="1" lang="en" sz="800">
                <a:solidFill>
                  <a:schemeClr val="accent4"/>
                </a:solidFill>
              </a:rPr>
              <a:t>    Planning     </a:t>
            </a:r>
            <a:r>
              <a:rPr b="1" lang="en" sz="800">
                <a:solidFill>
                  <a:srgbClr val="999999"/>
                </a:solidFill>
              </a:rPr>
              <a:t>Maintenance</a:t>
            </a:r>
            <a:endParaRPr b="1" sz="800">
              <a:solidFill>
                <a:srgbClr val="999999"/>
              </a:solidFill>
            </a:endParaRPr>
          </a:p>
        </p:txBody>
      </p:sp>
      <p:sp>
        <p:nvSpPr>
          <p:cNvPr id="470" name="Google Shape;470;p46"/>
          <p:cNvSpPr txBox="1"/>
          <p:nvPr/>
        </p:nvSpPr>
        <p:spPr>
          <a:xfrm>
            <a:off x="470800" y="1777313"/>
            <a:ext cx="1983900" cy="292500"/>
          </a:xfrm>
          <a:prstGeom prst="rect">
            <a:avLst/>
          </a:prstGeom>
          <a:solidFill>
            <a:srgbClr val="D0E0E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Export to Word</a:t>
            </a:r>
            <a:endParaRPr b="1" sz="700">
              <a:latin typeface="Roboto"/>
              <a:ea typeface="Roboto"/>
              <a:cs typeface="Roboto"/>
              <a:sym typeface="Roboto"/>
            </a:endParaRPr>
          </a:p>
        </p:txBody>
      </p:sp>
      <p:sp>
        <p:nvSpPr>
          <p:cNvPr id="471" name="Google Shape;471;p46"/>
          <p:cNvSpPr txBox="1"/>
          <p:nvPr/>
        </p:nvSpPr>
        <p:spPr>
          <a:xfrm>
            <a:off x="4583725" y="1779000"/>
            <a:ext cx="4545600" cy="2925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On-device Notifications</a:t>
            </a:r>
            <a:endParaRPr b="1" sz="700">
              <a:latin typeface="Roboto"/>
              <a:ea typeface="Roboto"/>
              <a:cs typeface="Roboto"/>
              <a:sym typeface="Roboto"/>
            </a:endParaRPr>
          </a:p>
        </p:txBody>
      </p:sp>
      <p:sp>
        <p:nvSpPr>
          <p:cNvPr id="472" name="Google Shape;472;p46"/>
          <p:cNvSpPr txBox="1"/>
          <p:nvPr/>
        </p:nvSpPr>
        <p:spPr>
          <a:xfrm>
            <a:off x="459200" y="2809675"/>
            <a:ext cx="4030500" cy="2925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H5P Support</a:t>
            </a:r>
            <a:endParaRPr b="1" sz="700">
              <a:latin typeface="Roboto"/>
              <a:ea typeface="Roboto"/>
              <a:cs typeface="Roboto"/>
              <a:sym typeface="Roboto"/>
            </a:endParaRPr>
          </a:p>
        </p:txBody>
      </p:sp>
      <p:sp>
        <p:nvSpPr>
          <p:cNvPr id="473" name="Google Shape;473;p46"/>
          <p:cNvSpPr txBox="1"/>
          <p:nvPr/>
        </p:nvSpPr>
        <p:spPr>
          <a:xfrm>
            <a:off x="457300" y="3794850"/>
            <a:ext cx="8184600" cy="292500"/>
          </a:xfrm>
          <a:prstGeom prst="rect">
            <a:avLst/>
          </a:prstGeom>
          <a:solidFill>
            <a:srgbClr val="CCCC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Bug Fixes &amp; Cost Controls</a:t>
            </a:r>
            <a:endParaRPr b="1" sz="700">
              <a:latin typeface="Roboto"/>
              <a:ea typeface="Roboto"/>
              <a:cs typeface="Roboto"/>
              <a:sym typeface="Roboto"/>
            </a:endParaRPr>
          </a:p>
        </p:txBody>
      </p:sp>
      <p:sp>
        <p:nvSpPr>
          <p:cNvPr id="474" name="Google Shape;474;p46"/>
          <p:cNvSpPr txBox="1"/>
          <p:nvPr/>
        </p:nvSpPr>
        <p:spPr>
          <a:xfrm>
            <a:off x="4582350" y="2117560"/>
            <a:ext cx="1976100" cy="2925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Admin Activity Digest Notifications</a:t>
            </a:r>
            <a:endParaRPr b="1" sz="700">
              <a:latin typeface="Roboto"/>
              <a:ea typeface="Roboto"/>
              <a:cs typeface="Roboto"/>
              <a:sym typeface="Roboto"/>
            </a:endParaRPr>
          </a:p>
        </p:txBody>
      </p:sp>
      <p:sp>
        <p:nvSpPr>
          <p:cNvPr id="475" name="Google Shape;475;p46"/>
          <p:cNvSpPr txBox="1"/>
          <p:nvPr/>
        </p:nvSpPr>
        <p:spPr>
          <a:xfrm>
            <a:off x="470789" y="1086925"/>
            <a:ext cx="1983900" cy="292500"/>
          </a:xfrm>
          <a:prstGeom prst="rect">
            <a:avLst/>
          </a:prstGeom>
          <a:solidFill>
            <a:srgbClr val="D0E0E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Template Library Management</a:t>
            </a:r>
            <a:endParaRPr b="1" sz="700">
              <a:latin typeface="Roboto"/>
              <a:ea typeface="Roboto"/>
              <a:cs typeface="Roboto"/>
              <a:sym typeface="Roboto"/>
            </a:endParaRPr>
          </a:p>
        </p:txBody>
      </p:sp>
      <p:sp>
        <p:nvSpPr>
          <p:cNvPr id="476" name="Google Shape;476;p46"/>
          <p:cNvSpPr txBox="1"/>
          <p:nvPr/>
        </p:nvSpPr>
        <p:spPr>
          <a:xfrm>
            <a:off x="4583712" y="2793603"/>
            <a:ext cx="1976100" cy="2925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App UX improvements - assessments</a:t>
            </a:r>
            <a:endParaRPr b="1" sz="700">
              <a:latin typeface="Roboto"/>
              <a:ea typeface="Roboto"/>
              <a:cs typeface="Roboto"/>
              <a:sym typeface="Robot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47"/>
          <p:cNvSpPr txBox="1"/>
          <p:nvPr/>
        </p:nvSpPr>
        <p:spPr>
          <a:xfrm>
            <a:off x="605125" y="1955125"/>
            <a:ext cx="3720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November 2022</a:t>
            </a:r>
            <a:endParaRPr b="1"/>
          </a:p>
        </p:txBody>
      </p:sp>
      <p:sp>
        <p:nvSpPr>
          <p:cNvPr id="482" name="Google Shape;482;p47"/>
          <p:cNvSpPr txBox="1"/>
          <p:nvPr/>
        </p:nvSpPr>
        <p:spPr>
          <a:xfrm>
            <a:off x="605125" y="2355325"/>
            <a:ext cx="76401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300"/>
              <a:t>Platform Roadmap 2023</a:t>
            </a:r>
            <a:endParaRPr b="1" sz="23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48"/>
          <p:cNvSpPr txBox="1"/>
          <p:nvPr/>
        </p:nvSpPr>
        <p:spPr>
          <a:xfrm>
            <a:off x="2498925" y="367650"/>
            <a:ext cx="1996800" cy="3078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Roboto Black"/>
                <a:ea typeface="Roboto Black"/>
                <a:cs typeface="Roboto Black"/>
                <a:sym typeface="Roboto Black"/>
              </a:rPr>
              <a:t>2023Q1</a:t>
            </a:r>
            <a:endParaRPr sz="800">
              <a:latin typeface="Roboto Black"/>
              <a:ea typeface="Roboto Black"/>
              <a:cs typeface="Roboto Black"/>
              <a:sym typeface="Roboto Black"/>
            </a:endParaRPr>
          </a:p>
        </p:txBody>
      </p:sp>
      <p:sp>
        <p:nvSpPr>
          <p:cNvPr id="488" name="Google Shape;488;p48"/>
          <p:cNvSpPr txBox="1"/>
          <p:nvPr/>
        </p:nvSpPr>
        <p:spPr>
          <a:xfrm>
            <a:off x="4539468" y="367650"/>
            <a:ext cx="1996800" cy="3078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Roboto Black"/>
                <a:ea typeface="Roboto Black"/>
                <a:cs typeface="Roboto Black"/>
                <a:sym typeface="Roboto Black"/>
              </a:rPr>
              <a:t>2023Q2</a:t>
            </a:r>
            <a:endParaRPr sz="800">
              <a:latin typeface="Roboto Black"/>
              <a:ea typeface="Roboto Black"/>
              <a:cs typeface="Roboto Black"/>
              <a:sym typeface="Roboto Black"/>
            </a:endParaRPr>
          </a:p>
        </p:txBody>
      </p:sp>
      <p:sp>
        <p:nvSpPr>
          <p:cNvPr id="489" name="Google Shape;489;p48"/>
          <p:cNvSpPr txBox="1"/>
          <p:nvPr/>
        </p:nvSpPr>
        <p:spPr>
          <a:xfrm>
            <a:off x="6580025" y="367650"/>
            <a:ext cx="1996800" cy="3078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Roboto Black"/>
                <a:ea typeface="Roboto Black"/>
                <a:cs typeface="Roboto Black"/>
                <a:sym typeface="Roboto Black"/>
              </a:rPr>
              <a:t>20232H</a:t>
            </a:r>
            <a:endParaRPr sz="800">
              <a:latin typeface="Roboto Black"/>
              <a:ea typeface="Roboto Black"/>
              <a:cs typeface="Roboto Black"/>
              <a:sym typeface="Roboto Black"/>
            </a:endParaRPr>
          </a:p>
        </p:txBody>
      </p:sp>
      <p:sp>
        <p:nvSpPr>
          <p:cNvPr id="490" name="Google Shape;490;p48"/>
          <p:cNvSpPr txBox="1"/>
          <p:nvPr/>
        </p:nvSpPr>
        <p:spPr>
          <a:xfrm>
            <a:off x="473575" y="1110438"/>
            <a:ext cx="4027500" cy="292500"/>
          </a:xfrm>
          <a:prstGeom prst="rect">
            <a:avLst/>
          </a:prstGeom>
          <a:solidFill>
            <a:srgbClr val="D0E0E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SOC 2  - Security </a:t>
            </a:r>
            <a:endParaRPr b="1" sz="700">
              <a:latin typeface="Roboto"/>
              <a:ea typeface="Roboto"/>
              <a:cs typeface="Roboto"/>
              <a:sym typeface="Roboto"/>
            </a:endParaRPr>
          </a:p>
        </p:txBody>
      </p:sp>
      <p:sp>
        <p:nvSpPr>
          <p:cNvPr id="491" name="Google Shape;491;p48"/>
          <p:cNvSpPr txBox="1"/>
          <p:nvPr/>
        </p:nvSpPr>
        <p:spPr>
          <a:xfrm>
            <a:off x="470825" y="746700"/>
            <a:ext cx="6065400" cy="292500"/>
          </a:xfrm>
          <a:prstGeom prst="rect">
            <a:avLst/>
          </a:prstGeom>
          <a:solidFill>
            <a:srgbClr val="D0E0E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Project Brief Management MVP (Capture - Allocation)</a:t>
            </a:r>
            <a:endParaRPr b="1" sz="700">
              <a:latin typeface="Roboto"/>
              <a:ea typeface="Roboto"/>
              <a:cs typeface="Roboto"/>
              <a:sym typeface="Roboto"/>
            </a:endParaRPr>
          </a:p>
        </p:txBody>
      </p:sp>
      <p:sp>
        <p:nvSpPr>
          <p:cNvPr id="492" name="Google Shape;492;p48"/>
          <p:cNvSpPr txBox="1"/>
          <p:nvPr/>
        </p:nvSpPr>
        <p:spPr>
          <a:xfrm>
            <a:off x="2514443" y="2528888"/>
            <a:ext cx="1996800" cy="2925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solidFill>
                  <a:srgbClr val="FF0000"/>
                </a:solidFill>
                <a:latin typeface="Roboto"/>
                <a:ea typeface="Roboto"/>
                <a:cs typeface="Roboto"/>
                <a:sym typeface="Roboto"/>
              </a:rPr>
              <a:t>Improved email notifications</a:t>
            </a:r>
            <a:endParaRPr b="1" sz="700">
              <a:solidFill>
                <a:srgbClr val="FF0000"/>
              </a:solidFill>
              <a:latin typeface="Roboto"/>
              <a:ea typeface="Roboto"/>
              <a:cs typeface="Roboto"/>
              <a:sym typeface="Roboto"/>
            </a:endParaRPr>
          </a:p>
        </p:txBody>
      </p:sp>
      <p:sp>
        <p:nvSpPr>
          <p:cNvPr id="493" name="Google Shape;493;p48"/>
          <p:cNvSpPr txBox="1"/>
          <p:nvPr/>
        </p:nvSpPr>
        <p:spPr>
          <a:xfrm>
            <a:off x="6614175" y="1473313"/>
            <a:ext cx="1976100" cy="292500"/>
          </a:xfrm>
          <a:prstGeom prst="rect">
            <a:avLst/>
          </a:prstGeom>
          <a:solidFill>
            <a:srgbClr val="CCCC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solidFill>
                  <a:srgbClr val="FF0000"/>
                </a:solidFill>
                <a:latin typeface="Roboto"/>
                <a:ea typeface="Roboto"/>
                <a:cs typeface="Roboto"/>
                <a:sym typeface="Roboto"/>
              </a:rPr>
              <a:t>End of experience/program report</a:t>
            </a:r>
            <a:endParaRPr b="1" sz="700">
              <a:solidFill>
                <a:srgbClr val="FF0000"/>
              </a:solidFill>
              <a:latin typeface="Roboto"/>
              <a:ea typeface="Roboto"/>
              <a:cs typeface="Roboto"/>
              <a:sym typeface="Roboto"/>
            </a:endParaRPr>
          </a:p>
        </p:txBody>
      </p:sp>
      <p:sp>
        <p:nvSpPr>
          <p:cNvPr id="494" name="Google Shape;494;p48"/>
          <p:cNvSpPr txBox="1"/>
          <p:nvPr/>
        </p:nvSpPr>
        <p:spPr>
          <a:xfrm rot="-5400000">
            <a:off x="-1559975" y="2445450"/>
            <a:ext cx="3651600" cy="276900"/>
          </a:xfrm>
          <a:prstGeom prst="rect">
            <a:avLst/>
          </a:prstGeom>
          <a:solidFill>
            <a:srgbClr val="FFF2CC"/>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600">
                <a:latin typeface="Roboto"/>
                <a:ea typeface="Roboto"/>
                <a:cs typeface="Roboto"/>
                <a:sym typeface="Roboto"/>
              </a:rPr>
              <a:t>ADMIN</a:t>
            </a:r>
            <a:endParaRPr b="1" sz="600">
              <a:latin typeface="Roboto"/>
              <a:ea typeface="Roboto"/>
              <a:cs typeface="Roboto"/>
              <a:sym typeface="Roboto"/>
            </a:endParaRPr>
          </a:p>
        </p:txBody>
      </p:sp>
      <p:sp>
        <p:nvSpPr>
          <p:cNvPr id="495" name="Google Shape;495;p48"/>
          <p:cNvSpPr txBox="1"/>
          <p:nvPr/>
        </p:nvSpPr>
        <p:spPr>
          <a:xfrm>
            <a:off x="458375" y="367650"/>
            <a:ext cx="1996800" cy="3078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Roboto Black"/>
                <a:ea typeface="Roboto Black"/>
                <a:cs typeface="Roboto Black"/>
                <a:sym typeface="Roboto Black"/>
              </a:rPr>
              <a:t>2022Q4</a:t>
            </a:r>
            <a:endParaRPr sz="800">
              <a:latin typeface="Roboto Black"/>
              <a:ea typeface="Roboto Black"/>
              <a:cs typeface="Roboto Black"/>
              <a:sym typeface="Roboto Black"/>
            </a:endParaRPr>
          </a:p>
        </p:txBody>
      </p:sp>
      <p:sp>
        <p:nvSpPr>
          <p:cNvPr id="496" name="Google Shape;496;p48"/>
          <p:cNvSpPr txBox="1"/>
          <p:nvPr/>
        </p:nvSpPr>
        <p:spPr>
          <a:xfrm>
            <a:off x="458368" y="2540263"/>
            <a:ext cx="1996800" cy="292500"/>
          </a:xfrm>
          <a:prstGeom prst="rect">
            <a:avLst/>
          </a:prstGeom>
          <a:solidFill>
            <a:srgbClr val="D9EAD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Triggers achievements bulk updates</a:t>
            </a:r>
            <a:endParaRPr b="1" sz="700">
              <a:latin typeface="Roboto"/>
              <a:ea typeface="Roboto"/>
              <a:cs typeface="Roboto"/>
              <a:sym typeface="Roboto"/>
            </a:endParaRPr>
          </a:p>
        </p:txBody>
      </p:sp>
      <p:sp>
        <p:nvSpPr>
          <p:cNvPr id="497" name="Google Shape;497;p48"/>
          <p:cNvSpPr txBox="1"/>
          <p:nvPr/>
        </p:nvSpPr>
        <p:spPr>
          <a:xfrm>
            <a:off x="2510481" y="2899500"/>
            <a:ext cx="1996800" cy="292500"/>
          </a:xfrm>
          <a:prstGeom prst="rect">
            <a:avLst/>
          </a:prstGeom>
          <a:solidFill>
            <a:srgbClr val="D9EAD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Triggers visibility improvements </a:t>
            </a:r>
            <a:r>
              <a:rPr b="1" lang="en" sz="700" u="sng">
                <a:solidFill>
                  <a:schemeClr val="hlink"/>
                </a:solidFill>
                <a:latin typeface="Roboto"/>
                <a:ea typeface="Roboto"/>
                <a:cs typeface="Roboto"/>
                <a:sym typeface="Roboto"/>
                <a:hlinkClick r:id="rId3"/>
              </a:rPr>
              <a:t>Confluence</a:t>
            </a:r>
            <a:endParaRPr b="1" sz="700">
              <a:latin typeface="Roboto"/>
              <a:ea typeface="Roboto"/>
              <a:cs typeface="Roboto"/>
              <a:sym typeface="Roboto"/>
            </a:endParaRPr>
          </a:p>
        </p:txBody>
      </p:sp>
      <p:sp>
        <p:nvSpPr>
          <p:cNvPr id="498" name="Google Shape;498;p48"/>
          <p:cNvSpPr txBox="1"/>
          <p:nvPr/>
        </p:nvSpPr>
        <p:spPr>
          <a:xfrm>
            <a:off x="458368" y="2908625"/>
            <a:ext cx="1996800" cy="292500"/>
          </a:xfrm>
          <a:prstGeom prst="rect">
            <a:avLst/>
          </a:prstGeom>
          <a:solidFill>
            <a:srgbClr val="D9EAD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Chat Improvements: Rich text and URLs</a:t>
            </a:r>
            <a:endParaRPr b="1" sz="700">
              <a:latin typeface="Roboto"/>
              <a:ea typeface="Roboto"/>
              <a:cs typeface="Roboto"/>
              <a:sym typeface="Roboto"/>
            </a:endParaRPr>
          </a:p>
        </p:txBody>
      </p:sp>
      <p:sp>
        <p:nvSpPr>
          <p:cNvPr id="499" name="Google Shape;499;p48"/>
          <p:cNvSpPr txBox="1"/>
          <p:nvPr/>
        </p:nvSpPr>
        <p:spPr>
          <a:xfrm>
            <a:off x="2509268" y="3270113"/>
            <a:ext cx="1996800" cy="400200"/>
          </a:xfrm>
          <a:prstGeom prst="rect">
            <a:avLst/>
          </a:prstGeom>
          <a:solidFill>
            <a:srgbClr val="D9EAD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Experience lifecycle improvements </a:t>
            </a:r>
            <a:br>
              <a:rPr b="1" lang="en" sz="700">
                <a:latin typeface="Roboto"/>
                <a:ea typeface="Roboto"/>
                <a:cs typeface="Roboto"/>
                <a:sym typeface="Roboto"/>
              </a:rPr>
            </a:br>
            <a:r>
              <a:rPr b="1" lang="en" sz="700">
                <a:latin typeface="Roboto"/>
                <a:ea typeface="Roboto"/>
                <a:cs typeface="Roboto"/>
                <a:sym typeface="Roboto"/>
              </a:rPr>
              <a:t>(Draft - Live - Archived - Completed)</a:t>
            </a:r>
            <a:endParaRPr b="1" sz="700">
              <a:latin typeface="Roboto"/>
              <a:ea typeface="Roboto"/>
              <a:cs typeface="Roboto"/>
              <a:sym typeface="Roboto"/>
            </a:endParaRPr>
          </a:p>
        </p:txBody>
      </p:sp>
      <p:sp>
        <p:nvSpPr>
          <p:cNvPr id="500" name="Google Shape;500;p48"/>
          <p:cNvSpPr txBox="1"/>
          <p:nvPr/>
        </p:nvSpPr>
        <p:spPr>
          <a:xfrm>
            <a:off x="2514443" y="3748438"/>
            <a:ext cx="1996800" cy="292500"/>
          </a:xfrm>
          <a:prstGeom prst="rect">
            <a:avLst/>
          </a:prstGeom>
          <a:solidFill>
            <a:srgbClr val="D9EAD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Team 360 Report Submission</a:t>
            </a:r>
            <a:endParaRPr b="1" sz="700">
              <a:latin typeface="Roboto"/>
              <a:ea typeface="Roboto"/>
              <a:cs typeface="Roboto"/>
              <a:sym typeface="Roboto"/>
            </a:endParaRPr>
          </a:p>
        </p:txBody>
      </p:sp>
      <p:sp>
        <p:nvSpPr>
          <p:cNvPr id="501" name="Google Shape;501;p48"/>
          <p:cNvSpPr txBox="1"/>
          <p:nvPr/>
        </p:nvSpPr>
        <p:spPr>
          <a:xfrm>
            <a:off x="6614175" y="1122638"/>
            <a:ext cx="1976100" cy="292500"/>
          </a:xfrm>
          <a:prstGeom prst="rect">
            <a:avLst/>
          </a:prstGeom>
          <a:solidFill>
            <a:srgbClr val="CCCC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solidFill>
                  <a:srgbClr val="FF0000"/>
                </a:solidFill>
                <a:latin typeface="Roboto"/>
                <a:ea typeface="Roboto"/>
                <a:cs typeface="Roboto"/>
                <a:sym typeface="Roboto"/>
              </a:rPr>
              <a:t>Client and Experts Directory</a:t>
            </a:r>
            <a:endParaRPr b="1" sz="700">
              <a:solidFill>
                <a:srgbClr val="FF0000"/>
              </a:solidFill>
              <a:latin typeface="Roboto"/>
              <a:ea typeface="Roboto"/>
              <a:cs typeface="Roboto"/>
              <a:sym typeface="Roboto"/>
            </a:endParaRPr>
          </a:p>
        </p:txBody>
      </p:sp>
      <p:sp>
        <p:nvSpPr>
          <p:cNvPr id="502" name="Google Shape;502;p48"/>
          <p:cNvSpPr txBox="1"/>
          <p:nvPr/>
        </p:nvSpPr>
        <p:spPr>
          <a:xfrm>
            <a:off x="473682" y="1467213"/>
            <a:ext cx="4027500" cy="292500"/>
          </a:xfrm>
          <a:prstGeom prst="rect">
            <a:avLst/>
          </a:prstGeom>
          <a:solidFill>
            <a:srgbClr val="D0E0E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Auto assign assessment improvements. Sub-roles: Experts - Clients</a:t>
            </a:r>
            <a:endParaRPr b="1" sz="700">
              <a:latin typeface="Roboto"/>
              <a:ea typeface="Roboto"/>
              <a:cs typeface="Roboto"/>
              <a:sym typeface="Roboto"/>
            </a:endParaRPr>
          </a:p>
        </p:txBody>
      </p:sp>
      <p:sp>
        <p:nvSpPr>
          <p:cNvPr id="503" name="Google Shape;503;p48"/>
          <p:cNvSpPr txBox="1"/>
          <p:nvPr/>
        </p:nvSpPr>
        <p:spPr>
          <a:xfrm>
            <a:off x="4569625" y="1110450"/>
            <a:ext cx="1976100" cy="2925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Deactivate users </a:t>
            </a:r>
            <a:endParaRPr b="1" sz="700">
              <a:latin typeface="Roboto"/>
              <a:ea typeface="Roboto"/>
              <a:cs typeface="Roboto"/>
              <a:sym typeface="Roboto"/>
            </a:endParaRPr>
          </a:p>
        </p:txBody>
      </p:sp>
      <p:sp>
        <p:nvSpPr>
          <p:cNvPr id="504" name="Google Shape;504;p48"/>
          <p:cNvSpPr txBox="1"/>
          <p:nvPr/>
        </p:nvSpPr>
        <p:spPr>
          <a:xfrm>
            <a:off x="4579850" y="2177525"/>
            <a:ext cx="1976100" cy="292500"/>
          </a:xfrm>
          <a:prstGeom prst="rect">
            <a:avLst/>
          </a:prstGeom>
          <a:solidFill>
            <a:srgbClr val="CCCC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solidFill>
                  <a:srgbClr val="FF0000"/>
                </a:solidFill>
                <a:latin typeface="Roboto"/>
                <a:ea typeface="Roboto"/>
                <a:cs typeface="Roboto"/>
                <a:sym typeface="Roboto"/>
              </a:rPr>
              <a:t>Improve interventions tracking and reporting </a:t>
            </a:r>
            <a:endParaRPr b="1" sz="700">
              <a:solidFill>
                <a:srgbClr val="FF0000"/>
              </a:solidFill>
              <a:latin typeface="Roboto"/>
              <a:ea typeface="Roboto"/>
              <a:cs typeface="Roboto"/>
              <a:sym typeface="Roboto"/>
            </a:endParaRPr>
          </a:p>
        </p:txBody>
      </p:sp>
      <p:sp>
        <p:nvSpPr>
          <p:cNvPr id="505" name="Google Shape;505;p48"/>
          <p:cNvSpPr txBox="1"/>
          <p:nvPr/>
        </p:nvSpPr>
        <p:spPr>
          <a:xfrm>
            <a:off x="463582" y="1823993"/>
            <a:ext cx="4027500" cy="292500"/>
          </a:xfrm>
          <a:prstGeom prst="rect">
            <a:avLst/>
          </a:prstGeom>
          <a:solidFill>
            <a:srgbClr val="D0E0E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Duplicate and copy learning design content. (Activity Groups, Activities, Task and Topics)</a:t>
            </a:r>
            <a:endParaRPr b="1" sz="700">
              <a:latin typeface="Roboto"/>
              <a:ea typeface="Roboto"/>
              <a:cs typeface="Roboto"/>
              <a:sym typeface="Roboto"/>
            </a:endParaRPr>
          </a:p>
        </p:txBody>
      </p:sp>
      <p:sp>
        <p:nvSpPr>
          <p:cNvPr id="506" name="Google Shape;506;p48"/>
          <p:cNvSpPr txBox="1"/>
          <p:nvPr/>
        </p:nvSpPr>
        <p:spPr>
          <a:xfrm>
            <a:off x="473407" y="2192688"/>
            <a:ext cx="4027500" cy="2925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ELSA / Dashboard Alignment &amp; Bug Fixes</a:t>
            </a:r>
            <a:endParaRPr b="1" sz="700">
              <a:latin typeface="Roboto"/>
              <a:ea typeface="Roboto"/>
              <a:cs typeface="Roboto"/>
              <a:sym typeface="Roboto"/>
            </a:endParaRPr>
          </a:p>
        </p:txBody>
      </p:sp>
      <p:sp>
        <p:nvSpPr>
          <p:cNvPr id="507" name="Google Shape;507;p48"/>
          <p:cNvSpPr txBox="1"/>
          <p:nvPr/>
        </p:nvSpPr>
        <p:spPr>
          <a:xfrm>
            <a:off x="6614175" y="1823988"/>
            <a:ext cx="1976100" cy="292500"/>
          </a:xfrm>
          <a:prstGeom prst="rect">
            <a:avLst/>
          </a:prstGeom>
          <a:solidFill>
            <a:srgbClr val="CCCC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Allow assessment resubmission</a:t>
            </a:r>
            <a:endParaRPr b="1" sz="700">
              <a:latin typeface="Roboto"/>
              <a:ea typeface="Roboto"/>
              <a:cs typeface="Roboto"/>
              <a:sym typeface="Roboto"/>
            </a:endParaRPr>
          </a:p>
        </p:txBody>
      </p:sp>
      <p:sp>
        <p:nvSpPr>
          <p:cNvPr id="508" name="Google Shape;508;p48"/>
          <p:cNvSpPr txBox="1"/>
          <p:nvPr/>
        </p:nvSpPr>
        <p:spPr>
          <a:xfrm>
            <a:off x="4569750" y="1470475"/>
            <a:ext cx="1976100" cy="2925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Chat messages templates</a:t>
            </a:r>
            <a:endParaRPr b="1" sz="700">
              <a:latin typeface="Roboto"/>
              <a:ea typeface="Roboto"/>
              <a:cs typeface="Roboto"/>
              <a:sym typeface="Roboto"/>
            </a:endParaRPr>
          </a:p>
        </p:txBody>
      </p:sp>
      <p:sp>
        <p:nvSpPr>
          <p:cNvPr id="509" name="Google Shape;509;p48"/>
          <p:cNvSpPr txBox="1"/>
          <p:nvPr/>
        </p:nvSpPr>
        <p:spPr>
          <a:xfrm>
            <a:off x="4569750" y="1824000"/>
            <a:ext cx="1976100" cy="2925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solidFill>
                  <a:srgbClr val="FF0000"/>
                </a:solidFill>
                <a:latin typeface="Roboto"/>
                <a:ea typeface="Roboto"/>
                <a:cs typeface="Roboto"/>
                <a:sym typeface="Roboto"/>
              </a:rPr>
              <a:t>Chat interaction tracking (Read messages)</a:t>
            </a:r>
            <a:endParaRPr b="1" sz="700">
              <a:solidFill>
                <a:srgbClr val="FF0000"/>
              </a:solidFill>
              <a:latin typeface="Roboto"/>
              <a:ea typeface="Roboto"/>
              <a:cs typeface="Roboto"/>
              <a:sym typeface="Roboto"/>
            </a:endParaRPr>
          </a:p>
        </p:txBody>
      </p:sp>
      <p:sp>
        <p:nvSpPr>
          <p:cNvPr id="510" name="Google Shape;510;p48"/>
          <p:cNvSpPr txBox="1"/>
          <p:nvPr/>
        </p:nvSpPr>
        <p:spPr>
          <a:xfrm>
            <a:off x="6613533" y="2174675"/>
            <a:ext cx="1976100" cy="400200"/>
          </a:xfrm>
          <a:prstGeom prst="rect">
            <a:avLst/>
          </a:prstGeom>
          <a:solidFill>
            <a:srgbClr val="CCCC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solidFill>
                  <a:srgbClr val="FF0000"/>
                </a:solidFill>
                <a:latin typeface="Roboto"/>
                <a:ea typeface="Roboto"/>
                <a:cs typeface="Roboto"/>
                <a:sym typeface="Roboto"/>
              </a:rPr>
              <a:t>Admin cross experiences dashboard and notifications</a:t>
            </a:r>
            <a:endParaRPr b="1" sz="700">
              <a:solidFill>
                <a:srgbClr val="FF0000"/>
              </a:solidFill>
              <a:latin typeface="Roboto"/>
              <a:ea typeface="Roboto"/>
              <a:cs typeface="Roboto"/>
              <a:sym typeface="Roboto"/>
            </a:endParaRPr>
          </a:p>
        </p:txBody>
      </p:sp>
      <p:sp>
        <p:nvSpPr>
          <p:cNvPr id="511" name="Google Shape;511;p48"/>
          <p:cNvSpPr txBox="1"/>
          <p:nvPr/>
        </p:nvSpPr>
        <p:spPr>
          <a:xfrm>
            <a:off x="6613508" y="2633050"/>
            <a:ext cx="1976100" cy="292500"/>
          </a:xfrm>
          <a:prstGeom prst="rect">
            <a:avLst/>
          </a:prstGeom>
          <a:solidFill>
            <a:srgbClr val="CCCC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solidFill>
                  <a:srgbClr val="FF0000"/>
                </a:solidFill>
                <a:latin typeface="Roboto"/>
                <a:ea typeface="Roboto"/>
                <a:cs typeface="Roboto"/>
                <a:sym typeface="Roboto"/>
              </a:rPr>
              <a:t>Improved experience creation process</a:t>
            </a:r>
            <a:endParaRPr b="1" sz="700">
              <a:solidFill>
                <a:srgbClr val="FF0000"/>
              </a:solidFill>
              <a:latin typeface="Roboto"/>
              <a:ea typeface="Roboto"/>
              <a:cs typeface="Roboto"/>
              <a:sym typeface="Roboto"/>
            </a:endParaRPr>
          </a:p>
        </p:txBody>
      </p:sp>
      <p:sp>
        <p:nvSpPr>
          <p:cNvPr id="512" name="Google Shape;512;p48"/>
          <p:cNvSpPr txBox="1"/>
          <p:nvPr/>
        </p:nvSpPr>
        <p:spPr>
          <a:xfrm>
            <a:off x="3032325" y="4708492"/>
            <a:ext cx="29148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solidFill>
                  <a:srgbClr val="FF0000"/>
                </a:solidFill>
                <a:latin typeface="Roboto Medium"/>
                <a:ea typeface="Roboto Medium"/>
                <a:cs typeface="Roboto Medium"/>
                <a:sym typeface="Roboto Medium"/>
              </a:rPr>
              <a:t>Roadmap subject to Adjustment. Strictly commercial in confidence</a:t>
            </a:r>
            <a:endParaRPr sz="1100">
              <a:solidFill>
                <a:srgbClr val="FF0000"/>
              </a:solidFill>
              <a:latin typeface="Roboto Medium"/>
              <a:ea typeface="Roboto Medium"/>
              <a:cs typeface="Roboto Medium"/>
              <a:sym typeface="Roboto Medium"/>
            </a:endParaRPr>
          </a:p>
        </p:txBody>
      </p:sp>
      <p:sp>
        <p:nvSpPr>
          <p:cNvPr id="513" name="Google Shape;513;p48"/>
          <p:cNvSpPr txBox="1"/>
          <p:nvPr/>
        </p:nvSpPr>
        <p:spPr>
          <a:xfrm>
            <a:off x="1882050" y="4455225"/>
            <a:ext cx="5379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solidFill>
                  <a:schemeClr val="dk1"/>
                </a:solidFill>
              </a:rPr>
              <a:t>Colors indicate Confidence of Delivery by End of Period:</a:t>
            </a:r>
            <a:r>
              <a:rPr b="1" lang="en" sz="800">
                <a:solidFill>
                  <a:schemeClr val="accent4"/>
                </a:solidFill>
              </a:rPr>
              <a:t>    </a:t>
            </a:r>
            <a:r>
              <a:rPr b="1" lang="en" sz="800">
                <a:solidFill>
                  <a:srgbClr val="6AA84F"/>
                </a:solidFill>
              </a:rPr>
              <a:t>100%</a:t>
            </a:r>
            <a:r>
              <a:rPr b="1" lang="en" sz="800">
                <a:solidFill>
                  <a:schemeClr val="accent4"/>
                </a:solidFill>
              </a:rPr>
              <a:t>     </a:t>
            </a:r>
            <a:r>
              <a:rPr b="1" lang="en" sz="800">
                <a:solidFill>
                  <a:srgbClr val="45818E"/>
                </a:solidFill>
              </a:rPr>
              <a:t>75%</a:t>
            </a:r>
            <a:r>
              <a:rPr b="1" lang="en" sz="800">
                <a:solidFill>
                  <a:schemeClr val="accent4"/>
                </a:solidFill>
              </a:rPr>
              <a:t>     50%     </a:t>
            </a:r>
            <a:r>
              <a:rPr b="1" lang="en" sz="800">
                <a:solidFill>
                  <a:srgbClr val="999999"/>
                </a:solidFill>
              </a:rPr>
              <a:t>25%</a:t>
            </a:r>
            <a:endParaRPr b="1" sz="800">
              <a:solidFill>
                <a:srgbClr val="999999"/>
              </a:solidFill>
            </a:endParaRPr>
          </a:p>
        </p:txBody>
      </p:sp>
      <p:sp>
        <p:nvSpPr>
          <p:cNvPr id="514" name="Google Shape;514;p48"/>
          <p:cNvSpPr txBox="1"/>
          <p:nvPr/>
        </p:nvSpPr>
        <p:spPr>
          <a:xfrm>
            <a:off x="6611075" y="746700"/>
            <a:ext cx="1976100" cy="292500"/>
          </a:xfrm>
          <a:prstGeom prst="rect">
            <a:avLst/>
          </a:prstGeom>
          <a:solidFill>
            <a:srgbClr val="D9D9D9"/>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solidFill>
                  <a:srgbClr val="FF0000"/>
                </a:solidFill>
                <a:latin typeface="Roboto"/>
                <a:ea typeface="Roboto"/>
                <a:cs typeface="Roboto"/>
                <a:sym typeface="Roboto"/>
              </a:rPr>
              <a:t>Project Brief Management V1</a:t>
            </a:r>
            <a:endParaRPr b="1" sz="700">
              <a:solidFill>
                <a:srgbClr val="FF0000"/>
              </a:solidFill>
              <a:latin typeface="Roboto"/>
              <a:ea typeface="Roboto"/>
              <a:cs typeface="Roboto"/>
              <a:sym typeface="Roboto"/>
            </a:endParaRPr>
          </a:p>
        </p:txBody>
      </p:sp>
      <p:pic>
        <p:nvPicPr>
          <p:cNvPr id="515" name="Google Shape;515;p48"/>
          <p:cNvPicPr preferRelativeResize="0"/>
          <p:nvPr/>
        </p:nvPicPr>
        <p:blipFill>
          <a:blip r:embed="rId4">
            <a:alphaModFix/>
          </a:blip>
          <a:stretch>
            <a:fillRect/>
          </a:stretch>
        </p:blipFill>
        <p:spPr>
          <a:xfrm>
            <a:off x="2244147" y="2627862"/>
            <a:ext cx="138102" cy="138102"/>
          </a:xfrm>
          <a:prstGeom prst="rect">
            <a:avLst/>
          </a:prstGeom>
          <a:noFill/>
          <a:ln>
            <a:noFill/>
          </a:ln>
        </p:spPr>
      </p:pic>
      <p:pic>
        <p:nvPicPr>
          <p:cNvPr id="516" name="Google Shape;516;p48"/>
          <p:cNvPicPr preferRelativeResize="0"/>
          <p:nvPr/>
        </p:nvPicPr>
        <p:blipFill>
          <a:blip r:embed="rId4">
            <a:alphaModFix/>
          </a:blip>
          <a:stretch>
            <a:fillRect/>
          </a:stretch>
        </p:blipFill>
        <p:spPr>
          <a:xfrm>
            <a:off x="2244147" y="2985824"/>
            <a:ext cx="138102" cy="138102"/>
          </a:xfrm>
          <a:prstGeom prst="rect">
            <a:avLst/>
          </a:prstGeom>
          <a:noFill/>
          <a:ln>
            <a:noFill/>
          </a:ln>
        </p:spPr>
      </p:pic>
      <p:pic>
        <p:nvPicPr>
          <p:cNvPr id="517" name="Google Shape;517;p48"/>
          <p:cNvPicPr preferRelativeResize="0"/>
          <p:nvPr/>
        </p:nvPicPr>
        <p:blipFill>
          <a:blip r:embed="rId4">
            <a:alphaModFix/>
          </a:blip>
          <a:stretch>
            <a:fillRect/>
          </a:stretch>
        </p:blipFill>
        <p:spPr>
          <a:xfrm>
            <a:off x="4306272" y="3825649"/>
            <a:ext cx="138102" cy="138102"/>
          </a:xfrm>
          <a:prstGeom prst="rect">
            <a:avLst/>
          </a:prstGeom>
          <a:noFill/>
          <a:ln>
            <a:noFill/>
          </a:ln>
        </p:spPr>
      </p:pic>
      <p:pic>
        <p:nvPicPr>
          <p:cNvPr id="518" name="Google Shape;518;p48"/>
          <p:cNvPicPr preferRelativeResize="0"/>
          <p:nvPr/>
        </p:nvPicPr>
        <p:blipFill>
          <a:blip r:embed="rId5">
            <a:alphaModFix/>
          </a:blip>
          <a:stretch>
            <a:fillRect/>
          </a:stretch>
        </p:blipFill>
        <p:spPr>
          <a:xfrm>
            <a:off x="4306272" y="3401174"/>
            <a:ext cx="138102" cy="138102"/>
          </a:xfrm>
          <a:prstGeom prst="rect">
            <a:avLst/>
          </a:prstGeom>
          <a:noFill/>
          <a:ln>
            <a:noFill/>
          </a:ln>
        </p:spPr>
      </p:pic>
      <p:pic>
        <p:nvPicPr>
          <p:cNvPr id="519" name="Google Shape;519;p48"/>
          <p:cNvPicPr preferRelativeResize="0"/>
          <p:nvPr/>
        </p:nvPicPr>
        <p:blipFill>
          <a:blip r:embed="rId4">
            <a:alphaModFix/>
          </a:blip>
          <a:stretch>
            <a:fillRect/>
          </a:stretch>
        </p:blipFill>
        <p:spPr>
          <a:xfrm>
            <a:off x="4306272" y="2976712"/>
            <a:ext cx="138102" cy="138102"/>
          </a:xfrm>
          <a:prstGeom prst="rect">
            <a:avLst/>
          </a:prstGeom>
          <a:noFill/>
          <a:ln>
            <a:noFill/>
          </a:ln>
        </p:spPr>
      </p:pic>
      <p:pic>
        <p:nvPicPr>
          <p:cNvPr id="520" name="Google Shape;520;p48"/>
          <p:cNvPicPr preferRelativeResize="0"/>
          <p:nvPr/>
        </p:nvPicPr>
        <p:blipFill>
          <a:blip r:embed="rId5">
            <a:alphaModFix/>
          </a:blip>
          <a:stretch>
            <a:fillRect/>
          </a:stretch>
        </p:blipFill>
        <p:spPr>
          <a:xfrm>
            <a:off x="4306272" y="2253649"/>
            <a:ext cx="138102" cy="138102"/>
          </a:xfrm>
          <a:prstGeom prst="rect">
            <a:avLst/>
          </a:prstGeom>
          <a:noFill/>
          <a:ln>
            <a:noFill/>
          </a:ln>
        </p:spPr>
      </p:pic>
      <p:pic>
        <p:nvPicPr>
          <p:cNvPr id="521" name="Google Shape;521;p48"/>
          <p:cNvPicPr preferRelativeResize="0"/>
          <p:nvPr/>
        </p:nvPicPr>
        <p:blipFill>
          <a:blip r:embed="rId4">
            <a:alphaModFix/>
          </a:blip>
          <a:stretch>
            <a:fillRect/>
          </a:stretch>
        </p:blipFill>
        <p:spPr>
          <a:xfrm>
            <a:off x="6339872" y="823899"/>
            <a:ext cx="138102" cy="138102"/>
          </a:xfrm>
          <a:prstGeom prst="rect">
            <a:avLst/>
          </a:prstGeom>
          <a:noFill/>
          <a:ln>
            <a:noFill/>
          </a:ln>
        </p:spPr>
      </p:pic>
      <p:pic>
        <p:nvPicPr>
          <p:cNvPr id="522" name="Google Shape;522;p48"/>
          <p:cNvPicPr preferRelativeResize="0"/>
          <p:nvPr/>
        </p:nvPicPr>
        <p:blipFill>
          <a:blip r:embed="rId5">
            <a:alphaModFix/>
          </a:blip>
          <a:stretch>
            <a:fillRect/>
          </a:stretch>
        </p:blipFill>
        <p:spPr>
          <a:xfrm>
            <a:off x="4306272" y="1544424"/>
            <a:ext cx="138102" cy="138102"/>
          </a:xfrm>
          <a:prstGeom prst="rect">
            <a:avLst/>
          </a:prstGeom>
          <a:noFill/>
          <a:ln>
            <a:noFill/>
          </a:ln>
        </p:spPr>
      </p:pic>
      <p:pic>
        <p:nvPicPr>
          <p:cNvPr id="523" name="Google Shape;523;p48"/>
          <p:cNvPicPr preferRelativeResize="0"/>
          <p:nvPr/>
        </p:nvPicPr>
        <p:blipFill>
          <a:blip r:embed="rId5">
            <a:alphaModFix/>
          </a:blip>
          <a:stretch>
            <a:fillRect/>
          </a:stretch>
        </p:blipFill>
        <p:spPr>
          <a:xfrm>
            <a:off x="4306272" y="1184162"/>
            <a:ext cx="138102" cy="138102"/>
          </a:xfrm>
          <a:prstGeom prst="rect">
            <a:avLst/>
          </a:prstGeom>
          <a:noFill/>
          <a:ln>
            <a:noFill/>
          </a:ln>
        </p:spPr>
      </p:pic>
      <p:pic>
        <p:nvPicPr>
          <p:cNvPr id="524" name="Google Shape;524;p48"/>
          <p:cNvPicPr preferRelativeResize="0"/>
          <p:nvPr/>
        </p:nvPicPr>
        <p:blipFill>
          <a:blip r:embed="rId5">
            <a:alphaModFix/>
          </a:blip>
          <a:stretch>
            <a:fillRect/>
          </a:stretch>
        </p:blipFill>
        <p:spPr>
          <a:xfrm>
            <a:off x="6339872" y="1182299"/>
            <a:ext cx="138102" cy="138102"/>
          </a:xfrm>
          <a:prstGeom prst="rect">
            <a:avLst/>
          </a:prstGeom>
          <a:noFill/>
          <a:ln>
            <a:noFill/>
          </a:ln>
        </p:spPr>
      </p:pic>
      <p:pic>
        <p:nvPicPr>
          <p:cNvPr id="525" name="Google Shape;525;p48"/>
          <p:cNvPicPr preferRelativeResize="0"/>
          <p:nvPr/>
        </p:nvPicPr>
        <p:blipFill>
          <a:blip r:embed="rId4">
            <a:alphaModFix/>
          </a:blip>
          <a:stretch>
            <a:fillRect/>
          </a:stretch>
        </p:blipFill>
        <p:spPr>
          <a:xfrm>
            <a:off x="6339872" y="1540937"/>
            <a:ext cx="138102" cy="138102"/>
          </a:xfrm>
          <a:prstGeom prst="rect">
            <a:avLst/>
          </a:prstGeom>
          <a:noFill/>
          <a:ln>
            <a:noFill/>
          </a:ln>
        </p:spPr>
      </p:pic>
      <p:pic>
        <p:nvPicPr>
          <p:cNvPr id="526" name="Google Shape;526;p48"/>
          <p:cNvPicPr preferRelativeResize="0"/>
          <p:nvPr/>
        </p:nvPicPr>
        <p:blipFill>
          <a:blip r:embed="rId5">
            <a:alphaModFix/>
          </a:blip>
          <a:stretch>
            <a:fillRect/>
          </a:stretch>
        </p:blipFill>
        <p:spPr>
          <a:xfrm>
            <a:off x="8346372" y="1901199"/>
            <a:ext cx="138102" cy="138102"/>
          </a:xfrm>
          <a:prstGeom prst="rect">
            <a:avLst/>
          </a:prstGeom>
          <a:noFill/>
          <a:ln>
            <a:noFill/>
          </a:ln>
        </p:spPr>
      </p:pic>
      <p:pic>
        <p:nvPicPr>
          <p:cNvPr id="527" name="Google Shape;527;p48"/>
          <p:cNvPicPr preferRelativeResize="0"/>
          <p:nvPr/>
        </p:nvPicPr>
        <p:blipFill>
          <a:blip r:embed="rId4">
            <a:alphaModFix/>
          </a:blip>
          <a:stretch>
            <a:fillRect/>
          </a:stretch>
        </p:blipFill>
        <p:spPr>
          <a:xfrm>
            <a:off x="4306272" y="1907162"/>
            <a:ext cx="138102" cy="138102"/>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49"/>
          <p:cNvSpPr txBox="1"/>
          <p:nvPr/>
        </p:nvSpPr>
        <p:spPr>
          <a:xfrm>
            <a:off x="2498918" y="1807200"/>
            <a:ext cx="1996800" cy="400200"/>
          </a:xfrm>
          <a:prstGeom prst="rect">
            <a:avLst/>
          </a:prstGeom>
          <a:solidFill>
            <a:srgbClr val="D0E0E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solidFill>
                  <a:srgbClr val="FF0000"/>
                </a:solidFill>
                <a:latin typeface="Roboto"/>
                <a:ea typeface="Roboto"/>
                <a:cs typeface="Roboto"/>
                <a:sym typeface="Roboto"/>
              </a:rPr>
              <a:t>Chat: Profiles and admin/support message replies. </a:t>
            </a:r>
            <a:r>
              <a:rPr b="1" lang="en" sz="700" u="sng">
                <a:solidFill>
                  <a:srgbClr val="FF0000"/>
                </a:solidFill>
                <a:latin typeface="Roboto"/>
                <a:ea typeface="Roboto"/>
                <a:cs typeface="Roboto"/>
                <a:sym typeface="Roboto"/>
                <a:hlinkClick r:id="rId3">
                  <a:extLst>
                    <a:ext uri="{A12FA001-AC4F-418D-AE19-62706E023703}">
                      <ahyp:hlinkClr val="tx"/>
                    </a:ext>
                  </a:extLst>
                </a:hlinkClick>
              </a:rPr>
              <a:t>Confluence</a:t>
            </a:r>
            <a:endParaRPr b="1" sz="700">
              <a:solidFill>
                <a:srgbClr val="FF0000"/>
              </a:solidFill>
              <a:latin typeface="Roboto"/>
              <a:ea typeface="Roboto"/>
              <a:cs typeface="Roboto"/>
              <a:sym typeface="Roboto"/>
            </a:endParaRPr>
          </a:p>
        </p:txBody>
      </p:sp>
      <p:sp>
        <p:nvSpPr>
          <p:cNvPr id="533" name="Google Shape;533;p49"/>
          <p:cNvSpPr txBox="1"/>
          <p:nvPr/>
        </p:nvSpPr>
        <p:spPr>
          <a:xfrm>
            <a:off x="2498925" y="367650"/>
            <a:ext cx="1996800" cy="3078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Roboto Black"/>
                <a:ea typeface="Roboto Black"/>
                <a:cs typeface="Roboto Black"/>
                <a:sym typeface="Roboto Black"/>
              </a:rPr>
              <a:t>2023Q1</a:t>
            </a:r>
            <a:endParaRPr sz="800">
              <a:latin typeface="Roboto Black"/>
              <a:ea typeface="Roboto Black"/>
              <a:cs typeface="Roboto Black"/>
              <a:sym typeface="Roboto Black"/>
            </a:endParaRPr>
          </a:p>
        </p:txBody>
      </p:sp>
      <p:sp>
        <p:nvSpPr>
          <p:cNvPr id="534" name="Google Shape;534;p49"/>
          <p:cNvSpPr txBox="1"/>
          <p:nvPr/>
        </p:nvSpPr>
        <p:spPr>
          <a:xfrm>
            <a:off x="4539468" y="367650"/>
            <a:ext cx="1996800" cy="3078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Roboto Black"/>
                <a:ea typeface="Roboto Black"/>
                <a:cs typeface="Roboto Black"/>
                <a:sym typeface="Roboto Black"/>
              </a:rPr>
              <a:t>2023Q2</a:t>
            </a:r>
            <a:endParaRPr sz="800">
              <a:latin typeface="Roboto Black"/>
              <a:ea typeface="Roboto Black"/>
              <a:cs typeface="Roboto Black"/>
              <a:sym typeface="Roboto Black"/>
            </a:endParaRPr>
          </a:p>
        </p:txBody>
      </p:sp>
      <p:sp>
        <p:nvSpPr>
          <p:cNvPr id="535" name="Google Shape;535;p49"/>
          <p:cNvSpPr txBox="1"/>
          <p:nvPr/>
        </p:nvSpPr>
        <p:spPr>
          <a:xfrm>
            <a:off x="6580025" y="367650"/>
            <a:ext cx="1996800" cy="3078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Roboto Black"/>
                <a:ea typeface="Roboto Black"/>
                <a:cs typeface="Roboto Black"/>
                <a:sym typeface="Roboto Black"/>
              </a:rPr>
              <a:t>20232H</a:t>
            </a:r>
            <a:endParaRPr sz="800">
              <a:latin typeface="Roboto Black"/>
              <a:ea typeface="Roboto Black"/>
              <a:cs typeface="Roboto Black"/>
              <a:sym typeface="Roboto Black"/>
            </a:endParaRPr>
          </a:p>
        </p:txBody>
      </p:sp>
      <p:sp>
        <p:nvSpPr>
          <p:cNvPr id="536" name="Google Shape;536;p49"/>
          <p:cNvSpPr txBox="1"/>
          <p:nvPr/>
        </p:nvSpPr>
        <p:spPr>
          <a:xfrm>
            <a:off x="2509268" y="1078500"/>
            <a:ext cx="1996800" cy="292500"/>
          </a:xfrm>
          <a:prstGeom prst="rect">
            <a:avLst/>
          </a:prstGeom>
          <a:solidFill>
            <a:srgbClr val="D0E0E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Accessibility Level AA</a:t>
            </a:r>
            <a:endParaRPr b="1" sz="700">
              <a:latin typeface="Roboto"/>
              <a:ea typeface="Roboto"/>
              <a:cs typeface="Roboto"/>
              <a:sym typeface="Roboto"/>
            </a:endParaRPr>
          </a:p>
        </p:txBody>
      </p:sp>
      <p:sp>
        <p:nvSpPr>
          <p:cNvPr id="537" name="Google Shape;537;p49"/>
          <p:cNvSpPr txBox="1"/>
          <p:nvPr/>
        </p:nvSpPr>
        <p:spPr>
          <a:xfrm>
            <a:off x="2509268" y="1442850"/>
            <a:ext cx="1996800" cy="292500"/>
          </a:xfrm>
          <a:prstGeom prst="rect">
            <a:avLst/>
          </a:prstGeom>
          <a:solidFill>
            <a:srgbClr val="D0E0E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solidFill>
                  <a:srgbClr val="FF0000"/>
                </a:solidFill>
                <a:latin typeface="Roboto"/>
                <a:ea typeface="Roboto"/>
                <a:cs typeface="Roboto"/>
                <a:sym typeface="Roboto"/>
              </a:rPr>
              <a:t>Chat: UI style update</a:t>
            </a:r>
            <a:endParaRPr b="1" sz="700">
              <a:solidFill>
                <a:srgbClr val="FF0000"/>
              </a:solidFill>
              <a:latin typeface="Roboto"/>
              <a:ea typeface="Roboto"/>
              <a:cs typeface="Roboto"/>
              <a:sym typeface="Roboto"/>
            </a:endParaRPr>
          </a:p>
        </p:txBody>
      </p:sp>
      <p:sp>
        <p:nvSpPr>
          <p:cNvPr id="538" name="Google Shape;538;p49"/>
          <p:cNvSpPr txBox="1"/>
          <p:nvPr/>
        </p:nvSpPr>
        <p:spPr>
          <a:xfrm>
            <a:off x="458368" y="1078500"/>
            <a:ext cx="1996800" cy="292500"/>
          </a:xfrm>
          <a:prstGeom prst="rect">
            <a:avLst/>
          </a:prstGeom>
          <a:solidFill>
            <a:srgbClr val="D9EAD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 Internationalization</a:t>
            </a:r>
            <a:endParaRPr b="1" sz="700">
              <a:latin typeface="Roboto"/>
              <a:ea typeface="Roboto"/>
              <a:cs typeface="Roboto"/>
              <a:sym typeface="Roboto"/>
            </a:endParaRPr>
          </a:p>
        </p:txBody>
      </p:sp>
      <p:sp>
        <p:nvSpPr>
          <p:cNvPr id="539" name="Google Shape;539;p49"/>
          <p:cNvSpPr txBox="1"/>
          <p:nvPr/>
        </p:nvSpPr>
        <p:spPr>
          <a:xfrm>
            <a:off x="458375" y="367650"/>
            <a:ext cx="1996800" cy="3078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Roboto Black"/>
                <a:ea typeface="Roboto Black"/>
                <a:cs typeface="Roboto Black"/>
                <a:sym typeface="Roboto Black"/>
              </a:rPr>
              <a:t>2022Q4</a:t>
            </a:r>
            <a:endParaRPr sz="800">
              <a:latin typeface="Roboto Black"/>
              <a:ea typeface="Roboto Black"/>
              <a:cs typeface="Roboto Black"/>
              <a:sym typeface="Roboto Black"/>
            </a:endParaRPr>
          </a:p>
        </p:txBody>
      </p:sp>
      <p:sp>
        <p:nvSpPr>
          <p:cNvPr id="540" name="Google Shape;540;p49"/>
          <p:cNvSpPr txBox="1"/>
          <p:nvPr/>
        </p:nvSpPr>
        <p:spPr>
          <a:xfrm>
            <a:off x="456543" y="1818750"/>
            <a:ext cx="1996800" cy="292500"/>
          </a:xfrm>
          <a:prstGeom prst="rect">
            <a:avLst/>
          </a:prstGeom>
          <a:solidFill>
            <a:srgbClr val="D0E0E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 Pulse checks improvements</a:t>
            </a:r>
            <a:endParaRPr b="1" sz="700">
              <a:latin typeface="Roboto"/>
              <a:ea typeface="Roboto"/>
              <a:cs typeface="Roboto"/>
              <a:sym typeface="Roboto"/>
            </a:endParaRPr>
          </a:p>
        </p:txBody>
      </p:sp>
      <p:sp>
        <p:nvSpPr>
          <p:cNvPr id="541" name="Google Shape;541;p49"/>
          <p:cNvSpPr txBox="1"/>
          <p:nvPr/>
        </p:nvSpPr>
        <p:spPr>
          <a:xfrm>
            <a:off x="2498918" y="2279250"/>
            <a:ext cx="1996800" cy="292500"/>
          </a:xfrm>
          <a:prstGeom prst="rect">
            <a:avLst/>
          </a:prstGeom>
          <a:solidFill>
            <a:srgbClr val="D0E0E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solidFill>
                  <a:srgbClr val="F50000"/>
                </a:solidFill>
                <a:latin typeface="Roboto"/>
                <a:ea typeface="Roboto"/>
                <a:cs typeface="Roboto"/>
                <a:sym typeface="Roboto"/>
              </a:rPr>
              <a:t>Events: UI style update</a:t>
            </a:r>
            <a:endParaRPr b="1" sz="700">
              <a:solidFill>
                <a:srgbClr val="F50000"/>
              </a:solidFill>
              <a:latin typeface="Roboto"/>
              <a:ea typeface="Roboto"/>
              <a:cs typeface="Roboto"/>
              <a:sym typeface="Roboto"/>
            </a:endParaRPr>
          </a:p>
        </p:txBody>
      </p:sp>
      <p:sp>
        <p:nvSpPr>
          <p:cNvPr id="542" name="Google Shape;542;p49"/>
          <p:cNvSpPr txBox="1"/>
          <p:nvPr/>
        </p:nvSpPr>
        <p:spPr>
          <a:xfrm>
            <a:off x="4565343" y="1871450"/>
            <a:ext cx="1996800" cy="2925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solidFill>
                  <a:srgbClr val="FF0000"/>
                </a:solidFill>
                <a:latin typeface="Roboto"/>
                <a:ea typeface="Roboto"/>
                <a:cs typeface="Roboto"/>
                <a:sym typeface="Roboto"/>
              </a:rPr>
              <a:t>Access certificates on App. </a:t>
            </a:r>
            <a:r>
              <a:rPr b="1" lang="en" sz="700" u="sng">
                <a:solidFill>
                  <a:srgbClr val="FF0000"/>
                </a:solidFill>
                <a:latin typeface="Roboto"/>
                <a:ea typeface="Roboto"/>
                <a:cs typeface="Roboto"/>
                <a:sym typeface="Roboto"/>
                <a:hlinkClick r:id="rId4">
                  <a:extLst>
                    <a:ext uri="{A12FA001-AC4F-418D-AE19-62706E023703}">
                      <ahyp:hlinkClr val="tx"/>
                    </a:ext>
                  </a:extLst>
                </a:hlinkClick>
              </a:rPr>
              <a:t>Confluence</a:t>
            </a:r>
            <a:endParaRPr b="1" sz="700">
              <a:solidFill>
                <a:srgbClr val="FF0000"/>
              </a:solidFill>
              <a:latin typeface="Roboto"/>
              <a:ea typeface="Roboto"/>
              <a:cs typeface="Roboto"/>
              <a:sym typeface="Roboto"/>
            </a:endParaRPr>
          </a:p>
        </p:txBody>
      </p:sp>
      <p:sp>
        <p:nvSpPr>
          <p:cNvPr id="543" name="Google Shape;543;p49"/>
          <p:cNvSpPr txBox="1"/>
          <p:nvPr/>
        </p:nvSpPr>
        <p:spPr>
          <a:xfrm>
            <a:off x="6631775" y="1442850"/>
            <a:ext cx="1945200" cy="292500"/>
          </a:xfrm>
          <a:prstGeom prst="rect">
            <a:avLst/>
          </a:prstGeom>
          <a:solidFill>
            <a:srgbClr val="CCCC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solidFill>
                  <a:srgbClr val="FF0000"/>
                </a:solidFill>
                <a:latin typeface="Roboto"/>
                <a:ea typeface="Roboto"/>
                <a:cs typeface="Roboto"/>
                <a:sym typeface="Roboto"/>
              </a:rPr>
              <a:t>Users profiles</a:t>
            </a:r>
            <a:endParaRPr b="1" sz="700">
              <a:solidFill>
                <a:srgbClr val="FF0000"/>
              </a:solidFill>
              <a:latin typeface="Roboto"/>
              <a:ea typeface="Roboto"/>
              <a:cs typeface="Roboto"/>
              <a:sym typeface="Roboto"/>
            </a:endParaRPr>
          </a:p>
        </p:txBody>
      </p:sp>
      <p:sp>
        <p:nvSpPr>
          <p:cNvPr id="544" name="Google Shape;544;p49"/>
          <p:cNvSpPr txBox="1"/>
          <p:nvPr/>
        </p:nvSpPr>
        <p:spPr>
          <a:xfrm>
            <a:off x="4560168" y="1073350"/>
            <a:ext cx="1996800" cy="400200"/>
          </a:xfrm>
          <a:prstGeom prst="rect">
            <a:avLst/>
          </a:prstGeom>
          <a:solidFill>
            <a:srgbClr val="D0E0E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Team 360: Setting and reporting improvements</a:t>
            </a:r>
            <a:endParaRPr b="1" sz="700">
              <a:latin typeface="Roboto"/>
              <a:ea typeface="Roboto"/>
              <a:cs typeface="Roboto"/>
              <a:sym typeface="Roboto"/>
            </a:endParaRPr>
          </a:p>
        </p:txBody>
      </p:sp>
      <p:sp>
        <p:nvSpPr>
          <p:cNvPr id="545" name="Google Shape;545;p49"/>
          <p:cNvSpPr txBox="1"/>
          <p:nvPr/>
        </p:nvSpPr>
        <p:spPr>
          <a:xfrm>
            <a:off x="4560168" y="1526250"/>
            <a:ext cx="1996800" cy="2925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solidFill>
                  <a:srgbClr val="FF0000"/>
                </a:solidFill>
                <a:latin typeface="Roboto"/>
                <a:ea typeface="Roboto"/>
                <a:cs typeface="Roboto"/>
                <a:sym typeface="Roboto"/>
              </a:rPr>
              <a:t>Increased brand customization</a:t>
            </a:r>
            <a:endParaRPr b="1" sz="700">
              <a:solidFill>
                <a:srgbClr val="FF0000"/>
              </a:solidFill>
              <a:latin typeface="Roboto"/>
              <a:ea typeface="Roboto"/>
              <a:cs typeface="Roboto"/>
              <a:sym typeface="Roboto"/>
            </a:endParaRPr>
          </a:p>
        </p:txBody>
      </p:sp>
      <p:sp>
        <p:nvSpPr>
          <p:cNvPr id="546" name="Google Shape;546;p49"/>
          <p:cNvSpPr txBox="1"/>
          <p:nvPr/>
        </p:nvSpPr>
        <p:spPr>
          <a:xfrm>
            <a:off x="6631775" y="1073350"/>
            <a:ext cx="1945200" cy="292500"/>
          </a:xfrm>
          <a:prstGeom prst="rect">
            <a:avLst/>
          </a:prstGeom>
          <a:solidFill>
            <a:srgbClr val="CCCC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solidFill>
                  <a:srgbClr val="FF0000"/>
                </a:solidFill>
                <a:latin typeface="Roboto"/>
                <a:ea typeface="Roboto"/>
                <a:cs typeface="Roboto"/>
                <a:sym typeface="Roboto"/>
              </a:rPr>
              <a:t>Custom login page</a:t>
            </a:r>
            <a:endParaRPr b="1" sz="700">
              <a:solidFill>
                <a:srgbClr val="FF0000"/>
              </a:solidFill>
              <a:latin typeface="Roboto"/>
              <a:ea typeface="Roboto"/>
              <a:cs typeface="Roboto"/>
              <a:sym typeface="Roboto"/>
            </a:endParaRPr>
          </a:p>
        </p:txBody>
      </p:sp>
      <p:sp>
        <p:nvSpPr>
          <p:cNvPr id="547" name="Google Shape;547;p49"/>
          <p:cNvSpPr txBox="1"/>
          <p:nvPr/>
        </p:nvSpPr>
        <p:spPr>
          <a:xfrm>
            <a:off x="4565343" y="2237800"/>
            <a:ext cx="1996800" cy="292500"/>
          </a:xfrm>
          <a:prstGeom prst="rect">
            <a:avLst/>
          </a:prstGeom>
          <a:solidFill>
            <a:srgbClr val="CCCC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solidFill>
                  <a:srgbClr val="FF0000"/>
                </a:solidFill>
                <a:latin typeface="Roboto"/>
                <a:ea typeface="Roboto"/>
                <a:cs typeface="Roboto"/>
                <a:sym typeface="Roboto"/>
              </a:rPr>
              <a:t>Notification settings on App. </a:t>
            </a:r>
            <a:r>
              <a:rPr b="1" lang="en" sz="700" u="sng">
                <a:solidFill>
                  <a:srgbClr val="FF0000"/>
                </a:solidFill>
                <a:latin typeface="Roboto"/>
                <a:ea typeface="Roboto"/>
                <a:cs typeface="Roboto"/>
                <a:sym typeface="Roboto"/>
                <a:hlinkClick r:id="rId5">
                  <a:extLst>
                    <a:ext uri="{A12FA001-AC4F-418D-AE19-62706E023703}">
                      <ahyp:hlinkClr val="tx"/>
                    </a:ext>
                  </a:extLst>
                </a:hlinkClick>
              </a:rPr>
              <a:t>Confluence</a:t>
            </a:r>
            <a:endParaRPr b="1" sz="700">
              <a:solidFill>
                <a:srgbClr val="FF0000"/>
              </a:solidFill>
              <a:latin typeface="Roboto"/>
              <a:ea typeface="Roboto"/>
              <a:cs typeface="Roboto"/>
              <a:sym typeface="Roboto"/>
            </a:endParaRPr>
          </a:p>
        </p:txBody>
      </p:sp>
      <p:sp>
        <p:nvSpPr>
          <p:cNvPr id="548" name="Google Shape;548;p49"/>
          <p:cNvSpPr txBox="1"/>
          <p:nvPr/>
        </p:nvSpPr>
        <p:spPr>
          <a:xfrm>
            <a:off x="2498918" y="2643600"/>
            <a:ext cx="1996800" cy="4002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Hide &amp; Lock usability improvements: Show how user can access content. </a:t>
            </a:r>
            <a:r>
              <a:rPr lang="en" sz="700" u="sng">
                <a:solidFill>
                  <a:schemeClr val="hlink"/>
                </a:solidFill>
                <a:latin typeface="Roboto Medium"/>
                <a:ea typeface="Roboto Medium"/>
                <a:cs typeface="Roboto Medium"/>
                <a:sym typeface="Roboto Medium"/>
                <a:hlinkClick r:id="rId6"/>
              </a:rPr>
              <a:t>Confluence</a:t>
            </a:r>
            <a:endParaRPr sz="700">
              <a:latin typeface="Roboto Medium"/>
              <a:ea typeface="Roboto Medium"/>
              <a:cs typeface="Roboto Medium"/>
              <a:sym typeface="Roboto Medium"/>
            </a:endParaRPr>
          </a:p>
        </p:txBody>
      </p:sp>
      <p:sp>
        <p:nvSpPr>
          <p:cNvPr id="549" name="Google Shape;549;p49"/>
          <p:cNvSpPr txBox="1"/>
          <p:nvPr/>
        </p:nvSpPr>
        <p:spPr>
          <a:xfrm>
            <a:off x="6631775" y="1812350"/>
            <a:ext cx="1945200" cy="292500"/>
          </a:xfrm>
          <a:prstGeom prst="rect">
            <a:avLst/>
          </a:prstGeom>
          <a:solidFill>
            <a:srgbClr val="CCCC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solidFill>
                  <a:srgbClr val="FF0000"/>
                </a:solidFill>
                <a:latin typeface="Roboto"/>
                <a:ea typeface="Roboto"/>
                <a:cs typeface="Roboto"/>
                <a:sym typeface="Roboto"/>
              </a:rPr>
              <a:t>User reporting</a:t>
            </a:r>
            <a:endParaRPr b="1" sz="700">
              <a:solidFill>
                <a:srgbClr val="FF0000"/>
              </a:solidFill>
              <a:latin typeface="Roboto"/>
              <a:ea typeface="Roboto"/>
              <a:cs typeface="Roboto"/>
              <a:sym typeface="Roboto"/>
            </a:endParaRPr>
          </a:p>
        </p:txBody>
      </p:sp>
      <p:sp>
        <p:nvSpPr>
          <p:cNvPr id="550" name="Google Shape;550;p49"/>
          <p:cNvSpPr txBox="1"/>
          <p:nvPr/>
        </p:nvSpPr>
        <p:spPr>
          <a:xfrm rot="-5400000">
            <a:off x="-705625" y="1575150"/>
            <a:ext cx="1956300" cy="276900"/>
          </a:xfrm>
          <a:prstGeom prst="rect">
            <a:avLst/>
          </a:prstGeom>
          <a:solidFill>
            <a:srgbClr val="D0E0E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600">
                <a:latin typeface="Roboto"/>
                <a:ea typeface="Roboto"/>
                <a:cs typeface="Roboto"/>
                <a:sym typeface="Roboto"/>
              </a:rPr>
              <a:t>APP</a:t>
            </a:r>
            <a:endParaRPr b="1" sz="600">
              <a:latin typeface="Roboto"/>
              <a:ea typeface="Roboto"/>
              <a:cs typeface="Roboto"/>
              <a:sym typeface="Roboto"/>
            </a:endParaRPr>
          </a:p>
        </p:txBody>
      </p:sp>
      <p:sp>
        <p:nvSpPr>
          <p:cNvPr id="551" name="Google Shape;551;p49"/>
          <p:cNvSpPr txBox="1"/>
          <p:nvPr/>
        </p:nvSpPr>
        <p:spPr>
          <a:xfrm>
            <a:off x="3032325" y="4700575"/>
            <a:ext cx="29148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solidFill>
                  <a:srgbClr val="FF0000"/>
                </a:solidFill>
                <a:latin typeface="Roboto Medium"/>
                <a:ea typeface="Roboto Medium"/>
                <a:cs typeface="Roboto Medium"/>
                <a:sym typeface="Roboto Medium"/>
              </a:rPr>
              <a:t>Roadmap subject to Adjustment. Strictly commercial in confidence</a:t>
            </a:r>
            <a:endParaRPr sz="1100">
              <a:solidFill>
                <a:srgbClr val="FF0000"/>
              </a:solidFill>
              <a:latin typeface="Roboto Medium"/>
              <a:ea typeface="Roboto Medium"/>
              <a:cs typeface="Roboto Medium"/>
              <a:sym typeface="Roboto Medium"/>
            </a:endParaRPr>
          </a:p>
        </p:txBody>
      </p:sp>
      <p:sp>
        <p:nvSpPr>
          <p:cNvPr id="552" name="Google Shape;552;p49"/>
          <p:cNvSpPr txBox="1"/>
          <p:nvPr/>
        </p:nvSpPr>
        <p:spPr>
          <a:xfrm>
            <a:off x="1882050" y="4455225"/>
            <a:ext cx="5379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solidFill>
                  <a:schemeClr val="dk1"/>
                </a:solidFill>
              </a:rPr>
              <a:t>Colors indicate Confidence of Delivery by End of Period:</a:t>
            </a:r>
            <a:r>
              <a:rPr b="1" lang="en" sz="800">
                <a:solidFill>
                  <a:schemeClr val="accent4"/>
                </a:solidFill>
              </a:rPr>
              <a:t>    </a:t>
            </a:r>
            <a:r>
              <a:rPr b="1" lang="en" sz="800">
                <a:solidFill>
                  <a:srgbClr val="6AA84F"/>
                </a:solidFill>
              </a:rPr>
              <a:t>100%</a:t>
            </a:r>
            <a:r>
              <a:rPr b="1" lang="en" sz="800">
                <a:solidFill>
                  <a:schemeClr val="accent4"/>
                </a:solidFill>
              </a:rPr>
              <a:t>     </a:t>
            </a:r>
            <a:r>
              <a:rPr b="1" lang="en" sz="800">
                <a:solidFill>
                  <a:srgbClr val="45818E"/>
                </a:solidFill>
              </a:rPr>
              <a:t>75%</a:t>
            </a:r>
            <a:r>
              <a:rPr b="1" lang="en" sz="800">
                <a:solidFill>
                  <a:schemeClr val="accent4"/>
                </a:solidFill>
              </a:rPr>
              <a:t>     50%     </a:t>
            </a:r>
            <a:r>
              <a:rPr b="1" lang="en" sz="800">
                <a:solidFill>
                  <a:srgbClr val="999999"/>
                </a:solidFill>
              </a:rPr>
              <a:t>25%</a:t>
            </a:r>
            <a:endParaRPr b="1" sz="800">
              <a:solidFill>
                <a:srgbClr val="999999"/>
              </a:solidFill>
            </a:endParaRPr>
          </a:p>
        </p:txBody>
      </p:sp>
      <p:sp>
        <p:nvSpPr>
          <p:cNvPr id="553" name="Google Shape;553;p49"/>
          <p:cNvSpPr txBox="1"/>
          <p:nvPr/>
        </p:nvSpPr>
        <p:spPr>
          <a:xfrm>
            <a:off x="458382" y="735275"/>
            <a:ext cx="4037400" cy="292500"/>
          </a:xfrm>
          <a:prstGeom prst="rect">
            <a:avLst/>
          </a:prstGeom>
          <a:solidFill>
            <a:srgbClr val="D9EAD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Practera Slack App MVP Release</a:t>
            </a:r>
            <a:endParaRPr b="1" sz="700">
              <a:latin typeface="Roboto"/>
              <a:ea typeface="Roboto"/>
              <a:cs typeface="Roboto"/>
              <a:sym typeface="Roboto"/>
            </a:endParaRPr>
          </a:p>
        </p:txBody>
      </p:sp>
      <p:sp>
        <p:nvSpPr>
          <p:cNvPr id="554" name="Google Shape;554;p49"/>
          <p:cNvSpPr txBox="1"/>
          <p:nvPr/>
        </p:nvSpPr>
        <p:spPr>
          <a:xfrm>
            <a:off x="4543182" y="728150"/>
            <a:ext cx="4037400" cy="292500"/>
          </a:xfrm>
          <a:prstGeom prst="rect">
            <a:avLst/>
          </a:prstGeom>
          <a:solidFill>
            <a:srgbClr val="D0E0E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solidFill>
                  <a:srgbClr val="FF0000"/>
                </a:solidFill>
                <a:latin typeface="Roboto"/>
                <a:ea typeface="Roboto"/>
                <a:cs typeface="Roboto"/>
                <a:sym typeface="Roboto"/>
              </a:rPr>
              <a:t>Practera Slack App V1</a:t>
            </a:r>
            <a:endParaRPr b="1" sz="700">
              <a:solidFill>
                <a:srgbClr val="FF0000"/>
              </a:solidFill>
              <a:latin typeface="Roboto"/>
              <a:ea typeface="Roboto"/>
              <a:cs typeface="Roboto"/>
              <a:sym typeface="Roboto"/>
            </a:endParaRPr>
          </a:p>
        </p:txBody>
      </p:sp>
      <p:sp>
        <p:nvSpPr>
          <p:cNvPr id="555" name="Google Shape;555;p49"/>
          <p:cNvSpPr txBox="1"/>
          <p:nvPr/>
        </p:nvSpPr>
        <p:spPr>
          <a:xfrm>
            <a:off x="461718" y="1448625"/>
            <a:ext cx="1996800" cy="292500"/>
          </a:xfrm>
          <a:prstGeom prst="rect">
            <a:avLst/>
          </a:prstGeom>
          <a:solidFill>
            <a:srgbClr val="D9EAD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latin typeface="Roboto"/>
                <a:ea typeface="Roboto"/>
                <a:cs typeface="Roboto"/>
                <a:sym typeface="Roboto"/>
              </a:rPr>
              <a:t>Chat: Rich text editor</a:t>
            </a:r>
            <a:endParaRPr b="1" sz="700">
              <a:latin typeface="Roboto"/>
              <a:ea typeface="Roboto"/>
              <a:cs typeface="Roboto"/>
              <a:sym typeface="Roboto"/>
            </a:endParaRPr>
          </a:p>
        </p:txBody>
      </p:sp>
      <p:pic>
        <p:nvPicPr>
          <p:cNvPr id="556" name="Google Shape;556;p49"/>
          <p:cNvPicPr preferRelativeResize="0"/>
          <p:nvPr/>
        </p:nvPicPr>
        <p:blipFill>
          <a:blip r:embed="rId7">
            <a:alphaModFix/>
          </a:blip>
          <a:stretch>
            <a:fillRect/>
          </a:stretch>
        </p:blipFill>
        <p:spPr>
          <a:xfrm>
            <a:off x="2236322" y="1525824"/>
            <a:ext cx="138102" cy="138102"/>
          </a:xfrm>
          <a:prstGeom prst="rect">
            <a:avLst/>
          </a:prstGeom>
          <a:noFill/>
          <a:ln>
            <a:noFill/>
          </a:ln>
        </p:spPr>
      </p:pic>
      <p:pic>
        <p:nvPicPr>
          <p:cNvPr id="557" name="Google Shape;557;p49"/>
          <p:cNvPicPr preferRelativeResize="0"/>
          <p:nvPr/>
        </p:nvPicPr>
        <p:blipFill>
          <a:blip r:embed="rId7">
            <a:alphaModFix/>
          </a:blip>
          <a:stretch>
            <a:fillRect/>
          </a:stretch>
        </p:blipFill>
        <p:spPr>
          <a:xfrm>
            <a:off x="2236322" y="1893062"/>
            <a:ext cx="138102" cy="138102"/>
          </a:xfrm>
          <a:prstGeom prst="rect">
            <a:avLst/>
          </a:prstGeom>
          <a:noFill/>
          <a:ln>
            <a:noFill/>
          </a:ln>
        </p:spPr>
      </p:pic>
      <p:pic>
        <p:nvPicPr>
          <p:cNvPr id="558" name="Google Shape;558;p49"/>
          <p:cNvPicPr preferRelativeResize="0"/>
          <p:nvPr/>
        </p:nvPicPr>
        <p:blipFill>
          <a:blip r:embed="rId7">
            <a:alphaModFix/>
          </a:blip>
          <a:stretch>
            <a:fillRect/>
          </a:stretch>
        </p:blipFill>
        <p:spPr>
          <a:xfrm>
            <a:off x="2236322" y="1169149"/>
            <a:ext cx="138102" cy="138102"/>
          </a:xfrm>
          <a:prstGeom prst="rect">
            <a:avLst/>
          </a:prstGeom>
          <a:noFill/>
          <a:ln>
            <a:noFill/>
          </a:ln>
        </p:spPr>
      </p:pic>
      <p:pic>
        <p:nvPicPr>
          <p:cNvPr id="559" name="Google Shape;559;p49"/>
          <p:cNvPicPr preferRelativeResize="0"/>
          <p:nvPr/>
        </p:nvPicPr>
        <p:blipFill>
          <a:blip r:embed="rId8">
            <a:alphaModFix/>
          </a:blip>
          <a:stretch>
            <a:fillRect/>
          </a:stretch>
        </p:blipFill>
        <p:spPr>
          <a:xfrm>
            <a:off x="4285872" y="807924"/>
            <a:ext cx="138102" cy="138102"/>
          </a:xfrm>
          <a:prstGeom prst="rect">
            <a:avLst/>
          </a:prstGeom>
          <a:noFill/>
          <a:ln>
            <a:noFill/>
          </a:ln>
        </p:spPr>
      </p:pic>
      <p:pic>
        <p:nvPicPr>
          <p:cNvPr id="560" name="Google Shape;560;p49"/>
          <p:cNvPicPr preferRelativeResize="0"/>
          <p:nvPr/>
        </p:nvPicPr>
        <p:blipFill>
          <a:blip r:embed="rId8">
            <a:alphaModFix/>
          </a:blip>
          <a:stretch>
            <a:fillRect/>
          </a:stretch>
        </p:blipFill>
        <p:spPr>
          <a:xfrm>
            <a:off x="6354722" y="1204399"/>
            <a:ext cx="138102" cy="138102"/>
          </a:xfrm>
          <a:prstGeom prst="rect">
            <a:avLst/>
          </a:prstGeom>
          <a:noFill/>
          <a:ln>
            <a:noFill/>
          </a:ln>
        </p:spPr>
      </p:pic>
      <p:pic>
        <p:nvPicPr>
          <p:cNvPr id="561" name="Google Shape;561;p49"/>
          <p:cNvPicPr preferRelativeResize="0"/>
          <p:nvPr/>
        </p:nvPicPr>
        <p:blipFill>
          <a:blip r:embed="rId7">
            <a:alphaModFix/>
          </a:blip>
          <a:stretch>
            <a:fillRect/>
          </a:stretch>
        </p:blipFill>
        <p:spPr>
          <a:xfrm>
            <a:off x="4285872" y="1166262"/>
            <a:ext cx="138102" cy="138102"/>
          </a:xfrm>
          <a:prstGeom prst="rect">
            <a:avLst/>
          </a:prstGeom>
          <a:noFill/>
          <a:ln>
            <a:noFill/>
          </a:ln>
        </p:spPr>
      </p:pic>
      <p:pic>
        <p:nvPicPr>
          <p:cNvPr id="562" name="Google Shape;562;p49"/>
          <p:cNvPicPr preferRelativeResize="0"/>
          <p:nvPr/>
        </p:nvPicPr>
        <p:blipFill>
          <a:blip r:embed="rId8">
            <a:alphaModFix/>
          </a:blip>
          <a:stretch>
            <a:fillRect/>
          </a:stretch>
        </p:blipFill>
        <p:spPr>
          <a:xfrm>
            <a:off x="4285872" y="2754249"/>
            <a:ext cx="138102" cy="13810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